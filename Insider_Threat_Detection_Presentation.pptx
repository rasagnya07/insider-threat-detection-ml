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684A37F-8155-69B6-F720-3DD49390F28A}">
          <p14:sldIdLst>
            <p14:sldId id="256"/>
          </p14:sldIdLst>
        </p14:section>
        <p14:section name="Background" id="{C63FB3A6-D5B4-9BA2-90AF-A70CE04E2626}">
          <p14:sldIdLst>
            <p14:sldId id="257"/>
            <p14:sldId id="258"/>
            <p14:sldId id="259"/>
            <p14:sldId id="260"/>
          </p14:sldIdLst>
        </p14:section>
        <p14:section name="Method" id="{52A7DE93-08CD-6C6A-11AC-A27ECDD51B4C}">
          <p14:sldIdLst>
            <p14:sldId id="261"/>
            <p14:sldId id="262"/>
            <p14:sldId id="263"/>
            <p14:sldId id="264"/>
            <p14:sldId id="265"/>
          </p14:sldIdLst>
        </p14:section>
        <p14:section name="Implementation" id="{436AAB98-5850-C423-3601-3166ACF9493B}">
          <p14:sldIdLst>
            <p14:sldId id="266"/>
          </p14:sldIdLst>
        </p14:section>
        <p14:section name="Results" id="{21C53E12-4FDC-E72A-EC74-73E096E6C675}">
          <p14:sldIdLst>
            <p14:sldId id="267"/>
            <p14:sldId id="268"/>
          </p14:sldIdLst>
        </p14:section>
        <p14:section name="Closing" id="{593DF4FF-0997-9DA6-65B3-E2163C4CD9D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9130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respected faculty and fellow students. We are presenting our project, Insider Threat Detection Using Machine Learning. Our team members are Rasagnya, Niyathi and Chakrika, working under the guidance of our supervisor. In the next few minutes we will explain what insider threats are, why they are hard to catch, how we used machine learning on user activity data to highlight potentially suspicious behavior, and how this should be used responsibly. [Presenter: mention your guide's name and the academic year 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insider threat happens when someone who already has legitimate access, such as an employee, a contractor or a partner, misuses that access. It can be deliberate, but it can also be an honest mistake. Look at the diagram: the organization holds data, authorized users work with it, every action leaves activity logs, and a monitoring system analyses those logs. The main difference from an external attack is that the attacker has to break in, while an insider is already inside with valid credentials, so there are fewer obvious intrusion signs. That is why we look at behavior: when something deviates from a user's usual pattern, machine learning can help point it out. Remember, this only highlights activity worth reviewing; it does not prove anything about a person.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problem in one sentence, shown at the top. Organizations generate huge amounts of activity data, and it is impossible for a person to read it all. Traditional monitoring relies on fixed rules and thresholds. These work for known patterns but can miss subtle behavior, for example a user who slowly increases the data they copy, staying under every limit. Early identification matters because unusual behavior can show up before real damage is done. Machine learning does not replace the rules; it adds a behavior-based layer that ranks unusual activity so analysts can focus their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objective is on the top bar: build a machine-learning-based system that analyzes user activity and detects potentially suspicious behavior. We broke this into four specific objectives: prepare the data, extract behavioral features, train a model, and finally visualize and evaluate the results. The bottom row is important for honesty. The left card is what the project does today: offline analysis of the CERT dataset in Python. The right card, with the dashed amber border, is future work only. Real-time monitoring, deep learning, system integration and automated responses are ideas we have not implemented. [Presenter: confirm the algorithm name once you fill the placeholder.]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main existing approaches. Rule-based detection uses expert-written policies: it is transparent and cheap, but it needs manual updates and misses new patterns. Threshold-based monitoring alerts when a number crosses a limit, which is simple but can be evaded by low-and-slow behavior. Statistical anomaly detection models normal behavior and flags large deviations; the Chandola survey, reference 1, covers these techniques. Machine learning approaches learn from many features together, as discussed in references 2 and 4, but they need good data and still produce false alarms. At the bottom: Tuor and colleagues showed on the CERT dataset that unsupervised deep-learning models beat several baselines on recall. Also note that the CERT data is synthetic, generated by Glasser and Lindauer's method, so results may not carry over directly to real organizations.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our approach. Reading left to right: we start with user activity data, preprocess it, extract behavioral features, run a detection model, identify suspicious activity, and show the results through visualizations. Every step in the top row is part of what we built, which is why each carries the Implemented tag. Notice what is not in the top row: a live dashboard or real-time alerting. Those are proposed, as the small amber label shows. The takeaway box says how this addresses the problem: the model highlights deviations so analysts know where to look first, and the decision always stays with a human. [Presenter: if your project also produces an alert file or dashboard, say so and update this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kept deliberately simple. Data flows left to right: activity data from the CERT logs, preprocessing, feature extraction, the machine-learning model, the detection output, and finally results and charts. The algorithm box is a placeholder because the specific algorithm must be filled in from our notebook. Under the flow is the implementation layer: Python in Jupyter or Colab with Pandas, NumPy, Scikit-learn and Matplotlib or Seaborn. The arrow at the right leads to the human analyst, who reviews the flagged activity. The dashed amber box is a proposed extension, a dashboard, alerting and integration with security tools, and it is not built yet.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workflow has seven steps, shown on the timeline. First we obtain the dataset or logs. Second we inspect and clean it. Third we extract behavioral features. Fourth, if the method is supervised, we split the data into training and testing sets. Fifth we train or configure the algorithm. Sixth we evaluate. Seventh we interpret and display the results. The two cards explain how the steps change with the learning type. With labeled data we do a train-test split and measure precision, recall and F1. With an unsupervised anomaly detector we do not need labels to train; labels, when we have them, only help us evaluate and choose a threshold. The amber box at the bottom is where you state which path your project used. [Presenter: fill in learning type, algorithm and split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our data. We used the CERT Insider Threat Dataset from Carnegie Mellon's Software Engineering Institute. It is synthetic data simulating an organization, with logon and logoff, file, email, web browsing and device-usage logs. Anything in amber is a placeholder: the exact version, number of records, number of users and number of labeled insiders must come from your notebook; we did not want to guess them. The features on the right are illustrative examples, such as login time, file access patterns, data transfer volume, access to unusual resources and deviation from a user's own normal. Replace them with the final feature list. The bottom row asks you to confirm which preprocessing steps you actually used: handling missing values, encoding, normalization and feature selection. If a step was not needed, say so.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algorithm. The big amber field is where you name the exact algorithm from your notebook. I cannot know it from the project files, so it is a placeholder. On the left, explain in your own words how it works, why it suits this problem, what goes in, what comes out and which parameters you set. On the right are common options, clearly marked not claimed. Isolation Forest isolates outliers using random splits, because unusual points need fewer splits to be separated. One-Class SVM learns a boundary around normal data. Random Forest is supervised and needs labels. The bottom chain shows how suspicious activity is identified: the feature vector goes to the model, the model gives a score or prediction, a threshold is applied, and anything above it is flagged for human review. [Presenter: be ready to explain your chosen algorithm in simple words during the viva.]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list the technology we used, taken from our project: Python, working in Jupyter Notebook or Google Colab, with Pandas and NumPy for data handling, Scikit-learn for the machine-learning model, and Matplotlib and Seaborn for visualization. The two amber fields are for a database or backend and any user interface; fill them in, or write none if you did not use one. We do not claim a backend, database, login system or real-time monitoring, because those are not part of the current project. The middle card walks through the four implementation stages in order. On the right is a clearly marked screenshot placeholder. Replace it with a real screenshot from your notebook, such as a chart or output table. We deliberately did not draw a fake interface.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evaluation template. We have not filled in any numbers because results must come from our own experiment; inventing them would be dishonest. For each metric, our model's value goes in the middle column and a simple baseline goes in the right column, for example a majority-class guess or a basic threshold rule. On the right is the confusion matrix: true negatives, false positives, false negatives and true positives. The bottom card explains why accuracy alone can mislead. Insider events are rare, so a model that labels everything as normal can look very accurate and yet detect nothing. That is why we also report precision, recall and F1, and why false positives, which waste analyst time, and false negatives, which are missed threats, both matter. [Presenter: replace every amber field with real results, or delete the template if you cannot report any.]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has three parts, and the wording is deliberate: these are potential benefits and challenges, not guarantees. Advantages: the approach may identify unusual behavior, can support security investigations, and can look at many behavioral features at once. Applications: enterprise cybersecurity, data loss prevention, security operations centers, and monitoring access to sensitive resources. Limitations, in amber because they need the most attention: false alarms; incomplete or biased datasets; the difficulty of telling legitimate unusual behavior, like an employee working a night shift, from malicious activity; privacy and data-protection concerns; and limited generalization to environments the model has never seen. Being upfront about limitations is part of responsible use.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use is as important as accuracy. On the left: respect privacy by analyzing only what is needed and pseudonymizing identities where possible; protect the logs themselves with access control; always keep a human in the loop before any consequential action; check the system for bias and explain why an alert was raised; and handle and retain monitoring data appropriately. A flag is a lead for investigation. It is never proof of someone's intent. On the right is future scope, marked proposed: real-time detection, better feature engineering, explainable machine learning, adaptive baselines that learn each user's normal, integration with SIEM systems, testing on more datasets, and deep-learning-based detection. None of these exist in the current project.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problem: insider activity can hide inside normal-looking logs, and manual or rule-only monitoring struggles with it. Our approach: apply machine learning to user-activity data, with preprocessing, feature extraction and the selected algorithm, to highlight potentially suspicious behavior. The contribution: fill this in with your measured result from the evaluation slide, framed as support for analysts. And the most important point: this must be used responsibly, assisting human analysts, protecting privacy, and never claiming to know someone's intent. The references on the right are real publications and the official dataset record; reference 1 and 2 are surveys, 3 and 5 describe the CERT dataset, 4 is related work on CERT data, and 6 is the library we used. Thank you for listening. We are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_B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6400800" cy="256032"/>
          </a:xfrm>
          <a:prstGeom prst="rect">
            <a:avLst/>
          </a:prstGeom>
          <a:noFill/>
          <a:ln/>
        </p:spPr>
        <p:txBody>
          <a:bodyPr wrap="square" lIns="0" tIns="0" rIns="0" bIns="0" rtlCol="0" anchor="ctr"/>
          <a:lstStyle/>
          <a:p>
            <a:pPr marL="0" indent="0">
              <a:buNone/>
            </a:pPr>
            <a:r>
              <a:rPr lang="en-US" sz="1000" dirty="0">
                <a:solidFill>
                  <a:srgbClr val="A9BBCF"/>
                </a:solidFill>
              </a:rPr>
              <a:t>Insider Threat Detection Using Machine Learning</a:t>
            </a:r>
            <a:endParaRPr lang="en-US" sz="1000" dirty="0"/>
          </a:p>
        </p:txBody>
      </p:sp>
      <p:sp>
        <p:nvSpPr>
          <p:cNvPr id="3" name="Text 1"/>
          <p:cNvSpPr>
            <a:spLocks noGrp="1"/>
          </p:cNvSpPr>
          <p:nvPr>
            <p:ph type="title" idx="101" hasCustomPrompt="1"/>
          </p:nvPr>
        </p:nvSpPr>
        <p:spPr>
          <a:xfrm>
            <a:off x="548640" y="274320"/>
            <a:ext cx="11094415" cy="685800"/>
          </a:xfrm>
          <a:prstGeom prst="rect">
            <a:avLst/>
          </a:prstGeom>
          <a:noFill/>
          <a:ln/>
        </p:spPr>
        <p:txBody>
          <a:bodyPr wrap="square" rtlCol="0"/>
          <a:lstStyle>
            <a:lvl1pPr marL="0" indent="0" algn="l">
              <a:buNone/>
              <a:defRPr lang="en-US" sz="2800" b="1" kern="0" spc="100" dirty="0">
                <a:solidFill>
                  <a:srgbClr val="B8F4FF"/>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_B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6400800" cy="256032"/>
          </a:xfrm>
          <a:prstGeom prst="rect">
            <a:avLst/>
          </a:prstGeom>
          <a:noFill/>
          <a:ln/>
        </p:spPr>
        <p:txBody>
          <a:bodyPr wrap="square" lIns="0" tIns="0" rIns="0" bIns="0" rtlCol="0" anchor="ctr"/>
          <a:lstStyle/>
          <a:p>
            <a:pPr marL="0" indent="0">
              <a:buNone/>
            </a:pPr>
            <a:r>
              <a:rPr lang="en-US" sz="1000" dirty="0">
                <a:solidFill>
                  <a:srgbClr val="A9BBCF"/>
                </a:solidFill>
              </a:rPr>
              <a:t>Insider Threat Detection Using Machine Learning</a:t>
            </a:r>
            <a:endParaRPr lang="en-US" sz="1000" dirty="0"/>
          </a:p>
        </p:txBody>
      </p:sp>
      <p:sp>
        <p:nvSpPr>
          <p:cNvPr id="3" name="Text 1"/>
          <p:cNvSpPr>
            <a:spLocks noGrp="1"/>
          </p:cNvSpPr>
          <p:nvPr>
            <p:ph type="title" idx="101" hasCustomPrompt="1"/>
          </p:nvPr>
        </p:nvSpPr>
        <p:spPr>
          <a:xfrm>
            <a:off x="548640" y="274320"/>
            <a:ext cx="11094415" cy="685800"/>
          </a:xfrm>
          <a:prstGeom prst="rect">
            <a:avLst/>
          </a:prstGeom>
          <a:noFill/>
          <a:ln/>
        </p:spPr>
        <p:txBody>
          <a:bodyPr wrap="square" rtlCol="0"/>
          <a:lstStyle>
            <a:lvl1pPr marL="0" indent="0" algn="l">
              <a:buNone/>
              <a:defRPr lang="en-US" sz="2800" b="1" kern="0" spc="100" dirty="0">
                <a:solidFill>
                  <a:srgbClr val="B8F4FF"/>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_B3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6400800" cy="256032"/>
          </a:xfrm>
          <a:prstGeom prst="rect">
            <a:avLst/>
          </a:prstGeom>
          <a:noFill/>
          <a:ln/>
        </p:spPr>
        <p:txBody>
          <a:bodyPr wrap="square" lIns="0" tIns="0" rIns="0" bIns="0" rtlCol="0" anchor="ctr"/>
          <a:lstStyle/>
          <a:p>
            <a:pPr marL="0" indent="0">
              <a:buNone/>
            </a:pPr>
            <a:r>
              <a:rPr lang="en-US" sz="1000" dirty="0">
                <a:solidFill>
                  <a:srgbClr val="A9BBCF"/>
                </a:solidFill>
              </a:rPr>
              <a:t>Insider Threat Detection Using Machine Learning</a:t>
            </a:r>
            <a:endParaRPr lang="en-US" sz="1000" dirty="0"/>
          </a:p>
        </p:txBody>
      </p:sp>
      <p:sp>
        <p:nvSpPr>
          <p:cNvPr id="3" name="Text 1"/>
          <p:cNvSpPr>
            <a:spLocks noGrp="1"/>
          </p:cNvSpPr>
          <p:nvPr>
            <p:ph type="title" idx="101" hasCustomPrompt="1"/>
          </p:nvPr>
        </p:nvSpPr>
        <p:spPr>
          <a:xfrm>
            <a:off x="548640" y="274320"/>
            <a:ext cx="11094415" cy="685800"/>
          </a:xfrm>
          <a:prstGeom prst="rect">
            <a:avLst/>
          </a:prstGeom>
          <a:noFill/>
          <a:ln/>
        </p:spPr>
        <p:txBody>
          <a:bodyPr wrap="square" rtlCol="0"/>
          <a:lstStyle>
            <a:lvl1pPr marL="0" indent="0" algn="l">
              <a:buNone/>
              <a:defRPr lang="en-US" sz="2800" b="1" kern="0" spc="100" dirty="0">
                <a:solidFill>
                  <a:srgbClr val="B8F4FF"/>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_B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6400800" cy="256032"/>
          </a:xfrm>
          <a:prstGeom prst="rect">
            <a:avLst/>
          </a:prstGeom>
          <a:noFill/>
          <a:ln/>
        </p:spPr>
        <p:txBody>
          <a:bodyPr wrap="square" lIns="0" tIns="0" rIns="0" bIns="0" rtlCol="0" anchor="ctr"/>
          <a:lstStyle/>
          <a:p>
            <a:pPr marL="0" indent="0">
              <a:buNone/>
            </a:pPr>
            <a:r>
              <a:rPr lang="en-US" sz="1000" dirty="0">
                <a:solidFill>
                  <a:srgbClr val="A9BBCF"/>
                </a:solidFill>
              </a:rPr>
              <a:t>Insider Threat Detection Using Machine Learning</a:t>
            </a:r>
            <a:endParaRPr lang="en-US" sz="1000" dirty="0"/>
          </a:p>
        </p:txBody>
      </p:sp>
      <p:sp>
        <p:nvSpPr>
          <p:cNvPr id="3" name="Text 1"/>
          <p:cNvSpPr>
            <a:spLocks noGrp="1"/>
          </p:cNvSpPr>
          <p:nvPr>
            <p:ph type="title" idx="101" hasCustomPrompt="1"/>
          </p:nvPr>
        </p:nvSpPr>
        <p:spPr>
          <a:xfrm>
            <a:off x="548640" y="274320"/>
            <a:ext cx="11094415" cy="685800"/>
          </a:xfrm>
          <a:prstGeom prst="rect">
            <a:avLst/>
          </a:prstGeom>
          <a:noFill/>
          <a:ln/>
        </p:spPr>
        <p:txBody>
          <a:bodyPr wrap="square" rtlCol="0"/>
          <a:lstStyle>
            <a:lvl1pPr marL="0" indent="0" algn="l">
              <a:buNone/>
              <a:defRPr lang="en-US" sz="2800" b="1" kern="0" spc="100" dirty="0">
                <a:solidFill>
                  <a:srgbClr val="B8F4FF"/>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_B4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6400800" cy="256032"/>
          </a:xfrm>
          <a:prstGeom prst="rect">
            <a:avLst/>
          </a:prstGeom>
          <a:noFill/>
          <a:ln/>
        </p:spPr>
        <p:txBody>
          <a:bodyPr wrap="square" lIns="0" tIns="0" rIns="0" bIns="0" rtlCol="0" anchor="ctr"/>
          <a:lstStyle/>
          <a:p>
            <a:pPr marL="0" indent="0">
              <a:buNone/>
            </a:pPr>
            <a:r>
              <a:rPr lang="en-US" sz="1000" dirty="0">
                <a:solidFill>
                  <a:srgbClr val="A9BBCF"/>
                </a:solidFill>
              </a:rPr>
              <a:t>Insider Threat Detection Using Machine Learning</a:t>
            </a:r>
            <a:endParaRPr lang="en-US" sz="1000" dirty="0"/>
          </a:p>
        </p:txBody>
      </p:sp>
      <p:sp>
        <p:nvSpPr>
          <p:cNvPr id="3" name="Text 1"/>
          <p:cNvSpPr>
            <a:spLocks noGrp="1"/>
          </p:cNvSpPr>
          <p:nvPr>
            <p:ph type="title" idx="101" hasCustomPrompt="1"/>
          </p:nvPr>
        </p:nvSpPr>
        <p:spPr>
          <a:xfrm>
            <a:off x="548640" y="274320"/>
            <a:ext cx="11094415" cy="685800"/>
          </a:xfrm>
          <a:prstGeom prst="rect">
            <a:avLst/>
          </a:prstGeom>
          <a:noFill/>
          <a:ln/>
        </p:spPr>
        <p:txBody>
          <a:bodyPr wrap="square" rtlCol="0"/>
          <a:lstStyle>
            <a:lvl1pPr marL="0" indent="0" algn="l">
              <a:buNone/>
              <a:defRPr lang="en-US" sz="2800" b="1" kern="0" spc="100" dirty="0">
                <a:solidFill>
                  <a:srgbClr val="B8F4FF"/>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_B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6400800" cy="256032"/>
          </a:xfrm>
          <a:prstGeom prst="rect">
            <a:avLst/>
          </a:prstGeom>
          <a:noFill/>
          <a:ln/>
        </p:spPr>
        <p:txBody>
          <a:bodyPr wrap="square" lIns="0" tIns="0" rIns="0" bIns="0" rtlCol="0" anchor="ctr"/>
          <a:lstStyle/>
          <a:p>
            <a:pPr marL="0" indent="0">
              <a:buNone/>
            </a:pPr>
            <a:r>
              <a:rPr lang="en-US" sz="1000" dirty="0">
                <a:solidFill>
                  <a:srgbClr val="A9BBCF"/>
                </a:solidFill>
              </a:rPr>
              <a:t>Insider Threat Detection Using Machine Learning</a:t>
            </a:r>
            <a:endParaRPr lang="en-US" sz="1000" dirty="0"/>
          </a:p>
        </p:txBody>
      </p:sp>
      <p:sp>
        <p:nvSpPr>
          <p:cNvPr id="3" name="Text 1"/>
          <p:cNvSpPr>
            <a:spLocks noGrp="1"/>
          </p:cNvSpPr>
          <p:nvPr>
            <p:ph type="title" idx="101" hasCustomPrompt="1"/>
          </p:nvPr>
        </p:nvSpPr>
        <p:spPr>
          <a:xfrm>
            <a:off x="548640" y="274320"/>
            <a:ext cx="11094415" cy="685800"/>
          </a:xfrm>
          <a:prstGeom prst="rect">
            <a:avLst/>
          </a:prstGeom>
          <a:noFill/>
          <a:ln/>
        </p:spPr>
        <p:txBody>
          <a:bodyPr wrap="square" rtlCol="0"/>
          <a:lstStyle>
            <a:lvl1pPr marL="0" indent="0" algn="l">
              <a:buNone/>
              <a:defRPr lang="en-US" sz="2800" b="1" kern="0" spc="100" dirty="0">
                <a:solidFill>
                  <a:srgbClr val="B8F4FF"/>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_B5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6400800" cy="256032"/>
          </a:xfrm>
          <a:prstGeom prst="rect">
            <a:avLst/>
          </a:prstGeom>
          <a:noFill/>
          <a:ln/>
        </p:spPr>
        <p:txBody>
          <a:bodyPr wrap="square" lIns="0" tIns="0" rIns="0" bIns="0" rtlCol="0" anchor="ctr"/>
          <a:lstStyle/>
          <a:p>
            <a:pPr marL="0" indent="0">
              <a:buNone/>
            </a:pPr>
            <a:r>
              <a:rPr lang="en-US" sz="1000" dirty="0">
                <a:solidFill>
                  <a:srgbClr val="A9BBCF"/>
                </a:solidFill>
              </a:rPr>
              <a:t>Insider Threat Detection Using Machine Learning</a:t>
            </a:r>
            <a:endParaRPr lang="en-US" sz="1000" dirty="0"/>
          </a:p>
        </p:txBody>
      </p:sp>
      <p:sp>
        <p:nvSpPr>
          <p:cNvPr id="3" name="Text 1"/>
          <p:cNvSpPr>
            <a:spLocks noGrp="1"/>
          </p:cNvSpPr>
          <p:nvPr>
            <p:ph type="title" idx="101" hasCustomPrompt="1"/>
          </p:nvPr>
        </p:nvSpPr>
        <p:spPr>
          <a:xfrm>
            <a:off x="548640" y="274320"/>
            <a:ext cx="11094415" cy="685800"/>
          </a:xfrm>
          <a:prstGeom prst="rect">
            <a:avLst/>
          </a:prstGeom>
          <a:noFill/>
          <a:ln/>
        </p:spPr>
        <p:txBody>
          <a:bodyPr wrap="square" rtlCol="0"/>
          <a:lstStyle>
            <a:lvl1pPr marL="0" indent="0" algn="l">
              <a:buNone/>
              <a:defRPr lang="en-US" sz="2800" b="1" kern="0" spc="100" dirty="0">
                <a:solidFill>
                  <a:srgbClr val="B8F4FF"/>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_B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6400800" cy="256032"/>
          </a:xfrm>
          <a:prstGeom prst="rect">
            <a:avLst/>
          </a:prstGeom>
          <a:noFill/>
          <a:ln/>
        </p:spPr>
        <p:txBody>
          <a:bodyPr wrap="square" lIns="0" tIns="0" rIns="0" bIns="0" rtlCol="0" anchor="ctr"/>
          <a:lstStyle/>
          <a:p>
            <a:pPr marL="0" indent="0">
              <a:buNone/>
            </a:pPr>
            <a:r>
              <a:rPr lang="en-US" sz="1000" dirty="0">
                <a:solidFill>
                  <a:srgbClr val="A9BBCF"/>
                </a:solidFill>
              </a:rPr>
              <a:t>Insider Threat Detection Using Machine Learning</a:t>
            </a:r>
            <a:endParaRPr lang="en-US" sz="1000" dirty="0"/>
          </a:p>
        </p:txBody>
      </p:sp>
      <p:sp>
        <p:nvSpPr>
          <p:cNvPr id="3" name="Text 1"/>
          <p:cNvSpPr>
            <a:spLocks noGrp="1"/>
          </p:cNvSpPr>
          <p:nvPr>
            <p:ph type="title" idx="101" hasCustomPrompt="1"/>
          </p:nvPr>
        </p:nvSpPr>
        <p:spPr>
          <a:xfrm>
            <a:off x="548640" y="274320"/>
            <a:ext cx="11094415" cy="685800"/>
          </a:xfrm>
          <a:prstGeom prst="rect">
            <a:avLst/>
          </a:prstGeom>
          <a:noFill/>
          <a:ln/>
        </p:spPr>
        <p:txBody>
          <a:bodyPr wrap="square" rtlCol="0"/>
          <a:lstStyle>
            <a:lvl1pPr marL="0" indent="0" algn="l">
              <a:buNone/>
              <a:defRPr lang="en-US" sz="2800" b="1" kern="0" spc="100" dirty="0">
                <a:solidFill>
                  <a:srgbClr val="B8F4FF"/>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15.png"/><Relationship Id="rId12"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image" Target="../media/image24.png"/><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32.png"/><Relationship Id="rId4" Type="http://schemas.openxmlformats.org/officeDocument/2006/relationships/image" Target="../media/image23.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1051560"/>
            <a:ext cx="6400800" cy="1463040"/>
          </a:xfrm>
          <a:prstGeom prst="rect">
            <a:avLst/>
          </a:prstGeom>
          <a:noFill/>
          <a:ln/>
        </p:spPr>
        <p:txBody>
          <a:bodyPr wrap="square" lIns="0" tIns="0" rIns="0" bIns="0" rtlCol="0" anchor="t"/>
          <a:lstStyle/>
          <a:p>
            <a:pPr marL="0" indent="0">
              <a:lnSpc>
                <a:spcPct val="95000"/>
              </a:lnSpc>
              <a:buNone/>
            </a:pPr>
            <a:r>
              <a:rPr lang="en-US" sz="4600" b="1" dirty="0">
                <a:solidFill>
                  <a:srgbClr val="B8F4FF"/>
                </a:solidFill>
                <a:effectLst>
                  <a:glow rad="101600">
                    <a:srgbClr val="3FC4F0">
                      <a:alpha val="35000"/>
                    </a:srgbClr>
                  </a:glow>
                </a:effectLst>
                <a:latin typeface="+mj-lt" pitchFamily="34" charset="0"/>
                <a:ea typeface="+mj-lt" pitchFamily="34" charset="-122"/>
                <a:cs typeface="+mj-lt" pitchFamily="34" charset="-120"/>
              </a:rPr>
              <a:t>INSIDER THREAT</a:t>
            </a:r>
            <a:endParaRPr lang="en-US" sz="4600" dirty="0"/>
          </a:p>
          <a:p>
            <a:pPr marL="0" indent="0">
              <a:lnSpc>
                <a:spcPct val="95000"/>
              </a:lnSpc>
              <a:buNone/>
            </a:pPr>
            <a:r>
              <a:rPr lang="en-US" sz="4600" b="1" dirty="0">
                <a:solidFill>
                  <a:srgbClr val="B8F4FF"/>
                </a:solidFill>
                <a:effectLst>
                  <a:glow rad="101600">
                    <a:srgbClr val="3FC4F0">
                      <a:alpha val="35000"/>
                    </a:srgbClr>
                  </a:glow>
                </a:effectLst>
                <a:latin typeface="+mj-lt" pitchFamily="34" charset="0"/>
                <a:ea typeface="+mj-lt" pitchFamily="34" charset="-122"/>
                <a:cs typeface="+mj-lt" pitchFamily="34" charset="-120"/>
              </a:rPr>
              <a:t>DETECTION</a:t>
            </a:r>
            <a:endParaRPr lang="en-US" sz="4600" dirty="0"/>
          </a:p>
        </p:txBody>
      </p:sp>
      <p:sp>
        <p:nvSpPr>
          <p:cNvPr id="3" name="Title line 2"/>
          <p:cNvSpPr txBox="1"/>
          <p:nvPr/>
        </p:nvSpPr>
        <p:spPr>
          <a:xfrm>
            <a:off x="548640" y="2606040"/>
            <a:ext cx="6400800" cy="384048"/>
          </a:xfrm>
          <a:prstGeom prst="rect">
            <a:avLst/>
          </a:prstGeom>
          <a:noFill/>
          <a:ln/>
        </p:spPr>
        <p:txBody>
          <a:bodyPr wrap="square" lIns="0" tIns="0" rIns="0" bIns="0" rtlCol="0" anchor="t"/>
          <a:lstStyle/>
          <a:p>
            <a:pPr marL="0" indent="0">
              <a:buNone/>
            </a:pPr>
            <a:r>
              <a:rPr lang="en-US" sz="2200" b="1" kern="0" spc="400" dirty="0">
                <a:solidFill>
                  <a:srgbClr val="6CD9FF"/>
                </a:solidFill>
              </a:rPr>
              <a:t>USING MACHINE LEARNING</a:t>
            </a:r>
            <a:endParaRPr lang="en-US" sz="2200" dirty="0"/>
          </a:p>
        </p:txBody>
      </p:sp>
      <p:sp>
        <p:nvSpPr>
          <p:cNvPr id="4" name="Subtitle"/>
          <p:cNvSpPr txBox="1"/>
          <p:nvPr/>
        </p:nvSpPr>
        <p:spPr>
          <a:xfrm>
            <a:off x="548640" y="3108960"/>
            <a:ext cx="6400800" cy="274320"/>
          </a:xfrm>
          <a:prstGeom prst="rect">
            <a:avLst/>
          </a:prstGeom>
          <a:noFill/>
          <a:ln/>
        </p:spPr>
        <p:txBody>
          <a:bodyPr wrap="square" lIns="0" tIns="0" rIns="0" bIns="0" rtlCol="0" anchor="t"/>
          <a:lstStyle/>
          <a:p>
            <a:pPr marL="0" indent="0">
              <a:buNone/>
            </a:pPr>
            <a:r>
              <a:rPr lang="en-US" sz="1200" kern="0" spc="300" dirty="0">
                <a:solidFill>
                  <a:srgbClr val="45B5E7"/>
                </a:solidFill>
              </a:rPr>
              <a:t>AN INTELLIGENT APPROACH TO USER BEHAVIOR ANALYSIS</a:t>
            </a:r>
            <a:endParaRPr lang="en-US" sz="1200" dirty="0"/>
          </a:p>
        </p:txBody>
      </p:sp>
      <p:sp>
        <p:nvSpPr>
          <p:cNvPr id="5" name="Text 3"/>
          <p:cNvSpPr txBox="1"/>
          <p:nvPr/>
        </p:nvSpPr>
        <p:spPr>
          <a:xfrm>
            <a:off x="548640" y="3703320"/>
            <a:ext cx="3657600" cy="274320"/>
          </a:xfrm>
          <a:prstGeom prst="rect">
            <a:avLst/>
          </a:prstGeom>
          <a:noFill/>
          <a:ln/>
        </p:spPr>
        <p:txBody>
          <a:bodyPr wrap="square" lIns="0" tIns="0" rIns="0" bIns="0" rtlCol="0" anchor="t"/>
          <a:lstStyle/>
          <a:p>
            <a:pPr marL="0" indent="0">
              <a:buNone/>
            </a:pPr>
            <a:r>
              <a:rPr lang="en-US" sz="1300" b="1" kern="0" spc="300" dirty="0">
                <a:solidFill>
                  <a:srgbClr val="6CD9FF"/>
                </a:solidFill>
              </a:rPr>
              <a:t>PRESENTED BY</a:t>
            </a:r>
            <a:endParaRPr lang="en-US" sz="1300" dirty="0"/>
          </a:p>
        </p:txBody>
      </p:sp>
      <p:sp>
        <p:nvSpPr>
          <p:cNvPr id="6" name="Team members"/>
          <p:cNvSpPr txBox="1"/>
          <p:nvPr/>
        </p:nvSpPr>
        <p:spPr>
          <a:xfrm>
            <a:off x="548640" y="4023360"/>
            <a:ext cx="6217920" cy="960120"/>
          </a:xfrm>
          <a:prstGeom prst="rect">
            <a:avLst/>
          </a:prstGeom>
          <a:noFill/>
          <a:ln/>
        </p:spPr>
        <p:txBody>
          <a:bodyPr wrap="square" lIns="0" tIns="0" rIns="0" bIns="0" rtlCol="0" anchor="t"/>
          <a:lstStyle/>
          <a:p>
            <a:pPr marL="0" indent="0">
              <a:lnSpc>
                <a:spcPct val="120000"/>
              </a:lnSpc>
              <a:buNone/>
            </a:pPr>
            <a:r>
              <a:rPr lang="en-US" sz="1600" dirty="0">
                <a:solidFill>
                  <a:srgbClr val="FFFFFF"/>
                </a:solidFill>
              </a:rPr>
              <a:t>Rasagnya M   |   Roll No. 2520090018</a:t>
            </a:r>
            <a:endParaRPr lang="en-US" sz="1600" dirty="0"/>
          </a:p>
          <a:p>
            <a:pPr marL="0" indent="0">
              <a:lnSpc>
                <a:spcPct val="120000"/>
              </a:lnSpc>
              <a:buNone/>
            </a:pPr>
            <a:r>
              <a:rPr lang="en-US" sz="1600" dirty="0">
                <a:solidFill>
                  <a:srgbClr val="FFFFFF"/>
                </a:solidFill>
              </a:rPr>
              <a:t>Niyathi K   |   Roll No. 2520090072</a:t>
            </a:r>
            <a:endParaRPr lang="en-US" sz="1600" dirty="0"/>
          </a:p>
          <a:p>
            <a:pPr marL="0" indent="0">
              <a:lnSpc>
                <a:spcPct val="120000"/>
              </a:lnSpc>
              <a:buNone/>
            </a:pPr>
            <a:r>
              <a:rPr lang="en-US" sz="1600" dirty="0">
                <a:solidFill>
                  <a:srgbClr val="FFFFFF"/>
                </a:solidFill>
              </a:rPr>
              <a:t>Chakrika Reddy   |   Roll No. 2520090044</a:t>
            </a:r>
            <a:endParaRPr lang="en-US" sz="1600" dirty="0"/>
          </a:p>
        </p:txBody>
      </p:sp>
      <p:sp>
        <p:nvSpPr>
          <p:cNvPr id="7" name="Guide and institution"/>
          <p:cNvSpPr txBox="1"/>
          <p:nvPr/>
        </p:nvSpPr>
        <p:spPr>
          <a:xfrm>
            <a:off x="548640" y="5166360"/>
            <a:ext cx="6217920" cy="1280160"/>
          </a:xfrm>
          <a:prstGeom prst="rect">
            <a:avLst/>
          </a:prstGeom>
          <a:noFill/>
          <a:ln/>
        </p:spPr>
        <p:txBody>
          <a:bodyPr wrap="square" lIns="0" tIns="0" rIns="0" bIns="0" rtlCol="0" anchor="t"/>
          <a:lstStyle/>
          <a:p>
            <a:pPr marL="0" indent="0">
              <a:lnSpc>
                <a:spcPct val="115000"/>
              </a:lnSpc>
              <a:buNone/>
            </a:pPr>
            <a:r>
              <a:rPr lang="en-US" sz="1400" dirty="0">
                <a:solidFill>
                  <a:srgbClr val="A9BBCF"/>
                </a:solidFill>
              </a:rPr>
              <a:t>Guide / Supervisor: </a:t>
            </a:r>
            <a:r>
              <a:rPr lang="en-US" sz="1400" b="1" dirty="0" err="1">
                <a:solidFill>
                  <a:srgbClr val="F2B24C"/>
                </a:solidFill>
              </a:rPr>
              <a:t>Dr.Lakshmi</a:t>
            </a:r>
            <a:r>
              <a:rPr lang="en-US" sz="1400" b="1" dirty="0">
                <a:solidFill>
                  <a:srgbClr val="F2B24C"/>
                </a:solidFill>
              </a:rPr>
              <a:t> Prasanna</a:t>
            </a:r>
          </a:p>
          <a:p>
            <a:pPr marL="0" indent="0">
              <a:lnSpc>
                <a:spcPct val="115000"/>
              </a:lnSpc>
              <a:buNone/>
            </a:pPr>
            <a:r>
              <a:rPr lang="en-US" sz="1400" dirty="0">
                <a:solidFill>
                  <a:srgbClr val="E8F1FA"/>
                </a:solidFill>
              </a:rPr>
              <a:t>Department of Information Technology  |  </a:t>
            </a:r>
            <a:r>
              <a:rPr lang="en-US" sz="1400" dirty="0" err="1">
                <a:solidFill>
                  <a:srgbClr val="E8F1FA"/>
                </a:solidFill>
              </a:rPr>
              <a:t>B.Tech</a:t>
            </a:r>
            <a:endParaRPr lang="en-US" sz="1400" dirty="0"/>
          </a:p>
          <a:p>
            <a:pPr marL="0" indent="0">
              <a:lnSpc>
                <a:spcPct val="115000"/>
              </a:lnSpc>
              <a:buNone/>
            </a:pPr>
            <a:r>
              <a:rPr lang="en-US" sz="1400" dirty="0">
                <a:solidFill>
                  <a:srgbClr val="E8F1FA"/>
                </a:solidFill>
              </a:rPr>
              <a:t>KL Deemed to be University</a:t>
            </a:r>
            <a:endParaRPr lang="en-US" sz="1400" dirty="0"/>
          </a:p>
          <a:p>
            <a:pPr marL="0" indent="0">
              <a:lnSpc>
                <a:spcPct val="115000"/>
              </a:lnSpc>
              <a:buNone/>
            </a:pPr>
            <a:r>
              <a:rPr lang="en-US" sz="1400" dirty="0">
                <a:solidFill>
                  <a:srgbClr val="A9BBCF"/>
                </a:solidFill>
              </a:rPr>
              <a:t>Academic Year: </a:t>
            </a:r>
            <a:r>
              <a:rPr lang="en-US" sz="1400" b="1" dirty="0">
                <a:solidFill>
                  <a:srgbClr val="F2B24C"/>
                </a:solidFill>
              </a:rPr>
              <a:t>2025-2029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INTRODUCTION &amp; BACKGROUND</a:t>
            </a:r>
            <a:endParaRPr lang="en-US" sz="2800" dirty="0"/>
          </a:p>
        </p:txBody>
      </p:sp>
      <p:sp>
        <p:nvSpPr>
          <p:cNvPr id="3" name="Node Organization"/>
          <p:cNvSpPr/>
          <p:nvPr/>
        </p:nvSpPr>
        <p:spPr>
          <a:xfrm>
            <a:off x="548640" y="1188720"/>
            <a:ext cx="2331720" cy="1417320"/>
          </a:xfrm>
          <a:prstGeom prst="roundRect">
            <a:avLst>
              <a:gd name="adj" fmla="val 5161"/>
            </a:avLst>
          </a:prstGeom>
          <a:solidFill>
            <a:srgbClr val="0E172A">
              <a:alpha val="95000"/>
            </a:srgbClr>
          </a:solidFill>
          <a:ln w="12700">
            <a:solidFill>
              <a:srgbClr val="2A8FBF"/>
            </a:solidFill>
            <a:prstDash val="solid"/>
          </a:ln>
        </p:spPr>
      </p:sp>
      <p:pic>
        <p:nvPicPr>
          <p:cNvPr id="4" name="Icon Organization" descr="Organization"/>
          <p:cNvPicPr>
            <a:picLocks noChangeAspect="1"/>
          </p:cNvPicPr>
          <p:nvPr/>
        </p:nvPicPr>
        <p:blipFill>
          <a:blip r:embed="rId3"/>
          <a:stretch>
            <a:fillRect/>
          </a:stretch>
        </p:blipFill>
        <p:spPr>
          <a:xfrm>
            <a:off x="1513332" y="1335024"/>
            <a:ext cx="402336" cy="402336"/>
          </a:xfrm>
          <a:prstGeom prst="rect">
            <a:avLst/>
          </a:prstGeom>
        </p:spPr>
      </p:pic>
      <p:sp>
        <p:nvSpPr>
          <p:cNvPr id="5" name="Text 2"/>
          <p:cNvSpPr txBox="1"/>
          <p:nvPr/>
        </p:nvSpPr>
        <p:spPr>
          <a:xfrm>
            <a:off x="621792" y="1828800"/>
            <a:ext cx="2185416" cy="457200"/>
          </a:xfrm>
          <a:prstGeom prst="rect">
            <a:avLst/>
          </a:prstGeom>
          <a:noFill/>
          <a:ln/>
        </p:spPr>
        <p:txBody>
          <a:bodyPr wrap="square" lIns="0" tIns="0" rIns="0" bIns="0" rtlCol="0" anchor="t"/>
          <a:lstStyle/>
          <a:p>
            <a:pPr marL="0" indent="0" algn="ctr">
              <a:buNone/>
            </a:pPr>
            <a:r>
              <a:rPr lang="en-US" sz="1300" b="1" dirty="0">
                <a:solidFill>
                  <a:srgbClr val="FFFFFF"/>
                </a:solidFill>
              </a:rPr>
              <a:t>Organization</a:t>
            </a:r>
            <a:endParaRPr lang="en-US" sz="1300" dirty="0"/>
          </a:p>
        </p:txBody>
      </p:sp>
      <p:sp>
        <p:nvSpPr>
          <p:cNvPr id="6" name="Text 3"/>
          <p:cNvSpPr txBox="1"/>
          <p:nvPr/>
        </p:nvSpPr>
        <p:spPr>
          <a:xfrm>
            <a:off x="640080" y="2286000"/>
            <a:ext cx="2148840" cy="274320"/>
          </a:xfrm>
          <a:prstGeom prst="rect">
            <a:avLst/>
          </a:prstGeom>
          <a:noFill/>
          <a:ln/>
        </p:spPr>
        <p:txBody>
          <a:bodyPr wrap="square" lIns="0" tIns="0" rIns="0" bIns="0" rtlCol="0" anchor="t"/>
          <a:lstStyle/>
          <a:p>
            <a:pPr marL="0" indent="0" algn="ctr">
              <a:buNone/>
            </a:pPr>
            <a:r>
              <a:rPr lang="en-US" sz="1200" dirty="0">
                <a:solidFill>
                  <a:srgbClr val="A9BBCF"/>
                </a:solidFill>
              </a:rPr>
              <a:t>Systems and sensitive data</a:t>
            </a:r>
            <a:endParaRPr lang="en-US" sz="1200" dirty="0"/>
          </a:p>
        </p:txBody>
      </p:sp>
      <p:sp>
        <p:nvSpPr>
          <p:cNvPr id="7" name="Arrow"/>
          <p:cNvSpPr/>
          <p:nvPr/>
        </p:nvSpPr>
        <p:spPr>
          <a:xfrm>
            <a:off x="2971800" y="1897380"/>
            <a:ext cx="406298" cy="0"/>
          </a:xfrm>
          <a:prstGeom prst="line">
            <a:avLst/>
          </a:prstGeom>
          <a:noFill/>
          <a:ln w="25400">
            <a:solidFill>
              <a:srgbClr val="45B5E7"/>
            </a:solidFill>
            <a:prstDash val="solid"/>
            <a:tailEnd type="triangle"/>
          </a:ln>
        </p:spPr>
      </p:sp>
      <p:sp>
        <p:nvSpPr>
          <p:cNvPr id="8" name="Node Authorized Users"/>
          <p:cNvSpPr/>
          <p:nvPr/>
        </p:nvSpPr>
        <p:spPr>
          <a:xfrm>
            <a:off x="3469538" y="1188720"/>
            <a:ext cx="2331720" cy="1417320"/>
          </a:xfrm>
          <a:prstGeom prst="roundRect">
            <a:avLst>
              <a:gd name="adj" fmla="val 5161"/>
            </a:avLst>
          </a:prstGeom>
          <a:solidFill>
            <a:srgbClr val="0E172A">
              <a:alpha val="95000"/>
            </a:srgbClr>
          </a:solidFill>
          <a:ln w="12700">
            <a:solidFill>
              <a:srgbClr val="2A8FBF"/>
            </a:solidFill>
            <a:prstDash val="solid"/>
          </a:ln>
        </p:spPr>
      </p:sp>
      <p:pic>
        <p:nvPicPr>
          <p:cNvPr id="9" name="Icon Authorized Users" descr="Authorized Users"/>
          <p:cNvPicPr>
            <a:picLocks noChangeAspect="1"/>
          </p:cNvPicPr>
          <p:nvPr/>
        </p:nvPicPr>
        <p:blipFill>
          <a:blip r:embed="rId4"/>
          <a:stretch>
            <a:fillRect/>
          </a:stretch>
        </p:blipFill>
        <p:spPr>
          <a:xfrm>
            <a:off x="4434230" y="1335024"/>
            <a:ext cx="402336" cy="402336"/>
          </a:xfrm>
          <a:prstGeom prst="rect">
            <a:avLst/>
          </a:prstGeom>
        </p:spPr>
      </p:pic>
      <p:sp>
        <p:nvSpPr>
          <p:cNvPr id="10" name="Text 6"/>
          <p:cNvSpPr txBox="1"/>
          <p:nvPr/>
        </p:nvSpPr>
        <p:spPr>
          <a:xfrm>
            <a:off x="3542690" y="1828800"/>
            <a:ext cx="2185416" cy="457200"/>
          </a:xfrm>
          <a:prstGeom prst="rect">
            <a:avLst/>
          </a:prstGeom>
          <a:noFill/>
          <a:ln/>
        </p:spPr>
        <p:txBody>
          <a:bodyPr wrap="square" lIns="0" tIns="0" rIns="0" bIns="0" rtlCol="0" anchor="t"/>
          <a:lstStyle/>
          <a:p>
            <a:pPr marL="0" indent="0" algn="ctr">
              <a:buNone/>
            </a:pPr>
            <a:r>
              <a:rPr lang="en-US" sz="1300" b="1" dirty="0">
                <a:solidFill>
                  <a:srgbClr val="FFFFFF"/>
                </a:solidFill>
              </a:rPr>
              <a:t>Authorized Users</a:t>
            </a:r>
            <a:endParaRPr lang="en-US" sz="1300" dirty="0"/>
          </a:p>
        </p:txBody>
      </p:sp>
      <p:sp>
        <p:nvSpPr>
          <p:cNvPr id="11" name="Text 7"/>
          <p:cNvSpPr txBox="1"/>
          <p:nvPr/>
        </p:nvSpPr>
        <p:spPr>
          <a:xfrm>
            <a:off x="3560978" y="2286000"/>
            <a:ext cx="2148840" cy="274320"/>
          </a:xfrm>
          <a:prstGeom prst="rect">
            <a:avLst/>
          </a:prstGeom>
          <a:noFill/>
          <a:ln/>
        </p:spPr>
        <p:txBody>
          <a:bodyPr wrap="square" lIns="0" tIns="0" rIns="0" bIns="0" rtlCol="0" anchor="t"/>
          <a:lstStyle/>
          <a:p>
            <a:pPr marL="0" indent="0" algn="ctr">
              <a:buNone/>
            </a:pPr>
            <a:r>
              <a:rPr lang="en-US" sz="1200" dirty="0">
                <a:solidFill>
                  <a:srgbClr val="A9BBCF"/>
                </a:solidFill>
              </a:rPr>
              <a:t>Employees, contractors, partners</a:t>
            </a:r>
            <a:endParaRPr lang="en-US" sz="1200" dirty="0"/>
          </a:p>
        </p:txBody>
      </p:sp>
      <p:sp>
        <p:nvSpPr>
          <p:cNvPr id="12" name="Arrow"/>
          <p:cNvSpPr/>
          <p:nvPr/>
        </p:nvSpPr>
        <p:spPr>
          <a:xfrm>
            <a:off x="5892698" y="1897380"/>
            <a:ext cx="406298" cy="0"/>
          </a:xfrm>
          <a:prstGeom prst="line">
            <a:avLst/>
          </a:prstGeom>
          <a:noFill/>
          <a:ln w="25400">
            <a:solidFill>
              <a:srgbClr val="45B5E7"/>
            </a:solidFill>
            <a:prstDash val="solid"/>
            <a:tailEnd type="triangle"/>
          </a:ln>
        </p:spPr>
      </p:sp>
      <p:sp>
        <p:nvSpPr>
          <p:cNvPr id="13" name="Node Activity Logs"/>
          <p:cNvSpPr/>
          <p:nvPr/>
        </p:nvSpPr>
        <p:spPr>
          <a:xfrm>
            <a:off x="6390437" y="1188720"/>
            <a:ext cx="2331720" cy="1417320"/>
          </a:xfrm>
          <a:prstGeom prst="roundRect">
            <a:avLst>
              <a:gd name="adj" fmla="val 5161"/>
            </a:avLst>
          </a:prstGeom>
          <a:solidFill>
            <a:srgbClr val="0E172A">
              <a:alpha val="95000"/>
            </a:srgbClr>
          </a:solidFill>
          <a:ln w="12700">
            <a:solidFill>
              <a:srgbClr val="2A8FBF"/>
            </a:solidFill>
            <a:prstDash val="solid"/>
          </a:ln>
        </p:spPr>
      </p:sp>
      <p:pic>
        <p:nvPicPr>
          <p:cNvPr id="14" name="Icon Activity Logs" descr="Activity Logs"/>
          <p:cNvPicPr>
            <a:picLocks noChangeAspect="1"/>
          </p:cNvPicPr>
          <p:nvPr/>
        </p:nvPicPr>
        <p:blipFill>
          <a:blip r:embed="rId5"/>
          <a:stretch>
            <a:fillRect/>
          </a:stretch>
        </p:blipFill>
        <p:spPr>
          <a:xfrm>
            <a:off x="7355129" y="1335024"/>
            <a:ext cx="402336" cy="402336"/>
          </a:xfrm>
          <a:prstGeom prst="rect">
            <a:avLst/>
          </a:prstGeom>
        </p:spPr>
      </p:pic>
      <p:sp>
        <p:nvSpPr>
          <p:cNvPr id="15" name="Text 10"/>
          <p:cNvSpPr txBox="1"/>
          <p:nvPr/>
        </p:nvSpPr>
        <p:spPr>
          <a:xfrm>
            <a:off x="6463589" y="1828800"/>
            <a:ext cx="2185416" cy="457200"/>
          </a:xfrm>
          <a:prstGeom prst="rect">
            <a:avLst/>
          </a:prstGeom>
          <a:noFill/>
          <a:ln/>
        </p:spPr>
        <p:txBody>
          <a:bodyPr wrap="square" lIns="0" tIns="0" rIns="0" bIns="0" rtlCol="0" anchor="t"/>
          <a:lstStyle/>
          <a:p>
            <a:pPr marL="0" indent="0" algn="ctr">
              <a:buNone/>
            </a:pPr>
            <a:r>
              <a:rPr lang="en-US" sz="1300" b="1" dirty="0">
                <a:solidFill>
                  <a:srgbClr val="FFFFFF"/>
                </a:solidFill>
              </a:rPr>
              <a:t>Activity Logs</a:t>
            </a:r>
            <a:endParaRPr lang="en-US" sz="1300" dirty="0"/>
          </a:p>
        </p:txBody>
      </p:sp>
      <p:sp>
        <p:nvSpPr>
          <p:cNvPr id="16" name="Text 11"/>
          <p:cNvSpPr txBox="1"/>
          <p:nvPr/>
        </p:nvSpPr>
        <p:spPr>
          <a:xfrm>
            <a:off x="6481877" y="2286000"/>
            <a:ext cx="2148840" cy="274320"/>
          </a:xfrm>
          <a:prstGeom prst="rect">
            <a:avLst/>
          </a:prstGeom>
          <a:noFill/>
          <a:ln/>
        </p:spPr>
        <p:txBody>
          <a:bodyPr wrap="square" lIns="0" tIns="0" rIns="0" bIns="0" rtlCol="0" anchor="t"/>
          <a:lstStyle/>
          <a:p>
            <a:pPr marL="0" indent="0" algn="ctr">
              <a:buNone/>
            </a:pPr>
            <a:r>
              <a:rPr lang="en-US" sz="1200" dirty="0">
                <a:solidFill>
                  <a:srgbClr val="A9BBCF"/>
                </a:solidFill>
              </a:rPr>
              <a:t>Logins, files, email, web, devices</a:t>
            </a:r>
            <a:endParaRPr lang="en-US" sz="1200" dirty="0"/>
          </a:p>
        </p:txBody>
      </p:sp>
      <p:sp>
        <p:nvSpPr>
          <p:cNvPr id="17" name="Arrow"/>
          <p:cNvSpPr/>
          <p:nvPr/>
        </p:nvSpPr>
        <p:spPr>
          <a:xfrm>
            <a:off x="8813597" y="1897380"/>
            <a:ext cx="406298" cy="0"/>
          </a:xfrm>
          <a:prstGeom prst="line">
            <a:avLst/>
          </a:prstGeom>
          <a:noFill/>
          <a:ln w="25400">
            <a:solidFill>
              <a:srgbClr val="45B5E7"/>
            </a:solidFill>
            <a:prstDash val="solid"/>
            <a:tailEnd type="triangle"/>
          </a:ln>
        </p:spPr>
      </p:sp>
      <p:sp>
        <p:nvSpPr>
          <p:cNvPr id="18" name="Node Security Monitoring"/>
          <p:cNvSpPr/>
          <p:nvPr/>
        </p:nvSpPr>
        <p:spPr>
          <a:xfrm>
            <a:off x="9311335" y="1188720"/>
            <a:ext cx="2331720" cy="1417320"/>
          </a:xfrm>
          <a:prstGeom prst="roundRect">
            <a:avLst>
              <a:gd name="adj" fmla="val 5161"/>
            </a:avLst>
          </a:prstGeom>
          <a:solidFill>
            <a:srgbClr val="0E172A">
              <a:alpha val="95000"/>
            </a:srgbClr>
          </a:solidFill>
          <a:ln w="12700">
            <a:solidFill>
              <a:srgbClr val="2A8FBF"/>
            </a:solidFill>
            <a:prstDash val="solid"/>
          </a:ln>
        </p:spPr>
      </p:sp>
      <p:pic>
        <p:nvPicPr>
          <p:cNvPr id="19" name="Icon Security Monitoring" descr="Security Monitoring"/>
          <p:cNvPicPr>
            <a:picLocks noChangeAspect="1"/>
          </p:cNvPicPr>
          <p:nvPr/>
        </p:nvPicPr>
        <p:blipFill>
          <a:blip r:embed="rId6"/>
          <a:stretch>
            <a:fillRect/>
          </a:stretch>
        </p:blipFill>
        <p:spPr>
          <a:xfrm>
            <a:off x="10276027" y="1335024"/>
            <a:ext cx="402336" cy="402336"/>
          </a:xfrm>
          <a:prstGeom prst="rect">
            <a:avLst/>
          </a:prstGeom>
        </p:spPr>
      </p:pic>
      <p:sp>
        <p:nvSpPr>
          <p:cNvPr id="20" name="Text 14"/>
          <p:cNvSpPr txBox="1"/>
          <p:nvPr/>
        </p:nvSpPr>
        <p:spPr>
          <a:xfrm>
            <a:off x="9384487" y="1828800"/>
            <a:ext cx="2185416" cy="457200"/>
          </a:xfrm>
          <a:prstGeom prst="rect">
            <a:avLst/>
          </a:prstGeom>
          <a:noFill/>
          <a:ln/>
        </p:spPr>
        <p:txBody>
          <a:bodyPr wrap="square" lIns="0" tIns="0" rIns="0" bIns="0" rtlCol="0" anchor="t"/>
          <a:lstStyle/>
          <a:p>
            <a:pPr marL="0" indent="0" algn="ctr">
              <a:buNone/>
            </a:pPr>
            <a:r>
              <a:rPr lang="en-US" sz="1300" b="1" dirty="0">
                <a:solidFill>
                  <a:srgbClr val="FFFFFF"/>
                </a:solidFill>
              </a:rPr>
              <a:t>Security Monitoring</a:t>
            </a:r>
            <a:endParaRPr lang="en-US" sz="1300" dirty="0"/>
          </a:p>
        </p:txBody>
      </p:sp>
      <p:sp>
        <p:nvSpPr>
          <p:cNvPr id="21" name="Text 15"/>
          <p:cNvSpPr txBox="1"/>
          <p:nvPr/>
        </p:nvSpPr>
        <p:spPr>
          <a:xfrm>
            <a:off x="9402775" y="2286000"/>
            <a:ext cx="2148840" cy="274320"/>
          </a:xfrm>
          <a:prstGeom prst="rect">
            <a:avLst/>
          </a:prstGeom>
          <a:noFill/>
          <a:ln/>
        </p:spPr>
        <p:txBody>
          <a:bodyPr wrap="square" lIns="0" tIns="0" rIns="0" bIns="0" rtlCol="0" anchor="t"/>
          <a:lstStyle/>
          <a:p>
            <a:pPr marL="0" indent="0" algn="ctr">
              <a:buNone/>
            </a:pPr>
            <a:r>
              <a:rPr lang="en-US" sz="1200" dirty="0">
                <a:solidFill>
                  <a:srgbClr val="A9BBCF"/>
                </a:solidFill>
              </a:rPr>
              <a:t>ML-assisted analysis</a:t>
            </a:r>
            <a:endParaRPr lang="en-US" sz="1200" dirty="0"/>
          </a:p>
        </p:txBody>
      </p:sp>
      <p:sp>
        <p:nvSpPr>
          <p:cNvPr id="22" name="Card what and why"/>
          <p:cNvSpPr/>
          <p:nvPr/>
        </p:nvSpPr>
        <p:spPr>
          <a:xfrm>
            <a:off x="548640" y="2834640"/>
            <a:ext cx="6126480" cy="3429000"/>
          </a:xfrm>
          <a:prstGeom prst="roundRect">
            <a:avLst>
              <a:gd name="adj" fmla="val 2133"/>
            </a:avLst>
          </a:prstGeom>
          <a:solidFill>
            <a:srgbClr val="0E172A">
              <a:alpha val="95000"/>
            </a:srgbClr>
          </a:solidFill>
          <a:ln w="12700">
            <a:solidFill>
              <a:srgbClr val="2A8FBF"/>
            </a:solidFill>
            <a:prstDash val="solid"/>
          </a:ln>
        </p:spPr>
      </p:sp>
      <p:pic>
        <p:nvPicPr>
          <p:cNvPr id="23" name="Icon WHAT &amp; WHY" descr="WHAT &amp; WHY"/>
          <p:cNvPicPr>
            <a:picLocks noChangeAspect="1"/>
          </p:cNvPicPr>
          <p:nvPr/>
        </p:nvPicPr>
        <p:blipFill>
          <a:blip r:embed="rId7"/>
          <a:stretch>
            <a:fillRect/>
          </a:stretch>
        </p:blipFill>
        <p:spPr>
          <a:xfrm>
            <a:off x="777240" y="2999232"/>
            <a:ext cx="292608" cy="292608"/>
          </a:xfrm>
          <a:prstGeom prst="rect">
            <a:avLst/>
          </a:prstGeom>
        </p:spPr>
      </p:pic>
      <p:sp>
        <p:nvSpPr>
          <p:cNvPr id="24" name="Heading WHAT &amp;amp; WHY"/>
          <p:cNvSpPr txBox="1"/>
          <p:nvPr/>
        </p:nvSpPr>
        <p:spPr>
          <a:xfrm>
            <a:off x="1179576" y="2999232"/>
            <a:ext cx="526694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WHAT &amp; WHY</a:t>
            </a:r>
            <a:endParaRPr lang="en-US" sz="1400" dirty="0"/>
          </a:p>
        </p:txBody>
      </p:sp>
      <p:sp>
        <p:nvSpPr>
          <p:cNvPr id="25" name="Bullets"/>
          <p:cNvSpPr txBox="1"/>
          <p:nvPr/>
        </p:nvSpPr>
        <p:spPr>
          <a:xfrm>
            <a:off x="777240" y="3520440"/>
            <a:ext cx="5669280" cy="265176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rgbClr val="6CD9FF"/>
                </a:solidFill>
              </a:rPr>
              <a:t>Insider threat: </a:t>
            </a:r>
            <a:r>
              <a:rPr lang="en-US" sz="1600" dirty="0">
                <a:solidFill>
                  <a:srgbClr val="E8F1FA"/>
                </a:solidFill>
              </a:rPr>
              <a:t>misuse of authorized access by employees, contractors or other trusted users, whether intentional or accidental.</a:t>
            </a:r>
            <a:endParaRPr lang="en-US" sz="1600" dirty="0"/>
          </a:p>
          <a:p>
            <a:pPr marL="203200" indent="-203200">
              <a:spcAft>
                <a:spcPts val="1000"/>
              </a:spcAft>
              <a:buSzPct val="100000"/>
              <a:buChar char="•"/>
            </a:pPr>
            <a:r>
              <a:rPr lang="en-US" sz="1600" b="1" dirty="0">
                <a:solidFill>
                  <a:srgbClr val="6CD9FF"/>
                </a:solidFill>
              </a:rPr>
              <a:t>Hard to detect: </a:t>
            </a:r>
            <a:r>
              <a:rPr lang="en-US" sz="1600" dirty="0">
                <a:solidFill>
                  <a:srgbClr val="E8F1FA"/>
                </a:solidFill>
              </a:rPr>
              <a:t>actions use valid credentials, so they can look like normal work.</a:t>
            </a:r>
            <a:endParaRPr lang="en-US" sz="1600" dirty="0"/>
          </a:p>
          <a:p>
            <a:pPr marL="203200" indent="-203200">
              <a:spcAft>
                <a:spcPts val="1000"/>
              </a:spcAft>
              <a:buSzPct val="100000"/>
              <a:buChar char="•"/>
            </a:pPr>
            <a:r>
              <a:rPr lang="en-US" sz="1600" b="1" dirty="0">
                <a:solidFill>
                  <a:srgbClr val="6CD9FF"/>
                </a:solidFill>
              </a:rPr>
              <a:t>Why monitor behavior: </a:t>
            </a:r>
            <a:r>
              <a:rPr lang="en-US" sz="1600" dirty="0">
                <a:solidFill>
                  <a:srgbClr val="E8F1FA"/>
                </a:solidFill>
              </a:rPr>
              <a:t>shifts in timing, volume or resources accessed can signal risk.</a:t>
            </a:r>
            <a:endParaRPr lang="en-US" sz="1600" dirty="0"/>
          </a:p>
          <a:p>
            <a:pPr marL="203200" indent="-203200">
              <a:spcAft>
                <a:spcPts val="1000"/>
              </a:spcAft>
              <a:buSzPct val="100000"/>
              <a:buChar char="•"/>
            </a:pPr>
            <a:r>
              <a:rPr lang="en-US" sz="1600" b="1" dirty="0">
                <a:solidFill>
                  <a:srgbClr val="6CD9FF"/>
                </a:solidFill>
              </a:rPr>
              <a:t>How ML helps: </a:t>
            </a:r>
            <a:r>
              <a:rPr lang="en-US" sz="1600" dirty="0">
                <a:solidFill>
                  <a:srgbClr val="E8F1FA"/>
                </a:solidFill>
              </a:rPr>
              <a:t>learns normal patterns from logs at scale and highlights unusual activity for analysts to review.</a:t>
            </a:r>
            <a:endParaRPr lang="en-US" sz="1600" dirty="0"/>
          </a:p>
        </p:txBody>
      </p:sp>
      <p:sp>
        <p:nvSpPr>
          <p:cNvPr id="26" name="Card insider vs external"/>
          <p:cNvSpPr/>
          <p:nvPr/>
        </p:nvSpPr>
        <p:spPr>
          <a:xfrm>
            <a:off x="6903720" y="2834640"/>
            <a:ext cx="4736592" cy="3429000"/>
          </a:xfrm>
          <a:prstGeom prst="roundRect">
            <a:avLst>
              <a:gd name="adj" fmla="val 2133"/>
            </a:avLst>
          </a:prstGeom>
          <a:solidFill>
            <a:srgbClr val="0E172A">
              <a:alpha val="95000"/>
            </a:srgbClr>
          </a:solidFill>
          <a:ln w="12700">
            <a:solidFill>
              <a:srgbClr val="2A8FBF"/>
            </a:solidFill>
            <a:prstDash val="solid"/>
          </a:ln>
        </p:spPr>
      </p:sp>
      <p:pic>
        <p:nvPicPr>
          <p:cNvPr id="27" name="Icon INSIDER vs EXTERNAL" descr="INSIDER vs EXTERNAL"/>
          <p:cNvPicPr>
            <a:picLocks noChangeAspect="1"/>
          </p:cNvPicPr>
          <p:nvPr/>
        </p:nvPicPr>
        <p:blipFill>
          <a:blip r:embed="rId8"/>
          <a:stretch>
            <a:fillRect/>
          </a:stretch>
        </p:blipFill>
        <p:spPr>
          <a:xfrm>
            <a:off x="7132320" y="2999232"/>
            <a:ext cx="292608" cy="292608"/>
          </a:xfrm>
          <a:prstGeom prst="rect">
            <a:avLst/>
          </a:prstGeom>
        </p:spPr>
      </p:pic>
      <p:sp>
        <p:nvSpPr>
          <p:cNvPr id="28" name="Heading INSIDER vs EXTERNAL"/>
          <p:cNvSpPr txBox="1"/>
          <p:nvPr/>
        </p:nvSpPr>
        <p:spPr>
          <a:xfrm>
            <a:off x="7534656" y="2999232"/>
            <a:ext cx="389534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INSIDER vs EXTERNAL</a:t>
            </a:r>
            <a:endParaRPr lang="en-US" sz="1400" dirty="0"/>
          </a:p>
        </p:txBody>
      </p:sp>
      <p:graphicFrame>
        <p:nvGraphicFramePr>
          <p:cNvPr id="29" name="Table insider vs external"/>
          <p:cNvGraphicFramePr>
            <a:graphicFrameLocks noGrp="1"/>
          </p:cNvGraphicFramePr>
          <p:nvPr>
            <p:extLst>
              <p:ext uri="{D42A27DB-BD31-4B8C-83A1-F6EECF244321}">
                <p14:modId xmlns:p14="http://schemas.microsoft.com/office/powerpoint/2010/main" val="1579011935"/>
              </p:ext>
            </p:extLst>
          </p:nvPr>
        </p:nvGraphicFramePr>
        <p:xfrm>
          <a:off x="7132320" y="3520440"/>
          <a:ext cx="4279392" cy="2340864"/>
        </p:xfrm>
        <a:graphic>
          <a:graphicData uri="http://schemas.openxmlformats.org/drawingml/2006/table">
            <a:tbl>
              <a:tblPr/>
              <a:tblGrid>
                <a:gridCol w="10058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719072">
                  <a:extLst>
                    <a:ext uri="{9D8B030D-6E8A-4147-A177-3AD203B41FA5}">
                      <a16:colId xmlns:a16="http://schemas.microsoft.com/office/drawing/2014/main" val="20002"/>
                    </a:ext>
                  </a:extLst>
                </a:gridCol>
              </a:tblGrid>
              <a:tr h="329184">
                <a:tc>
                  <a:txBody>
                    <a:bodyPr/>
                    <a:lstStyle/>
                    <a:p>
                      <a:pPr marL="0" indent="0">
                        <a:buNone/>
                      </a:pPr>
                      <a:r>
                        <a:rPr lang="en-US" sz="1300" b="1" dirty="0">
                          <a:solidFill>
                            <a:srgbClr val="6CD9FF"/>
                          </a:solidFill>
                        </a:rPr>
                        <a:t>Aspect</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tc>
                  <a:txBody>
                    <a:bodyPr/>
                    <a:lstStyle/>
                    <a:p>
                      <a:pPr marL="0" indent="0">
                        <a:buNone/>
                      </a:pPr>
                      <a:r>
                        <a:rPr lang="en-US" sz="1300" b="1" dirty="0">
                          <a:solidFill>
                            <a:srgbClr val="6CD9FF"/>
                          </a:solidFill>
                        </a:rPr>
                        <a:t>Insider threat</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tc>
                  <a:txBody>
                    <a:bodyPr/>
                    <a:lstStyle/>
                    <a:p>
                      <a:pPr marL="0" indent="0">
                        <a:buNone/>
                      </a:pPr>
                      <a:r>
                        <a:rPr lang="en-US" sz="1300" b="1" dirty="0">
                          <a:solidFill>
                            <a:srgbClr val="6CD9FF"/>
                          </a:solidFill>
                        </a:rPr>
                        <a:t>External attack</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extLst>
                  <a:ext uri="{0D108BD9-81ED-4DB2-BD59-A6C34878D82A}">
                    <a16:rowId xmlns:a16="http://schemas.microsoft.com/office/drawing/2014/main" val="10000"/>
                  </a:ext>
                </a:extLst>
              </a:tr>
              <a:tr h="640080">
                <a:tc>
                  <a:txBody>
                    <a:bodyPr/>
                    <a:lstStyle/>
                    <a:p>
                      <a:pPr marL="0" indent="0">
                        <a:buNone/>
                      </a:pPr>
                      <a:r>
                        <a:rPr lang="en-US" sz="1300" b="1" dirty="0">
                          <a:solidFill>
                            <a:srgbClr val="6CD9FF"/>
                          </a:solidFill>
                        </a:rPr>
                        <a:t>Access</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Already authorized</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Must break in or trick its way in</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1"/>
                  </a:ext>
                </a:extLst>
              </a:tr>
              <a:tr h="731520">
                <a:tc>
                  <a:txBody>
                    <a:bodyPr/>
                    <a:lstStyle/>
                    <a:p>
                      <a:pPr marL="0" indent="0">
                        <a:buNone/>
                      </a:pPr>
                      <a:r>
                        <a:rPr lang="en-US" sz="1300" b="1" dirty="0">
                          <a:solidFill>
                            <a:srgbClr val="6CD9FF"/>
                          </a:solidFill>
                        </a:rPr>
                        <a:t>Main signal</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Behavior differs from normal</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Intrusion traces, malware, known patterns</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2"/>
                  </a:ext>
                </a:extLst>
              </a:tr>
              <a:tr h="640080">
                <a:tc>
                  <a:txBody>
                    <a:bodyPr/>
                    <a:lstStyle/>
                    <a:p>
                      <a:pPr marL="0" indent="0">
                        <a:buNone/>
                      </a:pPr>
                      <a:r>
                        <a:rPr lang="en-US" sz="1300" b="1" dirty="0">
                          <a:solidFill>
                            <a:srgbClr val="6CD9FF"/>
                          </a:solidFill>
                        </a:rPr>
                        <a:t>Why hard</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Looks like legitimate work</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Perimeter tools and signatures help</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3"/>
                  </a:ext>
                </a:extLst>
              </a:tr>
            </a:tbl>
          </a:graphicData>
        </a:graphic>
      </p:graphicFrame>
      <p:sp>
        <p:nvSpPr>
          <p:cNvPr id="30"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PROBLEM STATEMENT &amp; MOTIVATION</a:t>
            </a:r>
            <a:endParaRPr lang="en-US" sz="2800" dirty="0"/>
          </a:p>
        </p:txBody>
      </p:sp>
      <p:sp>
        <p:nvSpPr>
          <p:cNvPr id="3" name="Card problem statement"/>
          <p:cNvSpPr/>
          <p:nvPr/>
        </p:nvSpPr>
        <p:spPr>
          <a:xfrm>
            <a:off x="548640" y="1143000"/>
            <a:ext cx="11094415" cy="1508760"/>
          </a:xfrm>
          <a:prstGeom prst="roundRect">
            <a:avLst>
              <a:gd name="adj" fmla="val 4848"/>
            </a:avLst>
          </a:prstGeom>
          <a:solidFill>
            <a:srgbClr val="0E172A">
              <a:alpha val="95000"/>
            </a:srgbClr>
          </a:solidFill>
          <a:ln w="19050">
            <a:solidFill>
              <a:srgbClr val="6CD9FF"/>
            </a:solidFill>
            <a:prstDash val="solid"/>
          </a:ln>
        </p:spPr>
      </p:sp>
      <p:pic>
        <p:nvPicPr>
          <p:cNvPr id="4" name="Icon PROBLEM STATEMENT" descr="PROBLEM STATEMENT"/>
          <p:cNvPicPr>
            <a:picLocks noChangeAspect="1"/>
          </p:cNvPicPr>
          <p:nvPr/>
        </p:nvPicPr>
        <p:blipFill>
          <a:blip r:embed="rId3"/>
          <a:stretch>
            <a:fillRect/>
          </a:stretch>
        </p:blipFill>
        <p:spPr>
          <a:xfrm>
            <a:off x="822960" y="1280160"/>
            <a:ext cx="292608" cy="292608"/>
          </a:xfrm>
          <a:prstGeom prst="rect">
            <a:avLst/>
          </a:prstGeom>
        </p:spPr>
      </p:pic>
      <p:sp>
        <p:nvSpPr>
          <p:cNvPr id="5" name="Heading PROBLEM STATEMENT"/>
          <p:cNvSpPr txBox="1"/>
          <p:nvPr/>
        </p:nvSpPr>
        <p:spPr>
          <a:xfrm>
            <a:off x="1225296" y="1280160"/>
            <a:ext cx="416966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PROBLEM STATEMENT</a:t>
            </a:r>
            <a:endParaRPr lang="en-US" sz="1400" dirty="0"/>
          </a:p>
        </p:txBody>
      </p:sp>
      <p:sp>
        <p:nvSpPr>
          <p:cNvPr id="6" name="Problem statement text"/>
          <p:cNvSpPr txBox="1"/>
          <p:nvPr/>
        </p:nvSpPr>
        <p:spPr>
          <a:xfrm>
            <a:off x="822960" y="1719072"/>
            <a:ext cx="10545775" cy="868680"/>
          </a:xfrm>
          <a:prstGeom prst="rect">
            <a:avLst/>
          </a:prstGeom>
          <a:noFill/>
          <a:ln/>
        </p:spPr>
        <p:txBody>
          <a:bodyPr wrap="square" lIns="0" tIns="0" rIns="0" bIns="0" rtlCol="0" anchor="t"/>
          <a:lstStyle/>
          <a:p>
            <a:pPr marL="0" indent="0">
              <a:buNone/>
            </a:pPr>
            <a:r>
              <a:rPr lang="en-US" sz="1700" dirty="0">
                <a:solidFill>
                  <a:srgbClr val="FFFFFF"/>
                </a:solidFill>
              </a:rPr>
              <a:t>Large volumes of user activity logs make manual monitoring impractical, and rule-based systems can miss subtle behavioral deviations by authorized users. This project explores how machine learning can flag potentially suspicious activity so that human analysts can investigate it.</a:t>
            </a:r>
            <a:endParaRPr lang="en-US" sz="1700" dirty="0"/>
          </a:p>
        </p:txBody>
      </p:sp>
      <p:sp>
        <p:nvSpPr>
          <p:cNvPr id="7" name="Card TRADITIONAL LIMITS"/>
          <p:cNvSpPr/>
          <p:nvPr/>
        </p:nvSpPr>
        <p:spPr>
          <a:xfrm>
            <a:off x="548640" y="2880360"/>
            <a:ext cx="3515258" cy="3383280"/>
          </a:xfrm>
          <a:prstGeom prst="roundRect">
            <a:avLst>
              <a:gd name="adj" fmla="val 2162"/>
            </a:avLst>
          </a:prstGeom>
          <a:solidFill>
            <a:srgbClr val="0E172A">
              <a:alpha val="95000"/>
            </a:srgbClr>
          </a:solidFill>
          <a:ln w="12700">
            <a:solidFill>
              <a:srgbClr val="2A8FBF"/>
            </a:solidFill>
            <a:prstDash val="solid"/>
          </a:ln>
        </p:spPr>
      </p:sp>
      <p:pic>
        <p:nvPicPr>
          <p:cNvPr id="8" name="Icon TRADITIONAL LIMITS" descr="TRADITIONAL LIMITS"/>
          <p:cNvPicPr>
            <a:picLocks noChangeAspect="1"/>
          </p:cNvPicPr>
          <p:nvPr/>
        </p:nvPicPr>
        <p:blipFill>
          <a:blip r:embed="rId4"/>
          <a:stretch>
            <a:fillRect/>
          </a:stretch>
        </p:blipFill>
        <p:spPr>
          <a:xfrm>
            <a:off x="777240" y="3063240"/>
            <a:ext cx="292608" cy="292608"/>
          </a:xfrm>
          <a:prstGeom prst="rect">
            <a:avLst/>
          </a:prstGeom>
        </p:spPr>
      </p:pic>
      <p:sp>
        <p:nvSpPr>
          <p:cNvPr id="9" name="Heading TRADITIONAL LIMITS"/>
          <p:cNvSpPr txBox="1"/>
          <p:nvPr/>
        </p:nvSpPr>
        <p:spPr>
          <a:xfrm>
            <a:off x="1179576" y="3063240"/>
            <a:ext cx="2747162" cy="292608"/>
          </a:xfrm>
          <a:prstGeom prst="rect">
            <a:avLst/>
          </a:prstGeom>
          <a:noFill/>
          <a:ln/>
        </p:spPr>
        <p:txBody>
          <a:bodyPr wrap="square" lIns="0" tIns="0" rIns="0" bIns="0" rtlCol="0" anchor="ctr"/>
          <a:lstStyle/>
          <a:p>
            <a:pPr marL="0" indent="0">
              <a:buNone/>
            </a:pPr>
            <a:r>
              <a:rPr lang="en-US" sz="1400" b="1" kern="0" spc="150" dirty="0">
                <a:solidFill>
                  <a:srgbClr val="6CD9FF"/>
                </a:solidFill>
              </a:rPr>
              <a:t>TRADITIONAL LIMITS</a:t>
            </a:r>
            <a:endParaRPr lang="en-US" sz="1400" dirty="0"/>
          </a:p>
        </p:txBody>
      </p:sp>
      <p:sp>
        <p:nvSpPr>
          <p:cNvPr id="10" name="Bullets"/>
          <p:cNvSpPr txBox="1"/>
          <p:nvPr/>
        </p:nvSpPr>
        <p:spPr>
          <a:xfrm>
            <a:off x="777240" y="3566160"/>
            <a:ext cx="3058058" cy="256032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E8F1FA"/>
                </a:solidFill>
              </a:rPr>
              <a:t>Fixed rules and thresholds need constant manual tuning</a:t>
            </a:r>
            <a:endParaRPr lang="en-US" sz="1600" dirty="0"/>
          </a:p>
          <a:p>
            <a:pPr marL="203200" indent="-203200">
              <a:spcAft>
                <a:spcPts val="1000"/>
              </a:spcAft>
              <a:buSzPct val="100000"/>
              <a:buChar char="•"/>
            </a:pPr>
            <a:r>
              <a:rPr lang="en-US" sz="1600" dirty="0">
                <a:solidFill>
                  <a:srgbClr val="E8F1FA"/>
                </a:solidFill>
              </a:rPr>
              <a:t>Valid credentials pass access checks</a:t>
            </a:r>
            <a:endParaRPr lang="en-US" sz="1600" dirty="0"/>
          </a:p>
          <a:p>
            <a:pPr marL="203200" indent="-203200">
              <a:spcAft>
                <a:spcPts val="1000"/>
              </a:spcAft>
              <a:buSzPct val="100000"/>
              <a:buChar char="•"/>
            </a:pPr>
            <a:r>
              <a:rPr lang="en-US" sz="1600" dirty="0">
                <a:solidFill>
                  <a:srgbClr val="E8F1FA"/>
                </a:solidFill>
              </a:rPr>
              <a:t>Slow, low-volume changes can stay under the limits</a:t>
            </a:r>
            <a:endParaRPr lang="en-US" sz="1600" dirty="0"/>
          </a:p>
          <a:p>
            <a:pPr marL="203200" indent="-203200">
              <a:spcAft>
                <a:spcPts val="1000"/>
              </a:spcAft>
              <a:buSzPct val="100000"/>
              <a:buChar char="•"/>
            </a:pPr>
            <a:r>
              <a:rPr lang="en-US" sz="1600" dirty="0">
                <a:solidFill>
                  <a:srgbClr val="E8F1FA"/>
                </a:solidFill>
              </a:rPr>
              <a:t>New patterns are not covered by old rules</a:t>
            </a:r>
            <a:endParaRPr lang="en-US" sz="1600" dirty="0"/>
          </a:p>
        </p:txBody>
      </p:sp>
      <p:sp>
        <p:nvSpPr>
          <p:cNvPr id="11" name="Card EARLY IDENTIFICATION"/>
          <p:cNvSpPr/>
          <p:nvPr/>
        </p:nvSpPr>
        <p:spPr>
          <a:xfrm>
            <a:off x="4338218" y="2880360"/>
            <a:ext cx="3515258" cy="3383280"/>
          </a:xfrm>
          <a:prstGeom prst="roundRect">
            <a:avLst>
              <a:gd name="adj" fmla="val 2162"/>
            </a:avLst>
          </a:prstGeom>
          <a:solidFill>
            <a:srgbClr val="0E172A">
              <a:alpha val="95000"/>
            </a:srgbClr>
          </a:solidFill>
          <a:ln w="12700">
            <a:solidFill>
              <a:srgbClr val="2A8FBF"/>
            </a:solidFill>
            <a:prstDash val="solid"/>
          </a:ln>
        </p:spPr>
      </p:sp>
      <p:pic>
        <p:nvPicPr>
          <p:cNvPr id="12" name="Icon EARLY IDENTIFICATION" descr="EARLY IDENTIFICATION"/>
          <p:cNvPicPr>
            <a:picLocks noChangeAspect="1"/>
          </p:cNvPicPr>
          <p:nvPr/>
        </p:nvPicPr>
        <p:blipFill>
          <a:blip r:embed="rId5"/>
          <a:stretch>
            <a:fillRect/>
          </a:stretch>
        </p:blipFill>
        <p:spPr>
          <a:xfrm>
            <a:off x="4566818" y="3063240"/>
            <a:ext cx="292608" cy="292608"/>
          </a:xfrm>
          <a:prstGeom prst="rect">
            <a:avLst/>
          </a:prstGeom>
        </p:spPr>
      </p:pic>
      <p:sp>
        <p:nvSpPr>
          <p:cNvPr id="13" name="Heading EARLY IDENTIFICATION"/>
          <p:cNvSpPr txBox="1"/>
          <p:nvPr/>
        </p:nvSpPr>
        <p:spPr>
          <a:xfrm>
            <a:off x="4969154" y="3063240"/>
            <a:ext cx="2747162" cy="292608"/>
          </a:xfrm>
          <a:prstGeom prst="rect">
            <a:avLst/>
          </a:prstGeom>
          <a:noFill/>
          <a:ln/>
        </p:spPr>
        <p:txBody>
          <a:bodyPr wrap="square" lIns="0" tIns="0" rIns="0" bIns="0" rtlCol="0" anchor="ctr"/>
          <a:lstStyle/>
          <a:p>
            <a:pPr marL="0" indent="0">
              <a:buNone/>
            </a:pPr>
            <a:r>
              <a:rPr lang="en-US" sz="1400" b="1" kern="0" spc="150" dirty="0">
                <a:solidFill>
                  <a:srgbClr val="6CD9FF"/>
                </a:solidFill>
              </a:rPr>
              <a:t>EARLY IDENTIFICATION</a:t>
            </a:r>
            <a:endParaRPr lang="en-US" sz="1400" dirty="0"/>
          </a:p>
        </p:txBody>
      </p:sp>
      <p:sp>
        <p:nvSpPr>
          <p:cNvPr id="14" name="Bullets"/>
          <p:cNvSpPr txBox="1"/>
          <p:nvPr/>
        </p:nvSpPr>
        <p:spPr>
          <a:xfrm>
            <a:off x="4566818" y="3566160"/>
            <a:ext cx="3058058" cy="256032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E8F1FA"/>
                </a:solidFill>
              </a:rPr>
              <a:t>Unusual behavior may appear before data is lost</a:t>
            </a:r>
            <a:endParaRPr lang="en-US" sz="1600" dirty="0"/>
          </a:p>
          <a:p>
            <a:pPr marL="203200" indent="-203200">
              <a:spcAft>
                <a:spcPts val="1000"/>
              </a:spcAft>
              <a:buSzPct val="100000"/>
              <a:buChar char="•"/>
            </a:pPr>
            <a:r>
              <a:rPr lang="en-US" sz="1600" dirty="0">
                <a:solidFill>
                  <a:srgbClr val="E8F1FA"/>
                </a:solidFill>
              </a:rPr>
              <a:t>Earlier review gives analysts time to investigate</a:t>
            </a:r>
            <a:endParaRPr lang="en-US" sz="1600" dirty="0"/>
          </a:p>
          <a:p>
            <a:pPr marL="203200" indent="-203200">
              <a:spcAft>
                <a:spcPts val="1000"/>
              </a:spcAft>
              <a:buSzPct val="100000"/>
              <a:buChar char="•"/>
            </a:pPr>
            <a:r>
              <a:rPr lang="en-US" sz="1600" dirty="0">
                <a:solidFill>
                  <a:srgbClr val="E8F1FA"/>
                </a:solidFill>
              </a:rPr>
              <a:t>Ranking unusual activity reduces manual workload</a:t>
            </a:r>
            <a:endParaRPr lang="en-US" sz="1600" dirty="0"/>
          </a:p>
        </p:txBody>
      </p:sp>
      <p:sp>
        <p:nvSpPr>
          <p:cNvPr id="15" name="Card WHY IT MATTERS"/>
          <p:cNvSpPr/>
          <p:nvPr/>
        </p:nvSpPr>
        <p:spPr>
          <a:xfrm>
            <a:off x="8127797" y="2880360"/>
            <a:ext cx="3515258" cy="3383280"/>
          </a:xfrm>
          <a:prstGeom prst="roundRect">
            <a:avLst>
              <a:gd name="adj" fmla="val 2162"/>
            </a:avLst>
          </a:prstGeom>
          <a:solidFill>
            <a:srgbClr val="0E172A">
              <a:alpha val="95000"/>
            </a:srgbClr>
          </a:solidFill>
          <a:ln w="12700">
            <a:solidFill>
              <a:srgbClr val="2A8FBF"/>
            </a:solidFill>
            <a:prstDash val="solid"/>
          </a:ln>
        </p:spPr>
      </p:sp>
      <p:pic>
        <p:nvPicPr>
          <p:cNvPr id="16" name="Icon WHY IT MATTERS" descr="WHY IT MATTERS"/>
          <p:cNvPicPr>
            <a:picLocks noChangeAspect="1"/>
          </p:cNvPicPr>
          <p:nvPr/>
        </p:nvPicPr>
        <p:blipFill>
          <a:blip r:embed="rId6"/>
          <a:stretch>
            <a:fillRect/>
          </a:stretch>
        </p:blipFill>
        <p:spPr>
          <a:xfrm>
            <a:off x="8356397" y="3063240"/>
            <a:ext cx="292608" cy="292608"/>
          </a:xfrm>
          <a:prstGeom prst="rect">
            <a:avLst/>
          </a:prstGeom>
        </p:spPr>
      </p:pic>
      <p:sp>
        <p:nvSpPr>
          <p:cNvPr id="17" name="Heading WHY IT MATTERS"/>
          <p:cNvSpPr txBox="1"/>
          <p:nvPr/>
        </p:nvSpPr>
        <p:spPr>
          <a:xfrm>
            <a:off x="8758733" y="3063240"/>
            <a:ext cx="2747162" cy="292608"/>
          </a:xfrm>
          <a:prstGeom prst="rect">
            <a:avLst/>
          </a:prstGeom>
          <a:noFill/>
          <a:ln/>
        </p:spPr>
        <p:txBody>
          <a:bodyPr wrap="square" lIns="0" tIns="0" rIns="0" bIns="0" rtlCol="0" anchor="ctr"/>
          <a:lstStyle/>
          <a:p>
            <a:pPr marL="0" indent="0">
              <a:buNone/>
            </a:pPr>
            <a:r>
              <a:rPr lang="en-US" sz="1400" b="1" kern="0" spc="150" dirty="0">
                <a:solidFill>
                  <a:srgbClr val="6CD9FF"/>
                </a:solidFill>
              </a:rPr>
              <a:t>WHY IT MATTERS</a:t>
            </a:r>
            <a:endParaRPr lang="en-US" sz="1400" dirty="0"/>
          </a:p>
        </p:txBody>
      </p:sp>
      <p:sp>
        <p:nvSpPr>
          <p:cNvPr id="18" name="Bullets"/>
          <p:cNvSpPr txBox="1"/>
          <p:nvPr/>
        </p:nvSpPr>
        <p:spPr>
          <a:xfrm>
            <a:off x="8356397" y="3566160"/>
            <a:ext cx="3058058" cy="256032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E8F1FA"/>
                </a:solidFill>
              </a:rPr>
              <a:t>Organizations rely on authorized access to sensitive data</a:t>
            </a:r>
            <a:endParaRPr lang="en-US" sz="1600" dirty="0"/>
          </a:p>
          <a:p>
            <a:pPr marL="203200" indent="-203200">
              <a:spcAft>
                <a:spcPts val="1000"/>
              </a:spcAft>
              <a:buSzPct val="100000"/>
              <a:buChar char="•"/>
            </a:pPr>
            <a:r>
              <a:rPr lang="en-US" sz="1600" dirty="0">
                <a:solidFill>
                  <a:srgbClr val="E8F1FA"/>
                </a:solidFill>
              </a:rPr>
              <a:t>Insiders already sit inside the perimeter</a:t>
            </a:r>
            <a:endParaRPr lang="en-US" sz="1600" dirty="0"/>
          </a:p>
          <a:p>
            <a:pPr marL="203200" indent="-203200">
              <a:spcAft>
                <a:spcPts val="1000"/>
              </a:spcAft>
              <a:buSzPct val="100000"/>
              <a:buChar char="•"/>
            </a:pPr>
            <a:r>
              <a:rPr lang="en-US" sz="1600" dirty="0">
                <a:solidFill>
                  <a:srgbClr val="E8F1FA"/>
                </a:solidFill>
              </a:rPr>
              <a:t>Behavior-based analysis complements, not replaces, rule-based tools</a:t>
            </a:r>
            <a:endParaRPr lang="en-US" sz="16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OBJECTIVES &amp; SCOPE</a:t>
            </a:r>
            <a:endParaRPr lang="en-US" sz="2800" dirty="0"/>
          </a:p>
        </p:txBody>
      </p:sp>
      <p:sp>
        <p:nvSpPr>
          <p:cNvPr id="3" name="Card main objective"/>
          <p:cNvSpPr/>
          <p:nvPr/>
        </p:nvSpPr>
        <p:spPr>
          <a:xfrm>
            <a:off x="548640" y="1097280"/>
            <a:ext cx="11094415" cy="822960"/>
          </a:xfrm>
          <a:prstGeom prst="roundRect">
            <a:avLst>
              <a:gd name="adj" fmla="val 8889"/>
            </a:avLst>
          </a:prstGeom>
          <a:solidFill>
            <a:srgbClr val="0E172A">
              <a:alpha val="95000"/>
            </a:srgbClr>
          </a:solidFill>
          <a:ln w="19050">
            <a:solidFill>
              <a:srgbClr val="6CD9FF"/>
            </a:solidFill>
            <a:prstDash val="solid"/>
          </a:ln>
        </p:spPr>
      </p:sp>
      <p:sp>
        <p:nvSpPr>
          <p:cNvPr id="4" name="Text 2"/>
          <p:cNvSpPr txBox="1"/>
          <p:nvPr/>
        </p:nvSpPr>
        <p:spPr>
          <a:xfrm>
            <a:off x="822960" y="1097280"/>
            <a:ext cx="1737360" cy="822960"/>
          </a:xfrm>
          <a:prstGeom prst="rect">
            <a:avLst/>
          </a:prstGeom>
          <a:noFill/>
          <a:ln/>
        </p:spPr>
        <p:txBody>
          <a:bodyPr wrap="square" lIns="0" tIns="0" rIns="0" bIns="0" rtlCol="0" anchor="ctr"/>
          <a:lstStyle/>
          <a:p>
            <a:pPr marL="0" indent="0">
              <a:buNone/>
            </a:pPr>
            <a:r>
              <a:rPr lang="en-US" sz="1300" b="1" kern="0" spc="150" dirty="0">
                <a:solidFill>
                  <a:srgbClr val="6CD9FF"/>
                </a:solidFill>
              </a:rPr>
              <a:t>MAIN OBJECTIVE</a:t>
            </a:r>
            <a:endParaRPr lang="en-US" sz="1300" dirty="0"/>
          </a:p>
        </p:txBody>
      </p:sp>
      <p:sp>
        <p:nvSpPr>
          <p:cNvPr id="5" name="Text 3"/>
          <p:cNvSpPr txBox="1"/>
          <p:nvPr/>
        </p:nvSpPr>
        <p:spPr>
          <a:xfrm>
            <a:off x="2651760" y="1097280"/>
            <a:ext cx="8716975" cy="822960"/>
          </a:xfrm>
          <a:prstGeom prst="rect">
            <a:avLst/>
          </a:prstGeom>
          <a:noFill/>
          <a:ln/>
        </p:spPr>
        <p:txBody>
          <a:bodyPr wrap="square" lIns="0" tIns="0" rIns="0" bIns="0" rtlCol="0" anchor="ctr"/>
          <a:lstStyle/>
          <a:p>
            <a:pPr marL="0" indent="0">
              <a:buNone/>
            </a:pPr>
            <a:r>
              <a:rPr lang="en-US" sz="1600" dirty="0">
                <a:solidFill>
                  <a:srgbClr val="FFFFFF"/>
                </a:solidFill>
              </a:rPr>
              <a:t>Develop a machine-learning-based system that analyzes user activity and detects potentially suspicious behavior.</a:t>
            </a:r>
            <a:endParaRPr lang="en-US" sz="1600" dirty="0"/>
          </a:p>
        </p:txBody>
      </p:sp>
      <p:sp>
        <p:nvSpPr>
          <p:cNvPr id="6" name="Card objective 1"/>
          <p:cNvSpPr/>
          <p:nvPr/>
        </p:nvSpPr>
        <p:spPr>
          <a:xfrm>
            <a:off x="548640" y="2103120"/>
            <a:ext cx="2602154" cy="1783080"/>
          </a:xfrm>
          <a:prstGeom prst="roundRect">
            <a:avLst>
              <a:gd name="adj" fmla="val 4103"/>
            </a:avLst>
          </a:prstGeom>
          <a:solidFill>
            <a:srgbClr val="0E172A">
              <a:alpha val="95000"/>
            </a:srgbClr>
          </a:solidFill>
          <a:ln w="12700">
            <a:solidFill>
              <a:srgbClr val="2A8FBF"/>
            </a:solidFill>
            <a:prstDash val="solid"/>
          </a:ln>
        </p:spPr>
      </p:sp>
      <p:sp>
        <p:nvSpPr>
          <p:cNvPr id="7" name="Number 1"/>
          <p:cNvSpPr/>
          <p:nvPr/>
        </p:nvSpPr>
        <p:spPr>
          <a:xfrm>
            <a:off x="731520" y="2286000"/>
            <a:ext cx="420624" cy="420624"/>
          </a:xfrm>
          <a:prstGeom prst="ellipse">
            <a:avLst/>
          </a:prstGeom>
          <a:solidFill>
            <a:srgbClr val="0A1426"/>
          </a:solidFill>
          <a:ln w="15875">
            <a:solidFill>
              <a:srgbClr val="6CD9FF"/>
            </a:solidFill>
            <a:prstDash val="solid"/>
          </a:ln>
        </p:spPr>
      </p:sp>
      <p:sp>
        <p:nvSpPr>
          <p:cNvPr id="8" name="Text 6"/>
          <p:cNvSpPr txBox="1"/>
          <p:nvPr/>
        </p:nvSpPr>
        <p:spPr>
          <a:xfrm>
            <a:off x="731520" y="2286000"/>
            <a:ext cx="420624" cy="420624"/>
          </a:xfrm>
          <a:prstGeom prst="rect">
            <a:avLst/>
          </a:prstGeom>
          <a:noFill/>
          <a:ln/>
        </p:spPr>
        <p:txBody>
          <a:bodyPr wrap="square" lIns="0" tIns="0" rIns="0" bIns="0" rtlCol="0" anchor="ctr"/>
          <a:lstStyle/>
          <a:p>
            <a:pPr marL="0" indent="0" algn="ctr">
              <a:buNone/>
            </a:pPr>
            <a:r>
              <a:rPr lang="en-US" sz="1500" b="1" dirty="0">
                <a:solidFill>
                  <a:srgbClr val="6CD9FF"/>
                </a:solidFill>
              </a:rPr>
              <a:t>1</a:t>
            </a:r>
            <a:endParaRPr lang="en-US" sz="1500" dirty="0"/>
          </a:p>
        </p:txBody>
      </p:sp>
      <p:sp>
        <p:nvSpPr>
          <p:cNvPr id="9" name="Text 7"/>
          <p:cNvSpPr txBox="1"/>
          <p:nvPr/>
        </p:nvSpPr>
        <p:spPr>
          <a:xfrm>
            <a:off x="731520" y="2834640"/>
            <a:ext cx="2236394" cy="960120"/>
          </a:xfrm>
          <a:prstGeom prst="rect">
            <a:avLst/>
          </a:prstGeom>
          <a:noFill/>
          <a:ln/>
        </p:spPr>
        <p:txBody>
          <a:bodyPr wrap="square" lIns="0" tIns="0" rIns="0" bIns="0" rtlCol="0" anchor="t"/>
          <a:lstStyle/>
          <a:p>
            <a:pPr marL="0" indent="0">
              <a:buNone/>
            </a:pPr>
            <a:r>
              <a:rPr lang="en-US" sz="1500" dirty="0">
                <a:solidFill>
                  <a:srgbClr val="E8F1FA"/>
                </a:solidFill>
              </a:rPr>
              <a:t>Prepare and clean user-activity data from the CERT dataset</a:t>
            </a:r>
            <a:endParaRPr lang="en-US" sz="1500" dirty="0"/>
          </a:p>
        </p:txBody>
      </p:sp>
      <p:sp>
        <p:nvSpPr>
          <p:cNvPr id="10" name="Card objective 2"/>
          <p:cNvSpPr/>
          <p:nvPr/>
        </p:nvSpPr>
        <p:spPr>
          <a:xfrm>
            <a:off x="3379394" y="2103120"/>
            <a:ext cx="2602154" cy="1783080"/>
          </a:xfrm>
          <a:prstGeom prst="roundRect">
            <a:avLst>
              <a:gd name="adj" fmla="val 4103"/>
            </a:avLst>
          </a:prstGeom>
          <a:solidFill>
            <a:srgbClr val="0E172A">
              <a:alpha val="95000"/>
            </a:srgbClr>
          </a:solidFill>
          <a:ln w="12700">
            <a:solidFill>
              <a:srgbClr val="2A8FBF"/>
            </a:solidFill>
            <a:prstDash val="solid"/>
          </a:ln>
        </p:spPr>
      </p:sp>
      <p:sp>
        <p:nvSpPr>
          <p:cNvPr id="11" name="Number 2"/>
          <p:cNvSpPr/>
          <p:nvPr/>
        </p:nvSpPr>
        <p:spPr>
          <a:xfrm>
            <a:off x="3562274" y="2286000"/>
            <a:ext cx="420624" cy="420624"/>
          </a:xfrm>
          <a:prstGeom prst="ellipse">
            <a:avLst/>
          </a:prstGeom>
          <a:solidFill>
            <a:srgbClr val="0A1426"/>
          </a:solidFill>
          <a:ln w="15875">
            <a:solidFill>
              <a:srgbClr val="6CD9FF"/>
            </a:solidFill>
            <a:prstDash val="solid"/>
          </a:ln>
        </p:spPr>
      </p:sp>
      <p:sp>
        <p:nvSpPr>
          <p:cNvPr id="12" name="Text 10"/>
          <p:cNvSpPr txBox="1"/>
          <p:nvPr/>
        </p:nvSpPr>
        <p:spPr>
          <a:xfrm>
            <a:off x="3562274" y="2286000"/>
            <a:ext cx="420624" cy="420624"/>
          </a:xfrm>
          <a:prstGeom prst="rect">
            <a:avLst/>
          </a:prstGeom>
          <a:noFill/>
          <a:ln/>
        </p:spPr>
        <p:txBody>
          <a:bodyPr wrap="square" lIns="0" tIns="0" rIns="0" bIns="0" rtlCol="0" anchor="ctr"/>
          <a:lstStyle/>
          <a:p>
            <a:pPr marL="0" indent="0" algn="ctr">
              <a:buNone/>
            </a:pPr>
            <a:r>
              <a:rPr lang="en-US" sz="1500" b="1" dirty="0">
                <a:solidFill>
                  <a:srgbClr val="6CD9FF"/>
                </a:solidFill>
              </a:rPr>
              <a:t>2</a:t>
            </a:r>
            <a:endParaRPr lang="en-US" sz="1500" dirty="0"/>
          </a:p>
        </p:txBody>
      </p:sp>
      <p:sp>
        <p:nvSpPr>
          <p:cNvPr id="13" name="Text 11"/>
          <p:cNvSpPr txBox="1"/>
          <p:nvPr/>
        </p:nvSpPr>
        <p:spPr>
          <a:xfrm>
            <a:off x="3562274" y="2834640"/>
            <a:ext cx="2236394" cy="960120"/>
          </a:xfrm>
          <a:prstGeom prst="rect">
            <a:avLst/>
          </a:prstGeom>
          <a:noFill/>
          <a:ln/>
        </p:spPr>
        <p:txBody>
          <a:bodyPr wrap="square" lIns="0" tIns="0" rIns="0" bIns="0" rtlCol="0" anchor="t"/>
          <a:lstStyle/>
          <a:p>
            <a:pPr marL="0" indent="0">
              <a:buNone/>
            </a:pPr>
            <a:r>
              <a:rPr lang="en-US" sz="1500" dirty="0">
                <a:solidFill>
                  <a:srgbClr val="E8F1FA"/>
                </a:solidFill>
              </a:rPr>
              <a:t>Extract behavioral features that describe normal and unusual activity</a:t>
            </a:r>
            <a:endParaRPr lang="en-US" sz="1500" dirty="0"/>
          </a:p>
        </p:txBody>
      </p:sp>
      <p:sp>
        <p:nvSpPr>
          <p:cNvPr id="14" name="Card objective 3"/>
          <p:cNvSpPr/>
          <p:nvPr/>
        </p:nvSpPr>
        <p:spPr>
          <a:xfrm>
            <a:off x="6210148" y="2103120"/>
            <a:ext cx="2602154" cy="1783080"/>
          </a:xfrm>
          <a:prstGeom prst="roundRect">
            <a:avLst>
              <a:gd name="adj" fmla="val 4103"/>
            </a:avLst>
          </a:prstGeom>
          <a:solidFill>
            <a:srgbClr val="0E172A">
              <a:alpha val="95000"/>
            </a:srgbClr>
          </a:solidFill>
          <a:ln w="12700">
            <a:solidFill>
              <a:srgbClr val="2A8FBF"/>
            </a:solidFill>
            <a:prstDash val="solid"/>
          </a:ln>
        </p:spPr>
      </p:sp>
      <p:sp>
        <p:nvSpPr>
          <p:cNvPr id="15" name="Number 3"/>
          <p:cNvSpPr/>
          <p:nvPr/>
        </p:nvSpPr>
        <p:spPr>
          <a:xfrm>
            <a:off x="6393028" y="2286000"/>
            <a:ext cx="420624" cy="420624"/>
          </a:xfrm>
          <a:prstGeom prst="ellipse">
            <a:avLst/>
          </a:prstGeom>
          <a:solidFill>
            <a:srgbClr val="0A1426"/>
          </a:solidFill>
          <a:ln w="15875">
            <a:solidFill>
              <a:srgbClr val="6CD9FF"/>
            </a:solidFill>
            <a:prstDash val="solid"/>
          </a:ln>
        </p:spPr>
      </p:sp>
      <p:sp>
        <p:nvSpPr>
          <p:cNvPr id="16" name="Text 14"/>
          <p:cNvSpPr txBox="1"/>
          <p:nvPr/>
        </p:nvSpPr>
        <p:spPr>
          <a:xfrm>
            <a:off x="6393028" y="2286000"/>
            <a:ext cx="420624" cy="420624"/>
          </a:xfrm>
          <a:prstGeom prst="rect">
            <a:avLst/>
          </a:prstGeom>
          <a:noFill/>
          <a:ln/>
        </p:spPr>
        <p:txBody>
          <a:bodyPr wrap="square" lIns="0" tIns="0" rIns="0" bIns="0" rtlCol="0" anchor="ctr"/>
          <a:lstStyle/>
          <a:p>
            <a:pPr marL="0" indent="0" algn="ctr">
              <a:buNone/>
            </a:pPr>
            <a:r>
              <a:rPr lang="en-US" sz="1500" b="1" dirty="0">
                <a:solidFill>
                  <a:srgbClr val="6CD9FF"/>
                </a:solidFill>
              </a:rPr>
              <a:t>3</a:t>
            </a:r>
            <a:endParaRPr lang="en-US" sz="1500" dirty="0"/>
          </a:p>
        </p:txBody>
      </p:sp>
      <p:sp>
        <p:nvSpPr>
          <p:cNvPr id="17" name="Text 15"/>
          <p:cNvSpPr txBox="1"/>
          <p:nvPr/>
        </p:nvSpPr>
        <p:spPr>
          <a:xfrm>
            <a:off x="6393028" y="2834640"/>
            <a:ext cx="2236394" cy="960120"/>
          </a:xfrm>
          <a:prstGeom prst="rect">
            <a:avLst/>
          </a:prstGeom>
          <a:noFill/>
          <a:ln/>
        </p:spPr>
        <p:txBody>
          <a:bodyPr wrap="square" lIns="0" tIns="0" rIns="0" bIns="0" rtlCol="0" anchor="t"/>
          <a:lstStyle/>
          <a:p>
            <a:pPr marL="0" indent="0">
              <a:buNone/>
            </a:pPr>
            <a:r>
              <a:rPr lang="en-US" sz="1500" dirty="0">
                <a:solidFill>
                  <a:srgbClr val="E8F1FA"/>
                </a:solidFill>
              </a:rPr>
              <a:t>Train a model </a:t>
            </a:r>
            <a:r>
              <a:rPr lang="en-US" sz="1500" b="1" dirty="0">
                <a:solidFill>
                  <a:srgbClr val="F2B24C"/>
                </a:solidFill>
              </a:rPr>
              <a:t>Logistic regression </a:t>
            </a:r>
            <a:r>
              <a:rPr lang="en-US" sz="1500" dirty="0">
                <a:solidFill>
                  <a:srgbClr val="E8F1FA"/>
                </a:solidFill>
              </a:rPr>
              <a:t>to flag potentially suspicious activity</a:t>
            </a:r>
            <a:endParaRPr lang="en-US" sz="1500" dirty="0"/>
          </a:p>
        </p:txBody>
      </p:sp>
      <p:sp>
        <p:nvSpPr>
          <p:cNvPr id="18" name="Card objective 4"/>
          <p:cNvSpPr/>
          <p:nvPr/>
        </p:nvSpPr>
        <p:spPr>
          <a:xfrm>
            <a:off x="9040901" y="2103120"/>
            <a:ext cx="2602154" cy="1783080"/>
          </a:xfrm>
          <a:prstGeom prst="roundRect">
            <a:avLst>
              <a:gd name="adj" fmla="val 4103"/>
            </a:avLst>
          </a:prstGeom>
          <a:solidFill>
            <a:srgbClr val="0E172A">
              <a:alpha val="95000"/>
            </a:srgbClr>
          </a:solidFill>
          <a:ln w="12700">
            <a:solidFill>
              <a:srgbClr val="2A8FBF"/>
            </a:solidFill>
            <a:prstDash val="solid"/>
          </a:ln>
        </p:spPr>
      </p:sp>
      <p:sp>
        <p:nvSpPr>
          <p:cNvPr id="19" name="Number 4"/>
          <p:cNvSpPr/>
          <p:nvPr/>
        </p:nvSpPr>
        <p:spPr>
          <a:xfrm>
            <a:off x="9223781" y="2286000"/>
            <a:ext cx="420624" cy="420624"/>
          </a:xfrm>
          <a:prstGeom prst="ellipse">
            <a:avLst/>
          </a:prstGeom>
          <a:solidFill>
            <a:srgbClr val="0A1426"/>
          </a:solidFill>
          <a:ln w="15875">
            <a:solidFill>
              <a:srgbClr val="6CD9FF"/>
            </a:solidFill>
            <a:prstDash val="solid"/>
          </a:ln>
        </p:spPr>
      </p:sp>
      <p:sp>
        <p:nvSpPr>
          <p:cNvPr id="20" name="Text 18"/>
          <p:cNvSpPr txBox="1"/>
          <p:nvPr/>
        </p:nvSpPr>
        <p:spPr>
          <a:xfrm>
            <a:off x="9223781" y="2286000"/>
            <a:ext cx="420624" cy="420624"/>
          </a:xfrm>
          <a:prstGeom prst="rect">
            <a:avLst/>
          </a:prstGeom>
          <a:noFill/>
          <a:ln/>
        </p:spPr>
        <p:txBody>
          <a:bodyPr wrap="square" lIns="0" tIns="0" rIns="0" bIns="0" rtlCol="0" anchor="ctr"/>
          <a:lstStyle/>
          <a:p>
            <a:pPr marL="0" indent="0" algn="ctr">
              <a:buNone/>
            </a:pPr>
            <a:r>
              <a:rPr lang="en-US" sz="1500" b="1" dirty="0">
                <a:solidFill>
                  <a:srgbClr val="6CD9FF"/>
                </a:solidFill>
              </a:rPr>
              <a:t>4</a:t>
            </a:r>
            <a:endParaRPr lang="en-US" sz="1500" dirty="0"/>
          </a:p>
        </p:txBody>
      </p:sp>
      <p:sp>
        <p:nvSpPr>
          <p:cNvPr id="21" name="Text 19"/>
          <p:cNvSpPr txBox="1"/>
          <p:nvPr/>
        </p:nvSpPr>
        <p:spPr>
          <a:xfrm>
            <a:off x="9223781" y="2834640"/>
            <a:ext cx="2236394" cy="960120"/>
          </a:xfrm>
          <a:prstGeom prst="rect">
            <a:avLst/>
          </a:prstGeom>
          <a:noFill/>
          <a:ln/>
        </p:spPr>
        <p:txBody>
          <a:bodyPr wrap="square" lIns="0" tIns="0" rIns="0" bIns="0" rtlCol="0" anchor="t"/>
          <a:lstStyle/>
          <a:p>
            <a:pPr marL="0" indent="0">
              <a:buNone/>
            </a:pPr>
            <a:r>
              <a:rPr lang="en-US" sz="1500" dirty="0">
                <a:solidFill>
                  <a:srgbClr val="E8F1FA"/>
                </a:solidFill>
              </a:rPr>
              <a:t>Visualize results and evaluate the approach with suitable metrics</a:t>
            </a:r>
            <a:endParaRPr lang="en-US" sz="1500" dirty="0"/>
          </a:p>
        </p:txBody>
      </p:sp>
      <p:sp>
        <p:nvSpPr>
          <p:cNvPr id="22" name="Card current scope"/>
          <p:cNvSpPr/>
          <p:nvPr/>
        </p:nvSpPr>
        <p:spPr>
          <a:xfrm>
            <a:off x="548640" y="4069080"/>
            <a:ext cx="5410048" cy="2240280"/>
          </a:xfrm>
          <a:prstGeom prst="roundRect">
            <a:avLst>
              <a:gd name="adj" fmla="val 3265"/>
            </a:avLst>
          </a:prstGeom>
          <a:solidFill>
            <a:srgbClr val="0E172A">
              <a:alpha val="95000"/>
            </a:srgbClr>
          </a:solidFill>
          <a:ln w="12700">
            <a:solidFill>
              <a:srgbClr val="2A8FBF"/>
            </a:solidFill>
            <a:prstDash val="solid"/>
          </a:ln>
        </p:spPr>
      </p:sp>
      <p:pic>
        <p:nvPicPr>
          <p:cNvPr id="23" name="Icon CURRENT SCOPE" descr="CURRENT SCOPE"/>
          <p:cNvPicPr>
            <a:picLocks noChangeAspect="1"/>
          </p:cNvPicPr>
          <p:nvPr/>
        </p:nvPicPr>
        <p:blipFill>
          <a:blip r:embed="rId3"/>
          <a:stretch>
            <a:fillRect/>
          </a:stretch>
        </p:blipFill>
        <p:spPr>
          <a:xfrm>
            <a:off x="777240" y="4233672"/>
            <a:ext cx="292608" cy="292608"/>
          </a:xfrm>
          <a:prstGeom prst="rect">
            <a:avLst/>
          </a:prstGeom>
        </p:spPr>
      </p:pic>
      <p:sp>
        <p:nvSpPr>
          <p:cNvPr id="24" name="Heading CURRENT SCOPE"/>
          <p:cNvSpPr txBox="1"/>
          <p:nvPr/>
        </p:nvSpPr>
        <p:spPr>
          <a:xfrm>
            <a:off x="1179576" y="4233672"/>
            <a:ext cx="288950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CURRENT SCOPE</a:t>
            </a:r>
            <a:endParaRPr lang="en-US" sz="1400" dirty="0"/>
          </a:p>
        </p:txBody>
      </p:sp>
      <p:sp>
        <p:nvSpPr>
          <p:cNvPr id="25" name="Tag IMPLEMENTED"/>
          <p:cNvSpPr txBox="1"/>
          <p:nvPr/>
        </p:nvSpPr>
        <p:spPr>
          <a:xfrm>
            <a:off x="4449928" y="4261104"/>
            <a:ext cx="1280160" cy="237744"/>
          </a:xfrm>
          <a:prstGeom prst="roundRect">
            <a:avLst>
              <a:gd name="adj" fmla="val 50000"/>
            </a:avLst>
          </a:prstGeom>
          <a:solidFill>
            <a:srgbClr val="08121F"/>
          </a:solidFill>
          <a:ln w="12700">
            <a:solidFill>
              <a:srgbClr val="6CD9FF"/>
            </a:solidFill>
          </a:ln>
        </p:spPr>
        <p:txBody>
          <a:bodyPr wrap="square" lIns="0" tIns="0" rIns="0" bIns="0" rtlCol="0" anchor="ctr"/>
          <a:lstStyle/>
          <a:p>
            <a:pPr marL="0" indent="0" algn="ctr">
              <a:buNone/>
            </a:pPr>
            <a:r>
              <a:rPr lang="en-US" sz="1000" b="1" kern="0" spc="100" dirty="0">
                <a:solidFill>
                  <a:srgbClr val="6CD9FF"/>
                </a:solidFill>
              </a:rPr>
              <a:t>IMPLEMENTED</a:t>
            </a:r>
            <a:endParaRPr lang="en-US" sz="1000" dirty="0"/>
          </a:p>
        </p:txBody>
      </p:sp>
      <p:sp>
        <p:nvSpPr>
          <p:cNvPr id="26" name="Bullets"/>
          <p:cNvSpPr txBox="1"/>
          <p:nvPr/>
        </p:nvSpPr>
        <p:spPr>
          <a:xfrm>
            <a:off x="777240" y="4709160"/>
            <a:ext cx="4952848" cy="150876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rgbClr val="E8F1FA"/>
                </a:solidFill>
              </a:rPr>
              <a:t>Offline analysis of user-activity logs (CERT dataset)</a:t>
            </a:r>
            <a:endParaRPr lang="en-US" sz="1500" dirty="0"/>
          </a:p>
          <a:p>
            <a:pPr marL="203200" indent="-203200">
              <a:spcAft>
                <a:spcPts val="500"/>
              </a:spcAft>
              <a:buSzPct val="100000"/>
              <a:buChar char="•"/>
            </a:pPr>
            <a:r>
              <a:rPr lang="en-US" sz="1500" dirty="0">
                <a:solidFill>
                  <a:srgbClr val="E8F1FA"/>
                </a:solidFill>
              </a:rPr>
              <a:t>Preprocessing, features, training and evaluation in Python</a:t>
            </a:r>
            <a:endParaRPr lang="en-US" sz="1500" dirty="0"/>
          </a:p>
          <a:p>
            <a:pPr marL="203200" indent="-203200">
              <a:spcAft>
                <a:spcPts val="500"/>
              </a:spcAft>
              <a:buSzPct val="100000"/>
              <a:buChar char="•"/>
            </a:pPr>
            <a:r>
              <a:rPr lang="en-US" sz="1500" dirty="0">
                <a:solidFill>
                  <a:srgbClr val="E8F1FA"/>
                </a:solidFill>
              </a:rPr>
              <a:t>Result visualization with Matplotlib / Seaborn</a:t>
            </a:r>
            <a:endParaRPr lang="en-US" sz="1500" dirty="0"/>
          </a:p>
          <a:p>
            <a:pPr marL="203200" indent="-203200">
              <a:spcAft>
                <a:spcPts val="500"/>
              </a:spcAft>
              <a:buSzPct val="100000"/>
              <a:buChar char="•"/>
            </a:pPr>
            <a:r>
              <a:rPr lang="en-US" sz="1500" dirty="0">
                <a:solidFill>
                  <a:srgbClr val="E8F1FA"/>
                </a:solidFill>
              </a:rPr>
              <a:t>Flags activity for human review, not a verdict on intent</a:t>
            </a:r>
            <a:endParaRPr lang="en-US" sz="1500" dirty="0"/>
          </a:p>
        </p:txBody>
      </p:sp>
      <p:sp>
        <p:nvSpPr>
          <p:cNvPr id="27" name="Card future enhancements"/>
          <p:cNvSpPr/>
          <p:nvPr/>
        </p:nvSpPr>
        <p:spPr>
          <a:xfrm>
            <a:off x="6233008" y="4069080"/>
            <a:ext cx="5410048" cy="2240280"/>
          </a:xfrm>
          <a:prstGeom prst="roundRect">
            <a:avLst>
              <a:gd name="adj" fmla="val 3265"/>
            </a:avLst>
          </a:prstGeom>
          <a:solidFill>
            <a:srgbClr val="0E172A">
              <a:alpha val="95000"/>
            </a:srgbClr>
          </a:solidFill>
          <a:ln w="12700">
            <a:solidFill>
              <a:srgbClr val="F2B24C"/>
            </a:solidFill>
            <a:prstDash val="dash"/>
          </a:ln>
        </p:spPr>
      </p:sp>
      <p:pic>
        <p:nvPicPr>
          <p:cNvPr id="28" name="Icon FUTURE ENHANCEMENTS" descr="FUTURE ENHANCEMENTS"/>
          <p:cNvPicPr>
            <a:picLocks noChangeAspect="1"/>
          </p:cNvPicPr>
          <p:nvPr/>
        </p:nvPicPr>
        <p:blipFill>
          <a:blip r:embed="rId4"/>
          <a:stretch>
            <a:fillRect/>
          </a:stretch>
        </p:blipFill>
        <p:spPr>
          <a:xfrm>
            <a:off x="6461608" y="4233672"/>
            <a:ext cx="292608" cy="292608"/>
          </a:xfrm>
          <a:prstGeom prst="rect">
            <a:avLst/>
          </a:prstGeom>
        </p:spPr>
      </p:pic>
      <p:sp>
        <p:nvSpPr>
          <p:cNvPr id="29" name="Heading FUTURE ENHANCEMENTS"/>
          <p:cNvSpPr txBox="1"/>
          <p:nvPr/>
        </p:nvSpPr>
        <p:spPr>
          <a:xfrm>
            <a:off x="6863944" y="4233672"/>
            <a:ext cx="3072384" cy="292608"/>
          </a:xfrm>
          <a:prstGeom prst="rect">
            <a:avLst/>
          </a:prstGeom>
          <a:noFill/>
          <a:ln/>
        </p:spPr>
        <p:txBody>
          <a:bodyPr wrap="square" lIns="0" tIns="0" rIns="0" bIns="0" rtlCol="0" anchor="ctr"/>
          <a:lstStyle/>
          <a:p>
            <a:pPr marL="0" indent="0">
              <a:buNone/>
            </a:pPr>
            <a:r>
              <a:rPr lang="en-US" sz="1400" b="1" kern="0" spc="150" dirty="0">
                <a:solidFill>
                  <a:srgbClr val="F2B24C"/>
                </a:solidFill>
              </a:rPr>
              <a:t>FUTURE ENHANCEMENTS</a:t>
            </a:r>
            <a:endParaRPr lang="en-US" sz="1400" dirty="0"/>
          </a:p>
        </p:txBody>
      </p:sp>
      <p:sp>
        <p:nvSpPr>
          <p:cNvPr id="30" name="Tag PROPOSED"/>
          <p:cNvSpPr txBox="1"/>
          <p:nvPr/>
        </p:nvSpPr>
        <p:spPr>
          <a:xfrm>
            <a:off x="10134295" y="4261104"/>
            <a:ext cx="1280160" cy="237744"/>
          </a:xfrm>
          <a:prstGeom prst="roundRect">
            <a:avLst>
              <a:gd name="adj" fmla="val 50000"/>
            </a:avLst>
          </a:prstGeom>
          <a:solidFill>
            <a:srgbClr val="08121F"/>
          </a:solidFill>
          <a:ln w="12700">
            <a:solidFill>
              <a:srgbClr val="F2B24C"/>
            </a:solidFill>
          </a:ln>
        </p:spPr>
        <p:txBody>
          <a:bodyPr wrap="square" lIns="0" tIns="0" rIns="0" bIns="0" rtlCol="0" anchor="ctr"/>
          <a:lstStyle/>
          <a:p>
            <a:pPr marL="0" indent="0" algn="ctr">
              <a:buNone/>
            </a:pPr>
            <a:r>
              <a:rPr lang="en-US" sz="1000" b="1" kern="0" spc="100" dirty="0">
                <a:solidFill>
                  <a:srgbClr val="F2B24C"/>
                </a:solidFill>
              </a:rPr>
              <a:t>PROPOSED</a:t>
            </a:r>
            <a:endParaRPr lang="en-US" sz="1000" dirty="0"/>
          </a:p>
        </p:txBody>
      </p:sp>
      <p:sp>
        <p:nvSpPr>
          <p:cNvPr id="31" name="Bullets"/>
          <p:cNvSpPr txBox="1"/>
          <p:nvPr/>
        </p:nvSpPr>
        <p:spPr>
          <a:xfrm>
            <a:off x="6461608" y="4709160"/>
            <a:ext cx="4952848" cy="150876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rgbClr val="E8F1FA"/>
                </a:solidFill>
              </a:rPr>
              <a:t>Real-time user monitoring</a:t>
            </a:r>
            <a:endParaRPr lang="en-US" sz="1500" dirty="0"/>
          </a:p>
          <a:p>
            <a:pPr marL="203200" indent="-203200">
              <a:spcAft>
                <a:spcPts val="500"/>
              </a:spcAft>
              <a:buSzPct val="100000"/>
              <a:buChar char="•"/>
            </a:pPr>
            <a:r>
              <a:rPr lang="en-US" sz="1500" dirty="0">
                <a:solidFill>
                  <a:srgbClr val="E8F1FA"/>
                </a:solidFill>
              </a:rPr>
              <a:t>Deep-learning-based detection</a:t>
            </a:r>
            <a:endParaRPr lang="en-US" sz="1500" dirty="0"/>
          </a:p>
          <a:p>
            <a:pPr marL="203200" indent="-203200">
              <a:spcAft>
                <a:spcPts val="500"/>
              </a:spcAft>
              <a:buSzPct val="100000"/>
              <a:buChar char="•"/>
            </a:pPr>
            <a:r>
              <a:rPr lang="en-US" sz="1500" dirty="0">
                <a:solidFill>
                  <a:srgbClr val="E8F1FA"/>
                </a:solidFill>
              </a:rPr>
              <a:t>Integration with cybersecurity systems</a:t>
            </a:r>
            <a:endParaRPr lang="en-US" sz="1500" dirty="0"/>
          </a:p>
          <a:p>
            <a:pPr marL="203200" indent="-203200">
              <a:spcAft>
                <a:spcPts val="500"/>
              </a:spcAft>
              <a:buSzPct val="100000"/>
              <a:buChar char="•"/>
            </a:pPr>
            <a:r>
              <a:rPr lang="en-US" sz="1500" dirty="0">
                <a:solidFill>
                  <a:srgbClr val="E8F1FA"/>
                </a:solidFill>
              </a:rPr>
              <a:t>Automated alerts and responses (with human review)</a:t>
            </a:r>
            <a:endParaRPr lang="en-US" sz="1500" dirty="0"/>
          </a:p>
        </p:txBody>
      </p:sp>
      <p:sp>
        <p:nvSpPr>
          <p:cNvPr id="32"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LITERATURE SURVEY &amp; EXISTING SYSTEMS</a:t>
            </a:r>
            <a:endParaRPr lang="en-US" sz="2800" dirty="0"/>
          </a:p>
        </p:txBody>
      </p:sp>
      <p:graphicFrame>
        <p:nvGraphicFramePr>
          <p:cNvPr id="6" name="Table existing approaches"/>
          <p:cNvGraphicFramePr>
            <a:graphicFrameLocks noGrp="1"/>
          </p:cNvGraphicFramePr>
          <p:nvPr>
            <p:extLst>
              <p:ext uri="{D42A27DB-BD31-4B8C-83A1-F6EECF244321}">
                <p14:modId xmlns:p14="http://schemas.microsoft.com/office/powerpoint/2010/main" val="1579011935"/>
              </p:ext>
            </p:extLst>
          </p:nvPr>
        </p:nvGraphicFramePr>
        <p:xfrm>
          <a:off x="548640" y="1143000"/>
          <a:ext cx="11094415" cy="3904488"/>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956255">
                  <a:extLst>
                    <a:ext uri="{9D8B030D-6E8A-4147-A177-3AD203B41FA5}">
                      <a16:colId xmlns:a16="http://schemas.microsoft.com/office/drawing/2014/main" val="20003"/>
                    </a:ext>
                  </a:extLst>
                </a:gridCol>
              </a:tblGrid>
              <a:tr h="384048">
                <a:tc>
                  <a:txBody>
                    <a:bodyPr/>
                    <a:lstStyle/>
                    <a:p>
                      <a:pPr marL="0" indent="0">
                        <a:buNone/>
                      </a:pPr>
                      <a:r>
                        <a:rPr lang="en-US" sz="1300" b="1" dirty="0">
                          <a:solidFill>
                            <a:srgbClr val="6CD9FF"/>
                          </a:solidFill>
                        </a:rPr>
                        <a:t>Approach</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tc>
                  <a:txBody>
                    <a:bodyPr/>
                    <a:lstStyle/>
                    <a:p>
                      <a:pPr marL="0" indent="0">
                        <a:buNone/>
                      </a:pPr>
                      <a:r>
                        <a:rPr lang="en-US" sz="1300" b="1" dirty="0">
                          <a:solidFill>
                            <a:srgbClr val="6CD9FF"/>
                          </a:solidFill>
                        </a:rPr>
                        <a:t>How it works</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tc>
                  <a:txBody>
                    <a:bodyPr/>
                    <a:lstStyle/>
                    <a:p>
                      <a:pPr marL="0" indent="0">
                        <a:buNone/>
                      </a:pPr>
                      <a:r>
                        <a:rPr lang="en-US" sz="1300" b="1" dirty="0">
                          <a:solidFill>
                            <a:srgbClr val="6CD9FF"/>
                          </a:solidFill>
                        </a:rPr>
                        <a:t>Strengths</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tc>
                  <a:txBody>
                    <a:bodyPr/>
                    <a:lstStyle/>
                    <a:p>
                      <a:pPr marL="0" indent="0">
                        <a:buNone/>
                      </a:pPr>
                      <a:r>
                        <a:rPr lang="en-US" sz="1300" b="1" dirty="0">
                          <a:solidFill>
                            <a:srgbClr val="6CD9FF"/>
                          </a:solidFill>
                        </a:rPr>
                        <a:t>Limitations</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extLst>
                  <a:ext uri="{0D108BD9-81ED-4DB2-BD59-A6C34878D82A}">
                    <a16:rowId xmlns:a16="http://schemas.microsoft.com/office/drawing/2014/main" val="10000"/>
                  </a:ext>
                </a:extLst>
              </a:tr>
              <a:tr h="868680">
                <a:tc>
                  <a:txBody>
                    <a:bodyPr/>
                    <a:lstStyle/>
                    <a:p>
                      <a:pPr marL="0" indent="0">
                        <a:buNone/>
                      </a:pPr>
                      <a:r>
                        <a:rPr lang="en-US" sz="1300" b="1" dirty="0">
                          <a:solidFill>
                            <a:srgbClr val="6CD9FF"/>
                          </a:solidFill>
                        </a:rPr>
                        <a:t>Rule-based detection</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Expert-written if-then policies, e.g. flag access outside permitted hours</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Transparent, easy to explain, low compute cost</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Needs manual upkeep; misses new or subtle patterns</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1"/>
                  </a:ext>
                </a:extLst>
              </a:tr>
              <a:tr h="868680">
                <a:tc>
                  <a:txBody>
                    <a:bodyPr/>
                    <a:lstStyle/>
                    <a:p>
                      <a:pPr marL="0" indent="0">
                        <a:buNone/>
                      </a:pPr>
                      <a:r>
                        <a:rPr lang="en-US" sz="1300" b="1" dirty="0">
                          <a:solidFill>
                            <a:srgbClr val="6CD9FF"/>
                          </a:solidFill>
                        </a:rPr>
                        <a:t>Signature / threshold-based</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Alerts when a count or known pattern crosses a preset limit</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Simple to deploy; catches known, high-volume abuse</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Hard to tune; low-and-slow activity can stay below limits</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2"/>
                  </a:ext>
                </a:extLst>
              </a:tr>
              <a:tr h="868680">
                <a:tc>
                  <a:txBody>
                    <a:bodyPr/>
                    <a:lstStyle/>
                    <a:p>
                      <a:pPr marL="0" indent="0">
                        <a:buNone/>
                      </a:pPr>
                      <a:r>
                        <a:rPr lang="en-US" sz="1300" b="1" dirty="0">
                          <a:solidFill>
                            <a:srgbClr val="6CD9FF"/>
                          </a:solidFill>
                        </a:rPr>
                        <a:t>Statistical anomaly detection</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Models normal behavior and flags large deviations [1]</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Needs no attack labels; can follow each user's baseline</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Assumes a distribution; sensitive to noise; many false alarms</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3"/>
                  </a:ext>
                </a:extLst>
              </a:tr>
              <a:tr h="914400">
                <a:tc>
                  <a:txBody>
                    <a:bodyPr/>
                    <a:lstStyle/>
                    <a:p>
                      <a:pPr marL="0" indent="0">
                        <a:buNone/>
                      </a:pPr>
                      <a:r>
                        <a:rPr lang="en-US" sz="1300" b="1" dirty="0">
                          <a:solidFill>
                            <a:srgbClr val="6CD9FF"/>
                          </a:solidFill>
                        </a:rPr>
                        <a:t>Machine learning-based</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Learns patterns from many features, using classifiers or anomaly models [1][2][4]</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Combines many features; can find non-obvious patterns</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buNone/>
                      </a:pPr>
                      <a:r>
                        <a:rPr lang="en-US" sz="1300" dirty="0">
                          <a:solidFill>
                            <a:srgbClr val="E8F1FA"/>
                          </a:solidFill>
                        </a:rPr>
                        <a:t>Needs good data; false positives/negatives; limited explainability</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4"/>
                  </a:ext>
                </a:extLst>
              </a:tr>
            </a:tbl>
          </a:graphicData>
        </a:graphic>
      </p:graphicFrame>
      <p:sp>
        <p:nvSpPr>
          <p:cNvPr id="4" name="Card research note"/>
          <p:cNvSpPr/>
          <p:nvPr/>
        </p:nvSpPr>
        <p:spPr>
          <a:xfrm>
            <a:off x="548640" y="5257800"/>
            <a:ext cx="11094415" cy="1051560"/>
          </a:xfrm>
          <a:prstGeom prst="roundRect">
            <a:avLst>
              <a:gd name="adj" fmla="val 6957"/>
            </a:avLst>
          </a:prstGeom>
          <a:solidFill>
            <a:srgbClr val="0E172A">
              <a:alpha val="95000"/>
            </a:srgbClr>
          </a:solidFill>
          <a:ln w="12700">
            <a:solidFill>
              <a:srgbClr val="6CD9FF"/>
            </a:solidFill>
            <a:prstDash val="solid"/>
          </a:ln>
        </p:spPr>
      </p:sp>
      <p:pic>
        <p:nvPicPr>
          <p:cNvPr id="5" name="Icon book" descr="Reference"/>
          <p:cNvPicPr>
            <a:picLocks noChangeAspect="1"/>
          </p:cNvPicPr>
          <p:nvPr/>
        </p:nvPicPr>
        <p:blipFill>
          <a:blip r:embed="rId3"/>
          <a:stretch>
            <a:fillRect/>
          </a:stretch>
        </p:blipFill>
        <p:spPr>
          <a:xfrm>
            <a:off x="777240" y="5596128"/>
            <a:ext cx="365760" cy="365760"/>
          </a:xfrm>
          <a:prstGeom prst="rect">
            <a:avLst/>
          </a:prstGeom>
        </p:spPr>
      </p:pic>
      <p:sp>
        <p:nvSpPr>
          <p:cNvPr id="3" name="Text 2"/>
          <p:cNvSpPr txBox="1"/>
          <p:nvPr/>
        </p:nvSpPr>
        <p:spPr>
          <a:xfrm>
            <a:off x="1325880" y="5257800"/>
            <a:ext cx="10042855" cy="1051560"/>
          </a:xfrm>
          <a:prstGeom prst="rect">
            <a:avLst/>
          </a:prstGeom>
          <a:noFill/>
          <a:ln/>
        </p:spPr>
        <p:txBody>
          <a:bodyPr wrap="square" lIns="0" tIns="0" rIns="0" bIns="0" rtlCol="0" anchor="ctr"/>
          <a:lstStyle/>
          <a:p>
            <a:pPr marL="0" indent="0">
              <a:buNone/>
            </a:pPr>
            <a:r>
              <a:rPr lang="en-US" sz="1400" b="1" dirty="0">
                <a:solidFill>
                  <a:srgbClr val="6CD9FF"/>
                </a:solidFill>
              </a:rPr>
              <a:t>Research on the CERT data: </a:t>
            </a:r>
            <a:r>
              <a:rPr lang="en-US" sz="1400" dirty="0">
                <a:solidFill>
                  <a:srgbClr val="E8F1FA"/>
                </a:solidFill>
              </a:rPr>
              <a:t>Tuor et al. [4] reported that unsupervised deep-learning models outperformed PCA, SVM and Isolation Forest baselines on recall using CERT v6.2. The dataset itself is synthetic [3][5]. Full citations are on slide 15.</a:t>
            </a:r>
            <a:endParaRPr lang="en-US" sz="14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PROPOSED SYSTEM</a:t>
            </a:r>
            <a:endParaRPr lang="en-US" sz="2800" dirty="0"/>
          </a:p>
        </p:txBody>
      </p:sp>
      <p:sp>
        <p:nvSpPr>
          <p:cNvPr id="3" name="Text 1"/>
          <p:cNvSpPr txBox="1"/>
          <p:nvPr/>
        </p:nvSpPr>
        <p:spPr>
          <a:xfrm>
            <a:off x="548640" y="960120"/>
            <a:ext cx="11094415" cy="274320"/>
          </a:xfrm>
          <a:prstGeom prst="rect">
            <a:avLst/>
          </a:prstGeom>
          <a:noFill/>
          <a:ln/>
        </p:spPr>
        <p:txBody>
          <a:bodyPr wrap="square" lIns="0" tIns="0" rIns="0" bIns="0" rtlCol="0" anchor="t"/>
          <a:lstStyle/>
          <a:p>
            <a:pPr marL="0" indent="0">
              <a:buNone/>
            </a:pPr>
            <a:r>
              <a:rPr lang="en-US" sz="1500" dirty="0">
                <a:solidFill>
                  <a:srgbClr val="A9BBCF"/>
                </a:solidFill>
              </a:rPr>
              <a:t>A machine-learning pipeline that turns raw activity logs into results an analyst can review</a:t>
            </a:r>
            <a:endParaRPr lang="en-US" sz="1500" dirty="0"/>
          </a:p>
        </p:txBody>
      </p:sp>
      <p:sp>
        <p:nvSpPr>
          <p:cNvPr id="4" name="Node User Activity Data"/>
          <p:cNvSpPr/>
          <p:nvPr/>
        </p:nvSpPr>
        <p:spPr>
          <a:xfrm>
            <a:off x="548640" y="1371600"/>
            <a:ext cx="1645920" cy="1600200"/>
          </a:xfrm>
          <a:prstGeom prst="roundRect">
            <a:avLst>
              <a:gd name="adj" fmla="val 4571"/>
            </a:avLst>
          </a:prstGeom>
          <a:solidFill>
            <a:srgbClr val="0E172A">
              <a:alpha val="95000"/>
            </a:srgbClr>
          </a:solidFill>
          <a:ln w="12700">
            <a:solidFill>
              <a:srgbClr val="2A8FBF"/>
            </a:solidFill>
            <a:prstDash val="solid"/>
          </a:ln>
        </p:spPr>
      </p:sp>
      <p:pic>
        <p:nvPicPr>
          <p:cNvPr id="5" name="Icon User Activity Data" descr="User Activity Data"/>
          <p:cNvPicPr>
            <a:picLocks noChangeAspect="1"/>
          </p:cNvPicPr>
          <p:nvPr/>
        </p:nvPicPr>
        <p:blipFill>
          <a:blip r:embed="rId3"/>
          <a:stretch>
            <a:fillRect/>
          </a:stretch>
        </p:blipFill>
        <p:spPr>
          <a:xfrm>
            <a:off x="1170432" y="1508760"/>
            <a:ext cx="402336" cy="402336"/>
          </a:xfrm>
          <a:prstGeom prst="rect">
            <a:avLst/>
          </a:prstGeom>
        </p:spPr>
      </p:pic>
      <p:sp>
        <p:nvSpPr>
          <p:cNvPr id="6" name="Text 3"/>
          <p:cNvSpPr txBox="1"/>
          <p:nvPr/>
        </p:nvSpPr>
        <p:spPr>
          <a:xfrm>
            <a:off x="621792" y="1993392"/>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User Activity Data</a:t>
            </a:r>
            <a:endParaRPr lang="en-US" sz="1300" dirty="0"/>
          </a:p>
        </p:txBody>
      </p:sp>
      <p:sp>
        <p:nvSpPr>
          <p:cNvPr id="7" name="Tag IMPLEMENTED"/>
          <p:cNvSpPr txBox="1"/>
          <p:nvPr/>
        </p:nvSpPr>
        <p:spPr>
          <a:xfrm>
            <a:off x="822960" y="2606040"/>
            <a:ext cx="1097280" cy="237744"/>
          </a:xfrm>
          <a:prstGeom prst="roundRect">
            <a:avLst>
              <a:gd name="adj" fmla="val 50000"/>
            </a:avLst>
          </a:prstGeom>
          <a:solidFill>
            <a:srgbClr val="08121F"/>
          </a:solidFill>
          <a:ln w="12700">
            <a:solidFill>
              <a:srgbClr val="6CD9FF"/>
            </a:solidFill>
          </a:ln>
        </p:spPr>
        <p:txBody>
          <a:bodyPr wrap="square" lIns="0" tIns="0" rIns="0" bIns="0" rtlCol="0" anchor="ctr"/>
          <a:lstStyle/>
          <a:p>
            <a:pPr marL="0" indent="0" algn="ctr">
              <a:buNone/>
            </a:pPr>
            <a:r>
              <a:rPr lang="en-US" sz="1000" b="1" kern="0" spc="100" dirty="0">
                <a:solidFill>
                  <a:srgbClr val="6CD9FF"/>
                </a:solidFill>
              </a:rPr>
              <a:t>IMPLEMENTED</a:t>
            </a:r>
            <a:endParaRPr lang="en-US" sz="1000" dirty="0"/>
          </a:p>
        </p:txBody>
      </p:sp>
      <p:sp>
        <p:nvSpPr>
          <p:cNvPr id="8" name="Arrow"/>
          <p:cNvSpPr/>
          <p:nvPr/>
        </p:nvSpPr>
        <p:spPr>
          <a:xfrm>
            <a:off x="2231136" y="2171700"/>
            <a:ext cx="170627" cy="0"/>
          </a:xfrm>
          <a:prstGeom prst="line">
            <a:avLst/>
          </a:prstGeom>
          <a:noFill/>
          <a:ln w="25400">
            <a:solidFill>
              <a:srgbClr val="45B5E7"/>
            </a:solidFill>
            <a:prstDash val="solid"/>
            <a:tailEnd type="triangle"/>
          </a:ln>
        </p:spPr>
      </p:sp>
      <p:sp>
        <p:nvSpPr>
          <p:cNvPr id="9" name="Node Data Preprocessing"/>
          <p:cNvSpPr/>
          <p:nvPr/>
        </p:nvSpPr>
        <p:spPr>
          <a:xfrm>
            <a:off x="2438339" y="1371600"/>
            <a:ext cx="1645920" cy="1600200"/>
          </a:xfrm>
          <a:prstGeom prst="roundRect">
            <a:avLst>
              <a:gd name="adj" fmla="val 4571"/>
            </a:avLst>
          </a:prstGeom>
          <a:solidFill>
            <a:srgbClr val="0E172A">
              <a:alpha val="95000"/>
            </a:srgbClr>
          </a:solidFill>
          <a:ln w="12700">
            <a:solidFill>
              <a:srgbClr val="2A8FBF"/>
            </a:solidFill>
            <a:prstDash val="solid"/>
          </a:ln>
        </p:spPr>
      </p:sp>
      <p:pic>
        <p:nvPicPr>
          <p:cNvPr id="10" name="Icon Data Preprocessing" descr="Data Preprocessing"/>
          <p:cNvPicPr>
            <a:picLocks noChangeAspect="1"/>
          </p:cNvPicPr>
          <p:nvPr/>
        </p:nvPicPr>
        <p:blipFill>
          <a:blip r:embed="rId4"/>
          <a:stretch>
            <a:fillRect/>
          </a:stretch>
        </p:blipFill>
        <p:spPr>
          <a:xfrm>
            <a:off x="3060131" y="1508760"/>
            <a:ext cx="402336" cy="402336"/>
          </a:xfrm>
          <a:prstGeom prst="rect">
            <a:avLst/>
          </a:prstGeom>
        </p:spPr>
      </p:pic>
      <p:sp>
        <p:nvSpPr>
          <p:cNvPr id="11" name="Text 7"/>
          <p:cNvSpPr txBox="1"/>
          <p:nvPr/>
        </p:nvSpPr>
        <p:spPr>
          <a:xfrm>
            <a:off x="2511491" y="1993392"/>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Data Preprocessing</a:t>
            </a:r>
            <a:endParaRPr lang="en-US" sz="1300" dirty="0"/>
          </a:p>
        </p:txBody>
      </p:sp>
      <p:sp>
        <p:nvSpPr>
          <p:cNvPr id="12" name="Tag IMPLEMENTED"/>
          <p:cNvSpPr txBox="1"/>
          <p:nvPr/>
        </p:nvSpPr>
        <p:spPr>
          <a:xfrm>
            <a:off x="2712659" y="2606040"/>
            <a:ext cx="1097280" cy="237744"/>
          </a:xfrm>
          <a:prstGeom prst="roundRect">
            <a:avLst>
              <a:gd name="adj" fmla="val 50000"/>
            </a:avLst>
          </a:prstGeom>
          <a:solidFill>
            <a:srgbClr val="08121F"/>
          </a:solidFill>
          <a:ln w="12700">
            <a:solidFill>
              <a:srgbClr val="6CD9FF"/>
            </a:solidFill>
          </a:ln>
        </p:spPr>
        <p:txBody>
          <a:bodyPr wrap="square" lIns="0" tIns="0" rIns="0" bIns="0" rtlCol="0" anchor="ctr"/>
          <a:lstStyle/>
          <a:p>
            <a:pPr marL="0" indent="0" algn="ctr">
              <a:buNone/>
            </a:pPr>
            <a:r>
              <a:rPr lang="en-US" sz="1000" b="1" kern="0" spc="100" dirty="0">
                <a:solidFill>
                  <a:srgbClr val="6CD9FF"/>
                </a:solidFill>
              </a:rPr>
              <a:t>IMPLEMENTED</a:t>
            </a:r>
            <a:endParaRPr lang="en-US" sz="1000" dirty="0"/>
          </a:p>
        </p:txBody>
      </p:sp>
      <p:sp>
        <p:nvSpPr>
          <p:cNvPr id="13" name="Arrow"/>
          <p:cNvSpPr/>
          <p:nvPr/>
        </p:nvSpPr>
        <p:spPr>
          <a:xfrm>
            <a:off x="4120835" y="2171700"/>
            <a:ext cx="170627" cy="0"/>
          </a:xfrm>
          <a:prstGeom prst="line">
            <a:avLst/>
          </a:prstGeom>
          <a:noFill/>
          <a:ln w="25400">
            <a:solidFill>
              <a:srgbClr val="45B5E7"/>
            </a:solidFill>
            <a:prstDash val="solid"/>
            <a:tailEnd type="triangle"/>
          </a:ln>
        </p:spPr>
      </p:sp>
      <p:sp>
        <p:nvSpPr>
          <p:cNvPr id="14" name="Node Feature Extraction"/>
          <p:cNvSpPr/>
          <p:nvPr/>
        </p:nvSpPr>
        <p:spPr>
          <a:xfrm>
            <a:off x="4328038" y="1371600"/>
            <a:ext cx="1645920" cy="1600200"/>
          </a:xfrm>
          <a:prstGeom prst="roundRect">
            <a:avLst>
              <a:gd name="adj" fmla="val 4571"/>
            </a:avLst>
          </a:prstGeom>
          <a:solidFill>
            <a:srgbClr val="0E172A">
              <a:alpha val="95000"/>
            </a:srgbClr>
          </a:solidFill>
          <a:ln w="12700">
            <a:solidFill>
              <a:srgbClr val="2A8FBF"/>
            </a:solidFill>
            <a:prstDash val="solid"/>
          </a:ln>
        </p:spPr>
      </p:sp>
      <p:pic>
        <p:nvPicPr>
          <p:cNvPr id="15" name="Icon Feature Extraction" descr="Feature Extraction"/>
          <p:cNvPicPr>
            <a:picLocks noChangeAspect="1"/>
          </p:cNvPicPr>
          <p:nvPr/>
        </p:nvPicPr>
        <p:blipFill>
          <a:blip r:embed="rId5"/>
          <a:stretch>
            <a:fillRect/>
          </a:stretch>
        </p:blipFill>
        <p:spPr>
          <a:xfrm>
            <a:off x="4949830" y="1508760"/>
            <a:ext cx="402336" cy="402336"/>
          </a:xfrm>
          <a:prstGeom prst="rect">
            <a:avLst/>
          </a:prstGeom>
        </p:spPr>
      </p:pic>
      <p:sp>
        <p:nvSpPr>
          <p:cNvPr id="16" name="Text 11"/>
          <p:cNvSpPr txBox="1"/>
          <p:nvPr/>
        </p:nvSpPr>
        <p:spPr>
          <a:xfrm>
            <a:off x="4401190" y="1993392"/>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Feature Extraction</a:t>
            </a:r>
            <a:endParaRPr lang="en-US" sz="1300" dirty="0"/>
          </a:p>
        </p:txBody>
      </p:sp>
      <p:sp>
        <p:nvSpPr>
          <p:cNvPr id="17" name="Tag IMPLEMENTED"/>
          <p:cNvSpPr txBox="1"/>
          <p:nvPr/>
        </p:nvSpPr>
        <p:spPr>
          <a:xfrm>
            <a:off x="4602358" y="2606040"/>
            <a:ext cx="1097280" cy="237744"/>
          </a:xfrm>
          <a:prstGeom prst="roundRect">
            <a:avLst>
              <a:gd name="adj" fmla="val 50000"/>
            </a:avLst>
          </a:prstGeom>
          <a:solidFill>
            <a:srgbClr val="08121F"/>
          </a:solidFill>
          <a:ln w="12700">
            <a:solidFill>
              <a:srgbClr val="6CD9FF"/>
            </a:solidFill>
          </a:ln>
        </p:spPr>
        <p:txBody>
          <a:bodyPr wrap="square" lIns="0" tIns="0" rIns="0" bIns="0" rtlCol="0" anchor="ctr"/>
          <a:lstStyle/>
          <a:p>
            <a:pPr marL="0" indent="0" algn="ctr">
              <a:buNone/>
            </a:pPr>
            <a:r>
              <a:rPr lang="en-US" sz="1000" b="1" kern="0" spc="100" dirty="0">
                <a:solidFill>
                  <a:srgbClr val="6CD9FF"/>
                </a:solidFill>
              </a:rPr>
              <a:t>IMPLEMENTED</a:t>
            </a:r>
            <a:endParaRPr lang="en-US" sz="1000" dirty="0"/>
          </a:p>
        </p:txBody>
      </p:sp>
      <p:sp>
        <p:nvSpPr>
          <p:cNvPr id="18" name="Arrow"/>
          <p:cNvSpPr/>
          <p:nvPr/>
        </p:nvSpPr>
        <p:spPr>
          <a:xfrm>
            <a:off x="6010534" y="2171700"/>
            <a:ext cx="170627" cy="0"/>
          </a:xfrm>
          <a:prstGeom prst="line">
            <a:avLst/>
          </a:prstGeom>
          <a:noFill/>
          <a:ln w="25400">
            <a:solidFill>
              <a:srgbClr val="45B5E7"/>
            </a:solidFill>
            <a:prstDash val="solid"/>
            <a:tailEnd type="triangle"/>
          </a:ln>
        </p:spPr>
      </p:sp>
      <p:sp>
        <p:nvSpPr>
          <p:cNvPr id="19" name="Node Detection Model"/>
          <p:cNvSpPr/>
          <p:nvPr/>
        </p:nvSpPr>
        <p:spPr>
          <a:xfrm>
            <a:off x="6217737" y="1371600"/>
            <a:ext cx="1645920" cy="1600200"/>
          </a:xfrm>
          <a:prstGeom prst="roundRect">
            <a:avLst>
              <a:gd name="adj" fmla="val 4571"/>
            </a:avLst>
          </a:prstGeom>
          <a:solidFill>
            <a:srgbClr val="0E172A">
              <a:alpha val="95000"/>
            </a:srgbClr>
          </a:solidFill>
          <a:ln w="12700">
            <a:solidFill>
              <a:srgbClr val="2A8FBF"/>
            </a:solidFill>
            <a:prstDash val="solid"/>
          </a:ln>
        </p:spPr>
      </p:sp>
      <p:pic>
        <p:nvPicPr>
          <p:cNvPr id="20" name="Icon Detection Model" descr="Detection Model"/>
          <p:cNvPicPr>
            <a:picLocks noChangeAspect="1"/>
          </p:cNvPicPr>
          <p:nvPr/>
        </p:nvPicPr>
        <p:blipFill>
          <a:blip r:embed="rId6"/>
          <a:stretch>
            <a:fillRect/>
          </a:stretch>
        </p:blipFill>
        <p:spPr>
          <a:xfrm>
            <a:off x="6839529" y="1508760"/>
            <a:ext cx="402336" cy="402336"/>
          </a:xfrm>
          <a:prstGeom prst="rect">
            <a:avLst/>
          </a:prstGeom>
        </p:spPr>
      </p:pic>
      <p:sp>
        <p:nvSpPr>
          <p:cNvPr id="21" name="Text 15"/>
          <p:cNvSpPr txBox="1"/>
          <p:nvPr/>
        </p:nvSpPr>
        <p:spPr>
          <a:xfrm>
            <a:off x="6290889" y="1993392"/>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Detection Model</a:t>
            </a:r>
            <a:endParaRPr lang="en-US" sz="1300" dirty="0"/>
          </a:p>
        </p:txBody>
      </p:sp>
      <p:sp>
        <p:nvSpPr>
          <p:cNvPr id="22" name="Tag IMPLEMENTED"/>
          <p:cNvSpPr txBox="1"/>
          <p:nvPr/>
        </p:nvSpPr>
        <p:spPr>
          <a:xfrm>
            <a:off x="6492057" y="2606040"/>
            <a:ext cx="1097280" cy="237744"/>
          </a:xfrm>
          <a:prstGeom prst="roundRect">
            <a:avLst>
              <a:gd name="adj" fmla="val 50000"/>
            </a:avLst>
          </a:prstGeom>
          <a:solidFill>
            <a:srgbClr val="08121F"/>
          </a:solidFill>
          <a:ln w="12700">
            <a:solidFill>
              <a:srgbClr val="6CD9FF"/>
            </a:solidFill>
          </a:ln>
        </p:spPr>
        <p:txBody>
          <a:bodyPr wrap="square" lIns="0" tIns="0" rIns="0" bIns="0" rtlCol="0" anchor="ctr"/>
          <a:lstStyle/>
          <a:p>
            <a:pPr marL="0" indent="0" algn="ctr">
              <a:buNone/>
            </a:pPr>
            <a:r>
              <a:rPr lang="en-US" sz="1000" b="1" kern="0" spc="100" dirty="0">
                <a:solidFill>
                  <a:srgbClr val="6CD9FF"/>
                </a:solidFill>
              </a:rPr>
              <a:t>IMPLEMENTED</a:t>
            </a:r>
            <a:endParaRPr lang="en-US" sz="1000" dirty="0"/>
          </a:p>
        </p:txBody>
      </p:sp>
      <p:sp>
        <p:nvSpPr>
          <p:cNvPr id="23" name="Arrow"/>
          <p:cNvSpPr/>
          <p:nvPr/>
        </p:nvSpPr>
        <p:spPr>
          <a:xfrm>
            <a:off x="7900233" y="2171700"/>
            <a:ext cx="170627" cy="0"/>
          </a:xfrm>
          <a:prstGeom prst="line">
            <a:avLst/>
          </a:prstGeom>
          <a:noFill/>
          <a:ln w="25400">
            <a:solidFill>
              <a:srgbClr val="45B5E7"/>
            </a:solidFill>
            <a:prstDash val="solid"/>
            <a:tailEnd type="triangle"/>
          </a:ln>
        </p:spPr>
      </p:sp>
      <p:sp>
        <p:nvSpPr>
          <p:cNvPr id="24" name="Node Suspicious Activity ID"/>
          <p:cNvSpPr/>
          <p:nvPr/>
        </p:nvSpPr>
        <p:spPr>
          <a:xfrm>
            <a:off x="8107436" y="1371600"/>
            <a:ext cx="1645920" cy="1600200"/>
          </a:xfrm>
          <a:prstGeom prst="roundRect">
            <a:avLst>
              <a:gd name="adj" fmla="val 4571"/>
            </a:avLst>
          </a:prstGeom>
          <a:solidFill>
            <a:srgbClr val="0E172A">
              <a:alpha val="95000"/>
            </a:srgbClr>
          </a:solidFill>
          <a:ln w="12700">
            <a:solidFill>
              <a:srgbClr val="2A8FBF"/>
            </a:solidFill>
            <a:prstDash val="solid"/>
          </a:ln>
        </p:spPr>
      </p:sp>
      <p:pic>
        <p:nvPicPr>
          <p:cNvPr id="25" name="Icon Suspicious Activity ID" descr="Suspicious Activity ID"/>
          <p:cNvPicPr>
            <a:picLocks noChangeAspect="1"/>
          </p:cNvPicPr>
          <p:nvPr/>
        </p:nvPicPr>
        <p:blipFill>
          <a:blip r:embed="rId7"/>
          <a:stretch>
            <a:fillRect/>
          </a:stretch>
        </p:blipFill>
        <p:spPr>
          <a:xfrm>
            <a:off x="8729228" y="1508760"/>
            <a:ext cx="402336" cy="402336"/>
          </a:xfrm>
          <a:prstGeom prst="rect">
            <a:avLst/>
          </a:prstGeom>
        </p:spPr>
      </p:pic>
      <p:sp>
        <p:nvSpPr>
          <p:cNvPr id="26" name="Text 19"/>
          <p:cNvSpPr txBox="1"/>
          <p:nvPr/>
        </p:nvSpPr>
        <p:spPr>
          <a:xfrm>
            <a:off x="8180588" y="1993392"/>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Suspicious Activity ID</a:t>
            </a:r>
            <a:endParaRPr lang="en-US" sz="1300" dirty="0"/>
          </a:p>
        </p:txBody>
      </p:sp>
      <p:sp>
        <p:nvSpPr>
          <p:cNvPr id="27" name="Tag IMPLEMENTED"/>
          <p:cNvSpPr txBox="1"/>
          <p:nvPr/>
        </p:nvSpPr>
        <p:spPr>
          <a:xfrm>
            <a:off x="8381756" y="2606040"/>
            <a:ext cx="1097280" cy="237744"/>
          </a:xfrm>
          <a:prstGeom prst="roundRect">
            <a:avLst>
              <a:gd name="adj" fmla="val 50000"/>
            </a:avLst>
          </a:prstGeom>
          <a:solidFill>
            <a:srgbClr val="08121F"/>
          </a:solidFill>
          <a:ln w="12700">
            <a:solidFill>
              <a:srgbClr val="6CD9FF"/>
            </a:solidFill>
          </a:ln>
        </p:spPr>
        <p:txBody>
          <a:bodyPr wrap="square" lIns="0" tIns="0" rIns="0" bIns="0" rtlCol="0" anchor="ctr"/>
          <a:lstStyle/>
          <a:p>
            <a:pPr marL="0" indent="0" algn="ctr">
              <a:buNone/>
            </a:pPr>
            <a:r>
              <a:rPr lang="en-US" sz="1000" b="1" kern="0" spc="100" dirty="0">
                <a:solidFill>
                  <a:srgbClr val="6CD9FF"/>
                </a:solidFill>
              </a:rPr>
              <a:t>IMPLEMENTED</a:t>
            </a:r>
            <a:endParaRPr lang="en-US" sz="1000" dirty="0"/>
          </a:p>
        </p:txBody>
      </p:sp>
      <p:sp>
        <p:nvSpPr>
          <p:cNvPr id="28" name="Arrow"/>
          <p:cNvSpPr/>
          <p:nvPr/>
        </p:nvSpPr>
        <p:spPr>
          <a:xfrm>
            <a:off x="9789932" y="2171700"/>
            <a:ext cx="170627" cy="0"/>
          </a:xfrm>
          <a:prstGeom prst="line">
            <a:avLst/>
          </a:prstGeom>
          <a:noFill/>
          <a:ln w="25400">
            <a:solidFill>
              <a:srgbClr val="45B5E7"/>
            </a:solidFill>
            <a:prstDash val="solid"/>
            <a:tailEnd type="triangle"/>
          </a:ln>
        </p:spPr>
      </p:sp>
      <p:sp>
        <p:nvSpPr>
          <p:cNvPr id="29" name="Node Results &amp; Visualization"/>
          <p:cNvSpPr/>
          <p:nvPr/>
        </p:nvSpPr>
        <p:spPr>
          <a:xfrm>
            <a:off x="9997135" y="1371600"/>
            <a:ext cx="1645920" cy="1600200"/>
          </a:xfrm>
          <a:prstGeom prst="roundRect">
            <a:avLst>
              <a:gd name="adj" fmla="val 4571"/>
            </a:avLst>
          </a:prstGeom>
          <a:solidFill>
            <a:srgbClr val="0E172A">
              <a:alpha val="95000"/>
            </a:srgbClr>
          </a:solidFill>
          <a:ln w="12700">
            <a:solidFill>
              <a:srgbClr val="2A8FBF"/>
            </a:solidFill>
            <a:prstDash val="solid"/>
          </a:ln>
        </p:spPr>
      </p:sp>
      <p:pic>
        <p:nvPicPr>
          <p:cNvPr id="30" name="Icon Results &amp; Visualization" descr="Results &amp; Visualization"/>
          <p:cNvPicPr>
            <a:picLocks noChangeAspect="1"/>
          </p:cNvPicPr>
          <p:nvPr/>
        </p:nvPicPr>
        <p:blipFill>
          <a:blip r:embed="rId8"/>
          <a:stretch>
            <a:fillRect/>
          </a:stretch>
        </p:blipFill>
        <p:spPr>
          <a:xfrm>
            <a:off x="10618927" y="1508760"/>
            <a:ext cx="402336" cy="402336"/>
          </a:xfrm>
          <a:prstGeom prst="rect">
            <a:avLst/>
          </a:prstGeom>
        </p:spPr>
      </p:pic>
      <p:sp>
        <p:nvSpPr>
          <p:cNvPr id="31" name="Text 23"/>
          <p:cNvSpPr txBox="1"/>
          <p:nvPr/>
        </p:nvSpPr>
        <p:spPr>
          <a:xfrm>
            <a:off x="10070287" y="1993392"/>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Results &amp; Visualization</a:t>
            </a:r>
            <a:endParaRPr lang="en-US" sz="1300" dirty="0"/>
          </a:p>
        </p:txBody>
      </p:sp>
      <p:sp>
        <p:nvSpPr>
          <p:cNvPr id="32" name="Tag IMPLEMENTED"/>
          <p:cNvSpPr txBox="1"/>
          <p:nvPr/>
        </p:nvSpPr>
        <p:spPr>
          <a:xfrm>
            <a:off x="10271455" y="2606040"/>
            <a:ext cx="1097280" cy="237744"/>
          </a:xfrm>
          <a:prstGeom prst="roundRect">
            <a:avLst>
              <a:gd name="adj" fmla="val 50000"/>
            </a:avLst>
          </a:prstGeom>
          <a:solidFill>
            <a:srgbClr val="08121F"/>
          </a:solidFill>
          <a:ln w="12700">
            <a:solidFill>
              <a:srgbClr val="6CD9FF"/>
            </a:solidFill>
          </a:ln>
        </p:spPr>
        <p:txBody>
          <a:bodyPr wrap="square" lIns="0" tIns="0" rIns="0" bIns="0" rtlCol="0" anchor="ctr"/>
          <a:lstStyle/>
          <a:p>
            <a:pPr marL="0" indent="0" algn="ctr">
              <a:buNone/>
            </a:pPr>
            <a:r>
              <a:rPr lang="en-US" sz="1000" b="1" kern="0" spc="100" dirty="0">
                <a:solidFill>
                  <a:srgbClr val="6CD9FF"/>
                </a:solidFill>
              </a:rPr>
              <a:t>IMPLEMENTED</a:t>
            </a:r>
            <a:endParaRPr lang="en-US" sz="1000" dirty="0"/>
          </a:p>
        </p:txBody>
      </p:sp>
      <p:sp>
        <p:nvSpPr>
          <p:cNvPr id="33" name="Card the system"/>
          <p:cNvSpPr/>
          <p:nvPr/>
        </p:nvSpPr>
        <p:spPr>
          <a:xfrm>
            <a:off x="548640" y="3246120"/>
            <a:ext cx="11094415" cy="1783080"/>
          </a:xfrm>
          <a:prstGeom prst="roundRect">
            <a:avLst>
              <a:gd name="adj" fmla="val 4103"/>
            </a:avLst>
          </a:prstGeom>
          <a:solidFill>
            <a:srgbClr val="0E172A">
              <a:alpha val="95000"/>
            </a:srgbClr>
          </a:solidFill>
          <a:ln w="12700">
            <a:solidFill>
              <a:srgbClr val="2A8FBF"/>
            </a:solidFill>
            <a:prstDash val="solid"/>
          </a:ln>
        </p:spPr>
      </p:sp>
      <p:pic>
        <p:nvPicPr>
          <p:cNvPr id="34" name="Icon THE SYSTEM" descr="THE SYSTEM"/>
          <p:cNvPicPr>
            <a:picLocks noChangeAspect="1"/>
          </p:cNvPicPr>
          <p:nvPr/>
        </p:nvPicPr>
        <p:blipFill>
          <a:blip r:embed="rId9"/>
          <a:stretch>
            <a:fillRect/>
          </a:stretch>
        </p:blipFill>
        <p:spPr>
          <a:xfrm>
            <a:off x="777240" y="3383280"/>
            <a:ext cx="292608" cy="292608"/>
          </a:xfrm>
          <a:prstGeom prst="rect">
            <a:avLst/>
          </a:prstGeom>
        </p:spPr>
      </p:pic>
      <p:sp>
        <p:nvSpPr>
          <p:cNvPr id="35" name="Heading THE SYSTEM"/>
          <p:cNvSpPr txBox="1"/>
          <p:nvPr/>
        </p:nvSpPr>
        <p:spPr>
          <a:xfrm>
            <a:off x="1179576" y="3383280"/>
            <a:ext cx="325526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THE SYSTEM</a:t>
            </a:r>
            <a:endParaRPr lang="en-US" sz="1400" dirty="0"/>
          </a:p>
        </p:txBody>
      </p:sp>
      <p:pic>
        <p:nvPicPr>
          <p:cNvPr id="36" name="Icon Collects user activity data" descr="Collects user activity data"/>
          <p:cNvPicPr>
            <a:picLocks noChangeAspect="1"/>
          </p:cNvPicPr>
          <p:nvPr/>
        </p:nvPicPr>
        <p:blipFill>
          <a:blip r:embed="rId10"/>
          <a:stretch>
            <a:fillRect/>
          </a:stretch>
        </p:blipFill>
        <p:spPr>
          <a:xfrm>
            <a:off x="777240" y="3931920"/>
            <a:ext cx="310896" cy="310896"/>
          </a:xfrm>
          <a:prstGeom prst="rect">
            <a:avLst/>
          </a:prstGeom>
        </p:spPr>
      </p:pic>
      <p:sp>
        <p:nvSpPr>
          <p:cNvPr id="37" name="Text 27"/>
          <p:cNvSpPr txBox="1"/>
          <p:nvPr/>
        </p:nvSpPr>
        <p:spPr>
          <a:xfrm>
            <a:off x="1216152" y="3931920"/>
            <a:ext cx="3058058" cy="310896"/>
          </a:xfrm>
          <a:prstGeom prst="rect">
            <a:avLst/>
          </a:prstGeom>
          <a:noFill/>
          <a:ln/>
        </p:spPr>
        <p:txBody>
          <a:bodyPr wrap="square" lIns="0" tIns="0" rIns="0" bIns="0" rtlCol="0" anchor="ctr"/>
          <a:lstStyle/>
          <a:p>
            <a:pPr marL="0" indent="0">
              <a:buNone/>
            </a:pPr>
            <a:r>
              <a:rPr lang="en-US" sz="1400" dirty="0">
                <a:solidFill>
                  <a:srgbClr val="E8F1FA"/>
                </a:solidFill>
              </a:rPr>
              <a:t>Collects user activity data</a:t>
            </a:r>
            <a:endParaRPr lang="en-US" sz="1400" dirty="0"/>
          </a:p>
        </p:txBody>
      </p:sp>
      <p:pic>
        <p:nvPicPr>
          <p:cNvPr id="38" name="Icon Cleans and preprocesses the dataset" descr="Cleans and preprocesses the dataset"/>
          <p:cNvPicPr>
            <a:picLocks noChangeAspect="1"/>
          </p:cNvPicPr>
          <p:nvPr/>
        </p:nvPicPr>
        <p:blipFill>
          <a:blip r:embed="rId4"/>
          <a:stretch>
            <a:fillRect/>
          </a:stretch>
        </p:blipFill>
        <p:spPr>
          <a:xfrm>
            <a:off x="4383938" y="3931920"/>
            <a:ext cx="310896" cy="310896"/>
          </a:xfrm>
          <a:prstGeom prst="rect">
            <a:avLst/>
          </a:prstGeom>
        </p:spPr>
      </p:pic>
      <p:sp>
        <p:nvSpPr>
          <p:cNvPr id="39" name="Text 28"/>
          <p:cNvSpPr txBox="1"/>
          <p:nvPr/>
        </p:nvSpPr>
        <p:spPr>
          <a:xfrm>
            <a:off x="4822850" y="3931920"/>
            <a:ext cx="3058058" cy="310896"/>
          </a:xfrm>
          <a:prstGeom prst="rect">
            <a:avLst/>
          </a:prstGeom>
          <a:noFill/>
          <a:ln/>
        </p:spPr>
        <p:txBody>
          <a:bodyPr wrap="square" lIns="0" tIns="0" rIns="0" bIns="0" rtlCol="0" anchor="ctr"/>
          <a:lstStyle/>
          <a:p>
            <a:pPr marL="0" indent="0">
              <a:buNone/>
            </a:pPr>
            <a:r>
              <a:rPr lang="en-US" sz="1400" dirty="0">
                <a:solidFill>
                  <a:srgbClr val="E8F1FA"/>
                </a:solidFill>
              </a:rPr>
              <a:t>Cleans and preprocesses the dataset</a:t>
            </a:r>
            <a:endParaRPr lang="en-US" sz="1400" dirty="0"/>
          </a:p>
        </p:txBody>
      </p:sp>
      <p:pic>
        <p:nvPicPr>
          <p:cNvPr id="40" name="Icon Extracts behavioral features" descr="Extracts behavioral features"/>
          <p:cNvPicPr>
            <a:picLocks noChangeAspect="1"/>
          </p:cNvPicPr>
          <p:nvPr/>
        </p:nvPicPr>
        <p:blipFill>
          <a:blip r:embed="rId5"/>
          <a:stretch>
            <a:fillRect/>
          </a:stretch>
        </p:blipFill>
        <p:spPr>
          <a:xfrm>
            <a:off x="7990637" y="3931920"/>
            <a:ext cx="310896" cy="310896"/>
          </a:xfrm>
          <a:prstGeom prst="rect">
            <a:avLst/>
          </a:prstGeom>
        </p:spPr>
      </p:pic>
      <p:sp>
        <p:nvSpPr>
          <p:cNvPr id="41" name="Text 29"/>
          <p:cNvSpPr txBox="1"/>
          <p:nvPr/>
        </p:nvSpPr>
        <p:spPr>
          <a:xfrm>
            <a:off x="8429549" y="3931920"/>
            <a:ext cx="3058058" cy="310896"/>
          </a:xfrm>
          <a:prstGeom prst="rect">
            <a:avLst/>
          </a:prstGeom>
          <a:noFill/>
          <a:ln/>
        </p:spPr>
        <p:txBody>
          <a:bodyPr wrap="square" lIns="0" tIns="0" rIns="0" bIns="0" rtlCol="0" anchor="ctr"/>
          <a:lstStyle/>
          <a:p>
            <a:pPr marL="0" indent="0">
              <a:buNone/>
            </a:pPr>
            <a:r>
              <a:rPr lang="en-US" sz="1400" dirty="0">
                <a:solidFill>
                  <a:srgbClr val="E8F1FA"/>
                </a:solidFill>
              </a:rPr>
              <a:t>Extracts behavioral features</a:t>
            </a:r>
            <a:endParaRPr lang="en-US" sz="1400" dirty="0"/>
          </a:p>
        </p:txBody>
      </p:sp>
      <p:pic>
        <p:nvPicPr>
          <p:cNvPr id="42" name="Icon Trains a machine-learning model" descr="Trains a machine-learning model"/>
          <p:cNvPicPr>
            <a:picLocks noChangeAspect="1"/>
          </p:cNvPicPr>
          <p:nvPr/>
        </p:nvPicPr>
        <p:blipFill>
          <a:blip r:embed="rId6"/>
          <a:stretch>
            <a:fillRect/>
          </a:stretch>
        </p:blipFill>
        <p:spPr>
          <a:xfrm>
            <a:off x="777240" y="4434840"/>
            <a:ext cx="310896" cy="310896"/>
          </a:xfrm>
          <a:prstGeom prst="rect">
            <a:avLst/>
          </a:prstGeom>
        </p:spPr>
      </p:pic>
      <p:sp>
        <p:nvSpPr>
          <p:cNvPr id="43" name="Text 30"/>
          <p:cNvSpPr txBox="1"/>
          <p:nvPr/>
        </p:nvSpPr>
        <p:spPr>
          <a:xfrm>
            <a:off x="1216152" y="4434840"/>
            <a:ext cx="3058058" cy="310896"/>
          </a:xfrm>
          <a:prstGeom prst="rect">
            <a:avLst/>
          </a:prstGeom>
          <a:noFill/>
          <a:ln/>
        </p:spPr>
        <p:txBody>
          <a:bodyPr wrap="square" lIns="0" tIns="0" rIns="0" bIns="0" rtlCol="0" anchor="ctr"/>
          <a:lstStyle/>
          <a:p>
            <a:pPr marL="0" indent="0">
              <a:buNone/>
            </a:pPr>
            <a:r>
              <a:rPr lang="en-US" sz="1400" dirty="0">
                <a:solidFill>
                  <a:srgbClr val="E8F1FA"/>
                </a:solidFill>
              </a:rPr>
              <a:t>Trains a machine-learning model</a:t>
            </a:r>
            <a:endParaRPr lang="en-US" sz="1400" dirty="0"/>
          </a:p>
        </p:txBody>
      </p:sp>
      <p:pic>
        <p:nvPicPr>
          <p:cNvPr id="44" name="Icon Flags suspicious or anomalous behavior" descr="Flags suspicious or anomalous behavior"/>
          <p:cNvPicPr>
            <a:picLocks noChangeAspect="1"/>
          </p:cNvPicPr>
          <p:nvPr/>
        </p:nvPicPr>
        <p:blipFill>
          <a:blip r:embed="rId11"/>
          <a:stretch>
            <a:fillRect/>
          </a:stretch>
        </p:blipFill>
        <p:spPr>
          <a:xfrm>
            <a:off x="4383938" y="4434840"/>
            <a:ext cx="310896" cy="310896"/>
          </a:xfrm>
          <a:prstGeom prst="rect">
            <a:avLst/>
          </a:prstGeom>
        </p:spPr>
      </p:pic>
      <p:sp>
        <p:nvSpPr>
          <p:cNvPr id="45" name="Text 31"/>
          <p:cNvSpPr txBox="1"/>
          <p:nvPr/>
        </p:nvSpPr>
        <p:spPr>
          <a:xfrm>
            <a:off x="4822850" y="4434840"/>
            <a:ext cx="3058058" cy="310896"/>
          </a:xfrm>
          <a:prstGeom prst="rect">
            <a:avLst/>
          </a:prstGeom>
          <a:noFill/>
          <a:ln/>
        </p:spPr>
        <p:txBody>
          <a:bodyPr wrap="square" lIns="0" tIns="0" rIns="0" bIns="0" rtlCol="0" anchor="ctr"/>
          <a:lstStyle/>
          <a:p>
            <a:pPr marL="0" indent="0">
              <a:buNone/>
            </a:pPr>
            <a:r>
              <a:rPr lang="en-US" sz="1400" dirty="0">
                <a:solidFill>
                  <a:srgbClr val="E8F1FA"/>
                </a:solidFill>
              </a:rPr>
              <a:t>Flags suspicious or anomalous behavior</a:t>
            </a:r>
            <a:endParaRPr lang="en-US" sz="1400" dirty="0"/>
          </a:p>
        </p:txBody>
      </p:sp>
      <p:pic>
        <p:nvPicPr>
          <p:cNvPr id="46" name="Icon Presents results for analyst review" descr="Presents results for analyst review"/>
          <p:cNvPicPr>
            <a:picLocks noChangeAspect="1"/>
          </p:cNvPicPr>
          <p:nvPr/>
        </p:nvPicPr>
        <p:blipFill>
          <a:blip r:embed="rId12"/>
          <a:stretch>
            <a:fillRect/>
          </a:stretch>
        </p:blipFill>
        <p:spPr>
          <a:xfrm>
            <a:off x="7990637" y="4434840"/>
            <a:ext cx="310896" cy="310896"/>
          </a:xfrm>
          <a:prstGeom prst="rect">
            <a:avLst/>
          </a:prstGeom>
        </p:spPr>
      </p:pic>
      <p:sp>
        <p:nvSpPr>
          <p:cNvPr id="47" name="Text 32"/>
          <p:cNvSpPr txBox="1"/>
          <p:nvPr/>
        </p:nvSpPr>
        <p:spPr>
          <a:xfrm>
            <a:off x="8429549" y="4434840"/>
            <a:ext cx="3058058" cy="310896"/>
          </a:xfrm>
          <a:prstGeom prst="rect">
            <a:avLst/>
          </a:prstGeom>
          <a:noFill/>
          <a:ln/>
        </p:spPr>
        <p:txBody>
          <a:bodyPr wrap="square" lIns="0" tIns="0" rIns="0" bIns="0" rtlCol="0" anchor="ctr"/>
          <a:lstStyle/>
          <a:p>
            <a:pPr marL="0" indent="0">
              <a:buNone/>
            </a:pPr>
            <a:r>
              <a:rPr lang="en-US" sz="1400" dirty="0">
                <a:solidFill>
                  <a:srgbClr val="E8F1FA"/>
                </a:solidFill>
              </a:rPr>
              <a:t>Presents results for analyst review</a:t>
            </a:r>
            <a:endParaRPr lang="en-US" sz="1400" dirty="0"/>
          </a:p>
        </p:txBody>
      </p:sp>
      <p:sp>
        <p:nvSpPr>
          <p:cNvPr id="48" name="Card how it addresses"/>
          <p:cNvSpPr/>
          <p:nvPr/>
        </p:nvSpPr>
        <p:spPr>
          <a:xfrm>
            <a:off x="548640" y="5257800"/>
            <a:ext cx="11094415" cy="1051560"/>
          </a:xfrm>
          <a:prstGeom prst="roundRect">
            <a:avLst>
              <a:gd name="adj" fmla="val 6957"/>
            </a:avLst>
          </a:prstGeom>
          <a:solidFill>
            <a:srgbClr val="0E172A">
              <a:alpha val="95000"/>
            </a:srgbClr>
          </a:solidFill>
          <a:ln w="12700">
            <a:solidFill>
              <a:srgbClr val="6CD9FF"/>
            </a:solidFill>
            <a:prstDash val="solid"/>
          </a:ln>
        </p:spPr>
      </p:sp>
      <p:sp>
        <p:nvSpPr>
          <p:cNvPr id="49" name="Text 34"/>
          <p:cNvSpPr txBox="1"/>
          <p:nvPr/>
        </p:nvSpPr>
        <p:spPr>
          <a:xfrm>
            <a:off x="822960" y="5257800"/>
            <a:ext cx="10545775" cy="1051560"/>
          </a:xfrm>
          <a:prstGeom prst="rect">
            <a:avLst/>
          </a:prstGeom>
          <a:noFill/>
          <a:ln/>
        </p:spPr>
        <p:txBody>
          <a:bodyPr wrap="square" lIns="0" tIns="0" rIns="0" bIns="0" rtlCol="0" anchor="ctr"/>
          <a:lstStyle/>
          <a:p>
            <a:pPr marL="0" indent="0">
              <a:buNone/>
            </a:pPr>
            <a:r>
              <a:rPr lang="en-US" sz="1500" b="1" dirty="0">
                <a:solidFill>
                  <a:srgbClr val="6CD9FF"/>
                </a:solidFill>
              </a:rPr>
              <a:t>How it addresses the problem: </a:t>
            </a:r>
            <a:r>
              <a:rPr lang="en-US" sz="1500" dirty="0">
                <a:solidFill>
                  <a:srgbClr val="E8F1FA"/>
                </a:solidFill>
              </a:rPr>
              <a:t>the model learns what activity looks like in the data and surfaces deviations, helping analysts decide where to look first. It supports human review and does not judge intent.</a:t>
            </a:r>
            <a:endParaRPr lang="en-US" sz="1500" dirty="0"/>
          </a:p>
        </p:txBody>
      </p:sp>
      <p:sp>
        <p:nvSpPr>
          <p:cNvPr id="50" name="Tag PROPOSED"/>
          <p:cNvSpPr txBox="1"/>
          <p:nvPr/>
        </p:nvSpPr>
        <p:spPr>
          <a:xfrm>
            <a:off x="10134295" y="3410712"/>
            <a:ext cx="1280160" cy="237744"/>
          </a:xfrm>
          <a:prstGeom prst="roundRect">
            <a:avLst>
              <a:gd name="adj" fmla="val 50000"/>
            </a:avLst>
          </a:prstGeom>
          <a:solidFill>
            <a:srgbClr val="08121F"/>
          </a:solidFill>
          <a:ln w="12700">
            <a:solidFill>
              <a:srgbClr val="F2B24C"/>
            </a:solidFill>
          </a:ln>
        </p:spPr>
        <p:txBody>
          <a:bodyPr wrap="square" lIns="0" tIns="0" rIns="0" bIns="0" rtlCol="0" anchor="ctr"/>
          <a:lstStyle/>
          <a:p>
            <a:pPr marL="0" indent="0" algn="ctr">
              <a:buNone/>
            </a:pPr>
            <a:r>
              <a:rPr lang="en-US" sz="1000" b="1" kern="0" spc="100" dirty="0">
                <a:solidFill>
                  <a:srgbClr val="F2B24C"/>
                </a:solidFill>
              </a:rPr>
              <a:t>PROPOSED</a:t>
            </a:r>
            <a:endParaRPr lang="en-US" sz="1000" dirty="0"/>
          </a:p>
        </p:txBody>
      </p:sp>
      <p:sp>
        <p:nvSpPr>
          <p:cNvPr id="51" name="Text 36"/>
          <p:cNvSpPr txBox="1"/>
          <p:nvPr/>
        </p:nvSpPr>
        <p:spPr>
          <a:xfrm>
            <a:off x="7711135" y="3410712"/>
            <a:ext cx="2331720" cy="237744"/>
          </a:xfrm>
          <a:prstGeom prst="rect">
            <a:avLst/>
          </a:prstGeom>
          <a:noFill/>
          <a:ln/>
        </p:spPr>
        <p:txBody>
          <a:bodyPr wrap="square" lIns="0" tIns="0" rIns="0" bIns="0" rtlCol="0" anchor="ctr"/>
          <a:lstStyle/>
          <a:p>
            <a:pPr marL="0" indent="0" algn="r">
              <a:buNone/>
            </a:pPr>
            <a:r>
              <a:rPr lang="en-US" sz="1100" dirty="0">
                <a:solidFill>
                  <a:srgbClr val="F2B24C"/>
                </a:solidFill>
              </a:rPr>
              <a:t>Dashboard / live alerts: future work</a:t>
            </a:r>
            <a:endParaRPr lang="en-US" sz="1100" dirty="0"/>
          </a:p>
        </p:txBody>
      </p:sp>
      <p:sp>
        <p:nvSpPr>
          <p:cNvPr id="52"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SYSTEM ARCHITECTURE</a:t>
            </a:r>
            <a:endParaRPr lang="en-US" sz="2800" dirty="0"/>
          </a:p>
        </p:txBody>
      </p:sp>
      <p:sp>
        <p:nvSpPr>
          <p:cNvPr id="3" name="Node Activity Data"/>
          <p:cNvSpPr/>
          <p:nvPr/>
        </p:nvSpPr>
        <p:spPr>
          <a:xfrm>
            <a:off x="548640" y="1188720"/>
            <a:ext cx="1645920" cy="1920240"/>
          </a:xfrm>
          <a:prstGeom prst="roundRect">
            <a:avLst>
              <a:gd name="adj" fmla="val 4444"/>
            </a:avLst>
          </a:prstGeom>
          <a:solidFill>
            <a:srgbClr val="0E172A">
              <a:alpha val="95000"/>
            </a:srgbClr>
          </a:solidFill>
          <a:ln w="12700">
            <a:solidFill>
              <a:srgbClr val="2A8FBF"/>
            </a:solidFill>
            <a:prstDash val="solid"/>
          </a:ln>
        </p:spPr>
      </p:sp>
      <p:pic>
        <p:nvPicPr>
          <p:cNvPr id="4" name="Icon Activity Data" descr="Activity Data"/>
          <p:cNvPicPr>
            <a:picLocks noChangeAspect="1"/>
          </p:cNvPicPr>
          <p:nvPr/>
        </p:nvPicPr>
        <p:blipFill>
          <a:blip r:embed="rId3"/>
          <a:stretch>
            <a:fillRect/>
          </a:stretch>
        </p:blipFill>
        <p:spPr>
          <a:xfrm>
            <a:off x="1170432" y="1335024"/>
            <a:ext cx="402336" cy="402336"/>
          </a:xfrm>
          <a:prstGeom prst="rect">
            <a:avLst/>
          </a:prstGeom>
        </p:spPr>
      </p:pic>
      <p:sp>
        <p:nvSpPr>
          <p:cNvPr id="5" name="Text 2"/>
          <p:cNvSpPr txBox="1"/>
          <p:nvPr/>
        </p:nvSpPr>
        <p:spPr>
          <a:xfrm>
            <a:off x="621792" y="1828800"/>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Activity Data</a:t>
            </a:r>
            <a:endParaRPr lang="en-US" sz="1300" dirty="0"/>
          </a:p>
        </p:txBody>
      </p:sp>
      <p:sp>
        <p:nvSpPr>
          <p:cNvPr id="6" name="Text 3"/>
          <p:cNvSpPr txBox="1"/>
          <p:nvPr/>
        </p:nvSpPr>
        <p:spPr>
          <a:xfrm>
            <a:off x="640080" y="2286000"/>
            <a:ext cx="1463040" cy="777240"/>
          </a:xfrm>
          <a:prstGeom prst="rect">
            <a:avLst/>
          </a:prstGeom>
          <a:noFill/>
          <a:ln/>
        </p:spPr>
        <p:txBody>
          <a:bodyPr wrap="square" lIns="0" tIns="0" rIns="0" bIns="0" rtlCol="0" anchor="t"/>
          <a:lstStyle/>
          <a:p>
            <a:pPr marL="0" indent="0" algn="ctr">
              <a:buNone/>
            </a:pPr>
            <a:r>
              <a:rPr lang="en-US" sz="1200" dirty="0">
                <a:solidFill>
                  <a:srgbClr val="A9BBCF"/>
                </a:solidFill>
              </a:rPr>
              <a:t>CERT logs: logon, file, email, web, device</a:t>
            </a:r>
            <a:endParaRPr lang="en-US" sz="1200" dirty="0"/>
          </a:p>
        </p:txBody>
      </p:sp>
      <p:sp>
        <p:nvSpPr>
          <p:cNvPr id="7" name="Arrow"/>
          <p:cNvSpPr/>
          <p:nvPr/>
        </p:nvSpPr>
        <p:spPr>
          <a:xfrm>
            <a:off x="2231136" y="2148840"/>
            <a:ext cx="170627" cy="0"/>
          </a:xfrm>
          <a:prstGeom prst="line">
            <a:avLst/>
          </a:prstGeom>
          <a:noFill/>
          <a:ln w="25400">
            <a:solidFill>
              <a:srgbClr val="45B5E7"/>
            </a:solidFill>
            <a:prstDash val="solid"/>
            <a:tailEnd type="triangle"/>
          </a:ln>
        </p:spPr>
      </p:sp>
      <p:sp>
        <p:nvSpPr>
          <p:cNvPr id="8" name="Node Preprocessing"/>
          <p:cNvSpPr/>
          <p:nvPr/>
        </p:nvSpPr>
        <p:spPr>
          <a:xfrm>
            <a:off x="2438339" y="1188720"/>
            <a:ext cx="1645920" cy="1920240"/>
          </a:xfrm>
          <a:prstGeom prst="roundRect">
            <a:avLst>
              <a:gd name="adj" fmla="val 4444"/>
            </a:avLst>
          </a:prstGeom>
          <a:solidFill>
            <a:srgbClr val="0E172A">
              <a:alpha val="95000"/>
            </a:srgbClr>
          </a:solidFill>
          <a:ln w="12700">
            <a:solidFill>
              <a:srgbClr val="2A8FBF"/>
            </a:solidFill>
            <a:prstDash val="solid"/>
          </a:ln>
        </p:spPr>
      </p:sp>
      <p:pic>
        <p:nvPicPr>
          <p:cNvPr id="9" name="Icon Preprocessing" descr="Preprocessing"/>
          <p:cNvPicPr>
            <a:picLocks noChangeAspect="1"/>
          </p:cNvPicPr>
          <p:nvPr/>
        </p:nvPicPr>
        <p:blipFill>
          <a:blip r:embed="rId4"/>
          <a:stretch>
            <a:fillRect/>
          </a:stretch>
        </p:blipFill>
        <p:spPr>
          <a:xfrm>
            <a:off x="3060131" y="1335024"/>
            <a:ext cx="402336" cy="402336"/>
          </a:xfrm>
          <a:prstGeom prst="rect">
            <a:avLst/>
          </a:prstGeom>
        </p:spPr>
      </p:pic>
      <p:sp>
        <p:nvSpPr>
          <p:cNvPr id="10" name="Text 6"/>
          <p:cNvSpPr txBox="1"/>
          <p:nvPr/>
        </p:nvSpPr>
        <p:spPr>
          <a:xfrm>
            <a:off x="2511491" y="1828800"/>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Preprocessing</a:t>
            </a:r>
            <a:endParaRPr lang="en-US" sz="1300" dirty="0"/>
          </a:p>
        </p:txBody>
      </p:sp>
      <p:sp>
        <p:nvSpPr>
          <p:cNvPr id="11" name="Text 7"/>
          <p:cNvSpPr txBox="1"/>
          <p:nvPr/>
        </p:nvSpPr>
        <p:spPr>
          <a:xfrm>
            <a:off x="2529779" y="2286000"/>
            <a:ext cx="1463040" cy="777240"/>
          </a:xfrm>
          <a:prstGeom prst="rect">
            <a:avLst/>
          </a:prstGeom>
          <a:noFill/>
          <a:ln/>
        </p:spPr>
        <p:txBody>
          <a:bodyPr wrap="square" lIns="0" tIns="0" rIns="0" bIns="0" rtlCol="0" anchor="t"/>
          <a:lstStyle/>
          <a:p>
            <a:pPr marL="0" indent="0" algn="ctr">
              <a:buNone/>
            </a:pPr>
            <a:r>
              <a:rPr lang="en-US" sz="1200" dirty="0">
                <a:solidFill>
                  <a:srgbClr val="A9BBCF"/>
                </a:solidFill>
              </a:rPr>
              <a:t>Clean and format the logs</a:t>
            </a:r>
            <a:endParaRPr lang="en-US" sz="1200" dirty="0"/>
          </a:p>
        </p:txBody>
      </p:sp>
      <p:sp>
        <p:nvSpPr>
          <p:cNvPr id="12" name="Arrow"/>
          <p:cNvSpPr/>
          <p:nvPr/>
        </p:nvSpPr>
        <p:spPr>
          <a:xfrm>
            <a:off x="4120835" y="2148840"/>
            <a:ext cx="170627" cy="0"/>
          </a:xfrm>
          <a:prstGeom prst="line">
            <a:avLst/>
          </a:prstGeom>
          <a:noFill/>
          <a:ln w="25400">
            <a:solidFill>
              <a:srgbClr val="45B5E7"/>
            </a:solidFill>
            <a:prstDash val="solid"/>
            <a:tailEnd type="triangle"/>
          </a:ln>
        </p:spPr>
      </p:sp>
      <p:sp>
        <p:nvSpPr>
          <p:cNvPr id="13" name="Node Feature Extraction"/>
          <p:cNvSpPr/>
          <p:nvPr/>
        </p:nvSpPr>
        <p:spPr>
          <a:xfrm>
            <a:off x="4328038" y="1188720"/>
            <a:ext cx="1645920" cy="1920240"/>
          </a:xfrm>
          <a:prstGeom prst="roundRect">
            <a:avLst>
              <a:gd name="adj" fmla="val 4444"/>
            </a:avLst>
          </a:prstGeom>
          <a:solidFill>
            <a:srgbClr val="0E172A">
              <a:alpha val="95000"/>
            </a:srgbClr>
          </a:solidFill>
          <a:ln w="12700">
            <a:solidFill>
              <a:srgbClr val="2A8FBF"/>
            </a:solidFill>
            <a:prstDash val="solid"/>
          </a:ln>
        </p:spPr>
      </p:sp>
      <p:pic>
        <p:nvPicPr>
          <p:cNvPr id="14" name="Icon Feature Extraction" descr="Feature Extraction"/>
          <p:cNvPicPr>
            <a:picLocks noChangeAspect="1"/>
          </p:cNvPicPr>
          <p:nvPr/>
        </p:nvPicPr>
        <p:blipFill>
          <a:blip r:embed="rId5"/>
          <a:stretch>
            <a:fillRect/>
          </a:stretch>
        </p:blipFill>
        <p:spPr>
          <a:xfrm>
            <a:off x="4949830" y="1335024"/>
            <a:ext cx="402336" cy="402336"/>
          </a:xfrm>
          <a:prstGeom prst="rect">
            <a:avLst/>
          </a:prstGeom>
        </p:spPr>
      </p:pic>
      <p:sp>
        <p:nvSpPr>
          <p:cNvPr id="15" name="Text 10"/>
          <p:cNvSpPr txBox="1"/>
          <p:nvPr/>
        </p:nvSpPr>
        <p:spPr>
          <a:xfrm>
            <a:off x="4401190" y="1828800"/>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Feature Extraction</a:t>
            </a:r>
            <a:endParaRPr lang="en-US" sz="1300" dirty="0"/>
          </a:p>
        </p:txBody>
      </p:sp>
      <p:sp>
        <p:nvSpPr>
          <p:cNvPr id="16" name="Text 11"/>
          <p:cNvSpPr txBox="1"/>
          <p:nvPr/>
        </p:nvSpPr>
        <p:spPr>
          <a:xfrm>
            <a:off x="4419478" y="2286000"/>
            <a:ext cx="1463040" cy="777240"/>
          </a:xfrm>
          <a:prstGeom prst="rect">
            <a:avLst/>
          </a:prstGeom>
          <a:noFill/>
          <a:ln/>
        </p:spPr>
        <p:txBody>
          <a:bodyPr wrap="square" lIns="0" tIns="0" rIns="0" bIns="0" rtlCol="0" anchor="t"/>
          <a:lstStyle/>
          <a:p>
            <a:pPr marL="0" indent="0" algn="ctr">
              <a:buNone/>
            </a:pPr>
            <a:r>
              <a:rPr lang="en-US" sz="1200" dirty="0">
                <a:solidFill>
                  <a:srgbClr val="A9BBCF"/>
                </a:solidFill>
              </a:rPr>
              <a:t>Behavioral features per user</a:t>
            </a:r>
            <a:endParaRPr lang="en-US" sz="1200" dirty="0"/>
          </a:p>
        </p:txBody>
      </p:sp>
      <p:sp>
        <p:nvSpPr>
          <p:cNvPr id="17" name="Arrow"/>
          <p:cNvSpPr/>
          <p:nvPr/>
        </p:nvSpPr>
        <p:spPr>
          <a:xfrm>
            <a:off x="6010534" y="2148840"/>
            <a:ext cx="170627" cy="0"/>
          </a:xfrm>
          <a:prstGeom prst="line">
            <a:avLst/>
          </a:prstGeom>
          <a:noFill/>
          <a:ln w="25400">
            <a:solidFill>
              <a:srgbClr val="45B5E7"/>
            </a:solidFill>
            <a:prstDash val="solid"/>
            <a:tailEnd type="triangle"/>
          </a:ln>
        </p:spPr>
      </p:sp>
      <p:sp>
        <p:nvSpPr>
          <p:cNvPr id="18" name="Node ML Model"/>
          <p:cNvSpPr/>
          <p:nvPr/>
        </p:nvSpPr>
        <p:spPr>
          <a:xfrm>
            <a:off x="6217737" y="1188720"/>
            <a:ext cx="1645920" cy="1920240"/>
          </a:xfrm>
          <a:prstGeom prst="roundRect">
            <a:avLst>
              <a:gd name="adj" fmla="val 4444"/>
            </a:avLst>
          </a:prstGeom>
          <a:solidFill>
            <a:srgbClr val="0E172A">
              <a:alpha val="95000"/>
            </a:srgbClr>
          </a:solidFill>
          <a:ln w="12700">
            <a:solidFill>
              <a:srgbClr val="2A8FBF"/>
            </a:solidFill>
            <a:prstDash val="solid"/>
          </a:ln>
        </p:spPr>
      </p:sp>
      <p:pic>
        <p:nvPicPr>
          <p:cNvPr id="19" name="Icon ML Model" descr="ML Model"/>
          <p:cNvPicPr>
            <a:picLocks noChangeAspect="1"/>
          </p:cNvPicPr>
          <p:nvPr/>
        </p:nvPicPr>
        <p:blipFill>
          <a:blip r:embed="rId6"/>
          <a:stretch>
            <a:fillRect/>
          </a:stretch>
        </p:blipFill>
        <p:spPr>
          <a:xfrm>
            <a:off x="6839529" y="1335024"/>
            <a:ext cx="402336" cy="402336"/>
          </a:xfrm>
          <a:prstGeom prst="rect">
            <a:avLst/>
          </a:prstGeom>
        </p:spPr>
      </p:pic>
      <p:sp>
        <p:nvSpPr>
          <p:cNvPr id="20" name="Text 14"/>
          <p:cNvSpPr txBox="1"/>
          <p:nvPr/>
        </p:nvSpPr>
        <p:spPr>
          <a:xfrm>
            <a:off x="6290889" y="1828800"/>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ML Model</a:t>
            </a:r>
            <a:endParaRPr lang="en-US" sz="1300" dirty="0"/>
          </a:p>
        </p:txBody>
      </p:sp>
      <p:sp>
        <p:nvSpPr>
          <p:cNvPr id="21" name="Text 15"/>
          <p:cNvSpPr txBox="1"/>
          <p:nvPr/>
        </p:nvSpPr>
        <p:spPr>
          <a:xfrm>
            <a:off x="6309177" y="2286000"/>
            <a:ext cx="1463040" cy="548640"/>
          </a:xfrm>
          <a:prstGeom prst="rect">
            <a:avLst/>
          </a:prstGeom>
          <a:noFill/>
          <a:ln/>
        </p:spPr>
        <p:txBody>
          <a:bodyPr wrap="square" lIns="0" tIns="0" rIns="0" bIns="0" rtlCol="0" anchor="t"/>
          <a:lstStyle/>
          <a:p>
            <a:pPr marL="0" indent="0" algn="ctr">
              <a:buNone/>
            </a:pPr>
            <a:r>
              <a:rPr lang="en-US" sz="1200" b="1" dirty="0">
                <a:solidFill>
                  <a:srgbClr val="F2B24C"/>
                </a:solidFill>
              </a:rPr>
              <a:t>Elastic net regularized logistic regression</a:t>
            </a:r>
            <a:endParaRPr lang="en-US" sz="1200" dirty="0"/>
          </a:p>
        </p:txBody>
      </p:sp>
      <p:sp>
        <p:nvSpPr>
          <p:cNvPr id="22" name="Arrow"/>
          <p:cNvSpPr/>
          <p:nvPr/>
        </p:nvSpPr>
        <p:spPr>
          <a:xfrm>
            <a:off x="7900233" y="2148840"/>
            <a:ext cx="170627" cy="0"/>
          </a:xfrm>
          <a:prstGeom prst="line">
            <a:avLst/>
          </a:prstGeom>
          <a:noFill/>
          <a:ln w="25400">
            <a:solidFill>
              <a:srgbClr val="45B5E7"/>
            </a:solidFill>
            <a:prstDash val="solid"/>
            <a:tailEnd type="triangle"/>
          </a:ln>
        </p:spPr>
      </p:sp>
      <p:sp>
        <p:nvSpPr>
          <p:cNvPr id="23" name="Node Detection Output"/>
          <p:cNvSpPr/>
          <p:nvPr/>
        </p:nvSpPr>
        <p:spPr>
          <a:xfrm>
            <a:off x="8107436" y="1188720"/>
            <a:ext cx="1645920" cy="1920240"/>
          </a:xfrm>
          <a:prstGeom prst="roundRect">
            <a:avLst>
              <a:gd name="adj" fmla="val 4444"/>
            </a:avLst>
          </a:prstGeom>
          <a:solidFill>
            <a:srgbClr val="0E172A">
              <a:alpha val="95000"/>
            </a:srgbClr>
          </a:solidFill>
          <a:ln w="12700">
            <a:solidFill>
              <a:srgbClr val="2A8FBF"/>
            </a:solidFill>
            <a:prstDash val="solid"/>
          </a:ln>
        </p:spPr>
      </p:sp>
      <p:pic>
        <p:nvPicPr>
          <p:cNvPr id="24" name="Icon Detection Output" descr="Detection Output"/>
          <p:cNvPicPr>
            <a:picLocks noChangeAspect="1"/>
          </p:cNvPicPr>
          <p:nvPr/>
        </p:nvPicPr>
        <p:blipFill>
          <a:blip r:embed="rId7"/>
          <a:stretch>
            <a:fillRect/>
          </a:stretch>
        </p:blipFill>
        <p:spPr>
          <a:xfrm>
            <a:off x="8729228" y="1335024"/>
            <a:ext cx="402336" cy="402336"/>
          </a:xfrm>
          <a:prstGeom prst="rect">
            <a:avLst/>
          </a:prstGeom>
        </p:spPr>
      </p:pic>
      <p:sp>
        <p:nvSpPr>
          <p:cNvPr id="25" name="Text 18"/>
          <p:cNvSpPr txBox="1"/>
          <p:nvPr/>
        </p:nvSpPr>
        <p:spPr>
          <a:xfrm>
            <a:off x="8180588" y="1828800"/>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Detection Output</a:t>
            </a:r>
            <a:endParaRPr lang="en-US" sz="1300" dirty="0"/>
          </a:p>
        </p:txBody>
      </p:sp>
      <p:sp>
        <p:nvSpPr>
          <p:cNvPr id="26" name="Text 19"/>
          <p:cNvSpPr txBox="1"/>
          <p:nvPr/>
        </p:nvSpPr>
        <p:spPr>
          <a:xfrm>
            <a:off x="8198876" y="2286000"/>
            <a:ext cx="1463040" cy="777240"/>
          </a:xfrm>
          <a:prstGeom prst="rect">
            <a:avLst/>
          </a:prstGeom>
          <a:noFill/>
          <a:ln/>
        </p:spPr>
        <p:txBody>
          <a:bodyPr wrap="square" lIns="0" tIns="0" rIns="0" bIns="0" rtlCol="0" anchor="t"/>
          <a:lstStyle/>
          <a:p>
            <a:pPr marL="0" indent="0" algn="ctr">
              <a:buNone/>
            </a:pPr>
            <a:r>
              <a:rPr lang="en-US" sz="1200" dirty="0">
                <a:solidFill>
                  <a:srgbClr val="A9BBCF"/>
                </a:solidFill>
              </a:rPr>
              <a:t>Normal vs suspicious flags or scores</a:t>
            </a:r>
            <a:endParaRPr lang="en-US" sz="1200" dirty="0"/>
          </a:p>
        </p:txBody>
      </p:sp>
      <p:sp>
        <p:nvSpPr>
          <p:cNvPr id="27" name="Arrow"/>
          <p:cNvSpPr/>
          <p:nvPr/>
        </p:nvSpPr>
        <p:spPr>
          <a:xfrm>
            <a:off x="9789932" y="2148840"/>
            <a:ext cx="170627" cy="0"/>
          </a:xfrm>
          <a:prstGeom prst="line">
            <a:avLst/>
          </a:prstGeom>
          <a:noFill/>
          <a:ln w="25400">
            <a:solidFill>
              <a:srgbClr val="45B5E7"/>
            </a:solidFill>
            <a:prstDash val="solid"/>
            <a:tailEnd type="triangle"/>
          </a:ln>
        </p:spPr>
      </p:sp>
      <p:sp>
        <p:nvSpPr>
          <p:cNvPr id="28" name="Node Results / Report"/>
          <p:cNvSpPr/>
          <p:nvPr/>
        </p:nvSpPr>
        <p:spPr>
          <a:xfrm>
            <a:off x="9997135" y="1188720"/>
            <a:ext cx="1645920" cy="1920240"/>
          </a:xfrm>
          <a:prstGeom prst="roundRect">
            <a:avLst>
              <a:gd name="adj" fmla="val 4444"/>
            </a:avLst>
          </a:prstGeom>
          <a:solidFill>
            <a:srgbClr val="0E172A">
              <a:alpha val="95000"/>
            </a:srgbClr>
          </a:solidFill>
          <a:ln w="12700">
            <a:solidFill>
              <a:srgbClr val="2A8FBF"/>
            </a:solidFill>
            <a:prstDash val="solid"/>
          </a:ln>
        </p:spPr>
      </p:sp>
      <p:pic>
        <p:nvPicPr>
          <p:cNvPr id="29" name="Icon Results / Report" descr="Results / Report"/>
          <p:cNvPicPr>
            <a:picLocks noChangeAspect="1"/>
          </p:cNvPicPr>
          <p:nvPr/>
        </p:nvPicPr>
        <p:blipFill>
          <a:blip r:embed="rId8"/>
          <a:stretch>
            <a:fillRect/>
          </a:stretch>
        </p:blipFill>
        <p:spPr>
          <a:xfrm>
            <a:off x="10618927" y="1335024"/>
            <a:ext cx="402336" cy="402336"/>
          </a:xfrm>
          <a:prstGeom prst="rect">
            <a:avLst/>
          </a:prstGeom>
        </p:spPr>
      </p:pic>
      <p:sp>
        <p:nvSpPr>
          <p:cNvPr id="30" name="Text 22"/>
          <p:cNvSpPr txBox="1"/>
          <p:nvPr/>
        </p:nvSpPr>
        <p:spPr>
          <a:xfrm>
            <a:off x="10070287" y="1828800"/>
            <a:ext cx="1499616" cy="457200"/>
          </a:xfrm>
          <a:prstGeom prst="rect">
            <a:avLst/>
          </a:prstGeom>
          <a:noFill/>
          <a:ln/>
        </p:spPr>
        <p:txBody>
          <a:bodyPr wrap="square" lIns="0" tIns="0" rIns="0" bIns="0" rtlCol="0" anchor="t"/>
          <a:lstStyle/>
          <a:p>
            <a:pPr marL="0" indent="0" algn="ctr">
              <a:buNone/>
            </a:pPr>
            <a:r>
              <a:rPr lang="en-US" sz="1300" b="1" dirty="0">
                <a:solidFill>
                  <a:srgbClr val="FFFFFF"/>
                </a:solidFill>
              </a:rPr>
              <a:t>Results / Report</a:t>
            </a:r>
            <a:endParaRPr lang="en-US" sz="1300" dirty="0"/>
          </a:p>
        </p:txBody>
      </p:sp>
      <p:sp>
        <p:nvSpPr>
          <p:cNvPr id="31" name="Text 23"/>
          <p:cNvSpPr txBox="1"/>
          <p:nvPr/>
        </p:nvSpPr>
        <p:spPr>
          <a:xfrm>
            <a:off x="10088575" y="2286000"/>
            <a:ext cx="1463040" cy="777240"/>
          </a:xfrm>
          <a:prstGeom prst="rect">
            <a:avLst/>
          </a:prstGeom>
          <a:noFill/>
          <a:ln/>
        </p:spPr>
        <p:txBody>
          <a:bodyPr wrap="square" lIns="0" tIns="0" rIns="0" bIns="0" rtlCol="0" anchor="t"/>
          <a:lstStyle/>
          <a:p>
            <a:pPr marL="0" indent="0" algn="ctr">
              <a:buNone/>
            </a:pPr>
            <a:r>
              <a:rPr lang="en-US" sz="1200" dirty="0">
                <a:solidFill>
                  <a:srgbClr val="A9BBCF"/>
                </a:solidFill>
              </a:rPr>
              <a:t>Charts and evaluation output</a:t>
            </a:r>
            <a:endParaRPr lang="en-US" sz="1200" dirty="0"/>
          </a:p>
        </p:txBody>
      </p:sp>
      <p:sp>
        <p:nvSpPr>
          <p:cNvPr id="32" name="Card implementation layer"/>
          <p:cNvSpPr/>
          <p:nvPr/>
        </p:nvSpPr>
        <p:spPr>
          <a:xfrm>
            <a:off x="548640" y="3429000"/>
            <a:ext cx="9204716" cy="960120"/>
          </a:xfrm>
          <a:prstGeom prst="roundRect">
            <a:avLst>
              <a:gd name="adj" fmla="val 7619"/>
            </a:avLst>
          </a:prstGeom>
          <a:solidFill>
            <a:srgbClr val="0E172A">
              <a:alpha val="95000"/>
            </a:srgbClr>
          </a:solidFill>
          <a:ln w="12700">
            <a:solidFill>
              <a:srgbClr val="2A8FBF"/>
            </a:solidFill>
            <a:prstDash val="solid"/>
          </a:ln>
        </p:spPr>
      </p:sp>
      <p:sp>
        <p:nvSpPr>
          <p:cNvPr id="33" name="Text 25"/>
          <p:cNvSpPr txBox="1"/>
          <p:nvPr/>
        </p:nvSpPr>
        <p:spPr>
          <a:xfrm>
            <a:off x="777240" y="3547872"/>
            <a:ext cx="3657600" cy="228600"/>
          </a:xfrm>
          <a:prstGeom prst="rect">
            <a:avLst/>
          </a:prstGeom>
          <a:noFill/>
          <a:ln/>
        </p:spPr>
        <p:txBody>
          <a:bodyPr wrap="square" lIns="0" tIns="0" rIns="0" bIns="0" rtlCol="0" anchor="t"/>
          <a:lstStyle/>
          <a:p>
            <a:pPr marL="0" indent="0">
              <a:buNone/>
            </a:pPr>
            <a:r>
              <a:rPr lang="en-US" sz="1100" b="1" kern="0" spc="200" dirty="0">
                <a:solidFill>
                  <a:srgbClr val="6CD9FF"/>
                </a:solidFill>
              </a:rPr>
              <a:t>IMPLEMENTATION LAYER</a:t>
            </a:r>
            <a:endParaRPr lang="en-US" sz="1100" dirty="0"/>
          </a:p>
        </p:txBody>
      </p:sp>
      <p:sp>
        <p:nvSpPr>
          <p:cNvPr id="34" name="Text 26"/>
          <p:cNvSpPr txBox="1"/>
          <p:nvPr/>
        </p:nvSpPr>
        <p:spPr>
          <a:xfrm>
            <a:off x="777240" y="3840480"/>
            <a:ext cx="8747516" cy="411480"/>
          </a:xfrm>
          <a:prstGeom prst="rect">
            <a:avLst/>
          </a:prstGeom>
          <a:noFill/>
          <a:ln/>
        </p:spPr>
        <p:txBody>
          <a:bodyPr wrap="square" lIns="0" tIns="0" rIns="0" bIns="0" rtlCol="0" anchor="t"/>
          <a:lstStyle/>
          <a:p>
            <a:pPr marL="0" indent="0">
              <a:buNone/>
            </a:pPr>
            <a:r>
              <a:rPr lang="en-US" sz="1400" dirty="0">
                <a:solidFill>
                  <a:srgbClr val="FFFFFF"/>
                </a:solidFill>
              </a:rPr>
              <a:t>Python  •  Jupyter Notebook / Google Colab  •  Pandas  •  NumPy  •  Scikit-learn  •  Matplotlib / Seaborn</a:t>
            </a:r>
            <a:endParaRPr lang="en-US" sz="1400" dirty="0"/>
          </a:p>
        </p:txBody>
      </p:sp>
      <p:sp>
        <p:nvSpPr>
          <p:cNvPr id="35" name="Arrow"/>
          <p:cNvSpPr/>
          <p:nvPr/>
        </p:nvSpPr>
        <p:spPr>
          <a:xfrm>
            <a:off x="10820095" y="3154680"/>
            <a:ext cx="0" cy="1600200"/>
          </a:xfrm>
          <a:prstGeom prst="line">
            <a:avLst/>
          </a:prstGeom>
          <a:noFill/>
          <a:ln w="25400">
            <a:solidFill>
              <a:srgbClr val="45B5E7"/>
            </a:solidFill>
            <a:prstDash val="solid"/>
            <a:tailEnd type="triangle"/>
          </a:ln>
        </p:spPr>
      </p:sp>
      <p:sp>
        <p:nvSpPr>
          <p:cNvPr id="36" name="Card proposed extension"/>
          <p:cNvSpPr/>
          <p:nvPr/>
        </p:nvSpPr>
        <p:spPr>
          <a:xfrm>
            <a:off x="548640" y="4754880"/>
            <a:ext cx="6949440" cy="1508760"/>
          </a:xfrm>
          <a:prstGeom prst="roundRect">
            <a:avLst>
              <a:gd name="adj" fmla="val 4848"/>
            </a:avLst>
          </a:prstGeom>
          <a:solidFill>
            <a:srgbClr val="0E172A">
              <a:alpha val="95000"/>
            </a:srgbClr>
          </a:solidFill>
          <a:ln w="12700">
            <a:solidFill>
              <a:srgbClr val="F2B24C"/>
            </a:solidFill>
            <a:prstDash val="dash"/>
          </a:ln>
        </p:spPr>
      </p:sp>
      <p:pic>
        <p:nvPicPr>
          <p:cNvPr id="37" name="Icon DASHBOARD / ALERTS / SIEM" descr="DASHBOARD / ALERTS / SIEM"/>
          <p:cNvPicPr>
            <a:picLocks noChangeAspect="1"/>
          </p:cNvPicPr>
          <p:nvPr/>
        </p:nvPicPr>
        <p:blipFill>
          <a:blip r:embed="rId9"/>
          <a:stretch>
            <a:fillRect/>
          </a:stretch>
        </p:blipFill>
        <p:spPr>
          <a:xfrm>
            <a:off x="777240" y="4892040"/>
            <a:ext cx="292608" cy="292608"/>
          </a:xfrm>
          <a:prstGeom prst="rect">
            <a:avLst/>
          </a:prstGeom>
        </p:spPr>
      </p:pic>
      <p:sp>
        <p:nvSpPr>
          <p:cNvPr id="38" name="Heading DASHBOARD / ALERTS / SIEM"/>
          <p:cNvSpPr txBox="1"/>
          <p:nvPr/>
        </p:nvSpPr>
        <p:spPr>
          <a:xfrm>
            <a:off x="1179576" y="4892040"/>
            <a:ext cx="4169664" cy="292608"/>
          </a:xfrm>
          <a:prstGeom prst="rect">
            <a:avLst/>
          </a:prstGeom>
          <a:noFill/>
          <a:ln/>
        </p:spPr>
        <p:txBody>
          <a:bodyPr wrap="square" lIns="0" tIns="0" rIns="0" bIns="0" rtlCol="0" anchor="ctr"/>
          <a:lstStyle/>
          <a:p>
            <a:pPr marL="0" indent="0">
              <a:buNone/>
            </a:pPr>
            <a:r>
              <a:rPr lang="en-US" sz="1400" b="1" kern="0" spc="150" dirty="0">
                <a:solidFill>
                  <a:srgbClr val="F2B24C"/>
                </a:solidFill>
              </a:rPr>
              <a:t>DASHBOARD / ALERTS / SIEM</a:t>
            </a:r>
            <a:endParaRPr lang="en-US" sz="1400" dirty="0"/>
          </a:p>
        </p:txBody>
      </p:sp>
      <p:sp>
        <p:nvSpPr>
          <p:cNvPr id="39" name="Tag PROPOSED"/>
          <p:cNvSpPr txBox="1"/>
          <p:nvPr/>
        </p:nvSpPr>
        <p:spPr>
          <a:xfrm>
            <a:off x="5989320" y="4919472"/>
            <a:ext cx="1280160" cy="237744"/>
          </a:xfrm>
          <a:prstGeom prst="roundRect">
            <a:avLst>
              <a:gd name="adj" fmla="val 50000"/>
            </a:avLst>
          </a:prstGeom>
          <a:solidFill>
            <a:srgbClr val="08121F"/>
          </a:solidFill>
          <a:ln w="12700">
            <a:solidFill>
              <a:srgbClr val="F2B24C"/>
            </a:solidFill>
          </a:ln>
        </p:spPr>
        <p:txBody>
          <a:bodyPr wrap="square" lIns="0" tIns="0" rIns="0" bIns="0" rtlCol="0" anchor="ctr"/>
          <a:lstStyle/>
          <a:p>
            <a:pPr marL="0" indent="0" algn="ctr">
              <a:buNone/>
            </a:pPr>
            <a:r>
              <a:rPr lang="en-US" sz="1000" b="1" kern="0" spc="100" dirty="0">
                <a:solidFill>
                  <a:srgbClr val="F2B24C"/>
                </a:solidFill>
              </a:rPr>
              <a:t>PROPOSED</a:t>
            </a:r>
            <a:endParaRPr lang="en-US" sz="1000" dirty="0"/>
          </a:p>
        </p:txBody>
      </p:sp>
      <p:sp>
        <p:nvSpPr>
          <p:cNvPr id="40" name="Text 31"/>
          <p:cNvSpPr txBox="1"/>
          <p:nvPr/>
        </p:nvSpPr>
        <p:spPr>
          <a:xfrm>
            <a:off x="777240" y="5349240"/>
            <a:ext cx="6492240" cy="822960"/>
          </a:xfrm>
          <a:prstGeom prst="rect">
            <a:avLst/>
          </a:prstGeom>
          <a:noFill/>
          <a:ln/>
        </p:spPr>
        <p:txBody>
          <a:bodyPr wrap="square" lIns="0" tIns="0" rIns="0" bIns="0" rtlCol="0" anchor="t"/>
          <a:lstStyle/>
          <a:p>
            <a:pPr marL="0" indent="0">
              <a:buNone/>
            </a:pPr>
            <a:r>
              <a:rPr lang="en-US" sz="1400" dirty="0">
                <a:solidFill>
                  <a:srgbClr val="E8F1FA"/>
                </a:solidFill>
              </a:rPr>
              <a:t>Live dashboard, automated alerting and integration with security tools are future work and are not part of the current implementation.</a:t>
            </a:r>
            <a:endParaRPr lang="en-US" sz="1400" dirty="0"/>
          </a:p>
        </p:txBody>
      </p:sp>
      <p:sp>
        <p:nvSpPr>
          <p:cNvPr id="41" name="Card analyst review"/>
          <p:cNvSpPr/>
          <p:nvPr/>
        </p:nvSpPr>
        <p:spPr>
          <a:xfrm>
            <a:off x="7726680" y="4754880"/>
            <a:ext cx="3916375" cy="1508760"/>
          </a:xfrm>
          <a:prstGeom prst="roundRect">
            <a:avLst>
              <a:gd name="adj" fmla="val 4848"/>
            </a:avLst>
          </a:prstGeom>
          <a:solidFill>
            <a:srgbClr val="0E172A">
              <a:alpha val="95000"/>
            </a:srgbClr>
          </a:solidFill>
          <a:ln w="12700">
            <a:solidFill>
              <a:srgbClr val="6CD9FF"/>
            </a:solidFill>
            <a:prstDash val="solid"/>
          </a:ln>
        </p:spPr>
      </p:sp>
      <p:pic>
        <p:nvPicPr>
          <p:cNvPr id="42" name="Icon ANALYST REVIEW" descr="ANALYST REVIEW"/>
          <p:cNvPicPr>
            <a:picLocks noChangeAspect="1"/>
          </p:cNvPicPr>
          <p:nvPr/>
        </p:nvPicPr>
        <p:blipFill>
          <a:blip r:embed="rId10"/>
          <a:stretch>
            <a:fillRect/>
          </a:stretch>
        </p:blipFill>
        <p:spPr>
          <a:xfrm>
            <a:off x="7955280" y="4892040"/>
            <a:ext cx="292608" cy="292608"/>
          </a:xfrm>
          <a:prstGeom prst="rect">
            <a:avLst/>
          </a:prstGeom>
        </p:spPr>
      </p:pic>
      <p:sp>
        <p:nvSpPr>
          <p:cNvPr id="43" name="Heading ANALYST REVIEW"/>
          <p:cNvSpPr txBox="1"/>
          <p:nvPr/>
        </p:nvSpPr>
        <p:spPr>
          <a:xfrm>
            <a:off x="8357616" y="4892040"/>
            <a:ext cx="307238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ANALYST REVIEW</a:t>
            </a:r>
            <a:endParaRPr lang="en-US" sz="1400" dirty="0"/>
          </a:p>
        </p:txBody>
      </p:sp>
      <p:sp>
        <p:nvSpPr>
          <p:cNvPr id="44" name="Text 34"/>
          <p:cNvSpPr txBox="1"/>
          <p:nvPr/>
        </p:nvSpPr>
        <p:spPr>
          <a:xfrm>
            <a:off x="7955280" y="5349240"/>
            <a:ext cx="3474720" cy="822960"/>
          </a:xfrm>
          <a:prstGeom prst="rect">
            <a:avLst/>
          </a:prstGeom>
          <a:noFill/>
          <a:ln/>
        </p:spPr>
        <p:txBody>
          <a:bodyPr wrap="square" lIns="0" tIns="0" rIns="0" bIns="0" rtlCol="0" anchor="t"/>
          <a:lstStyle/>
          <a:p>
            <a:pPr marL="0" indent="0">
              <a:buNone/>
            </a:pPr>
            <a:r>
              <a:rPr lang="en-US" sz="1400" dirty="0">
                <a:solidFill>
                  <a:srgbClr val="E8F1FA"/>
                </a:solidFill>
              </a:rPr>
              <a:t>A human reviews flagged activity and decides what to do.</a:t>
            </a:r>
            <a:endParaRPr lang="en-US" sz="1400" dirty="0"/>
          </a:p>
        </p:txBody>
      </p:sp>
      <p:sp>
        <p:nvSpPr>
          <p:cNvPr id="4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METHODOLOGY &amp; WORKFLOW</a:t>
            </a:r>
            <a:endParaRPr lang="en-US" sz="2800" dirty="0"/>
          </a:p>
        </p:txBody>
      </p:sp>
      <p:sp>
        <p:nvSpPr>
          <p:cNvPr id="3" name="Timeline line"/>
          <p:cNvSpPr/>
          <p:nvPr/>
        </p:nvSpPr>
        <p:spPr>
          <a:xfrm>
            <a:off x="1341098" y="1490472"/>
            <a:ext cx="9509499" cy="0"/>
          </a:xfrm>
          <a:prstGeom prst="line">
            <a:avLst/>
          </a:prstGeom>
          <a:noFill/>
          <a:ln w="19050">
            <a:solidFill>
              <a:srgbClr val="2A8FBF"/>
            </a:solidFill>
            <a:prstDash val="solid"/>
          </a:ln>
        </p:spPr>
      </p:sp>
      <p:sp>
        <p:nvSpPr>
          <p:cNvPr id="4" name="Step circle 1"/>
          <p:cNvSpPr/>
          <p:nvPr/>
        </p:nvSpPr>
        <p:spPr>
          <a:xfrm>
            <a:off x="1085066" y="1234440"/>
            <a:ext cx="512064" cy="512064"/>
          </a:xfrm>
          <a:prstGeom prst="ellipse">
            <a:avLst/>
          </a:prstGeom>
          <a:solidFill>
            <a:srgbClr val="0E172A"/>
          </a:solidFill>
          <a:ln w="19050">
            <a:solidFill>
              <a:srgbClr val="6CD9FF"/>
            </a:solidFill>
            <a:prstDash val="solid"/>
          </a:ln>
        </p:spPr>
      </p:sp>
      <p:sp>
        <p:nvSpPr>
          <p:cNvPr id="5" name="Text 3"/>
          <p:cNvSpPr txBox="1"/>
          <p:nvPr/>
        </p:nvSpPr>
        <p:spPr>
          <a:xfrm>
            <a:off x="1085066" y="1234440"/>
            <a:ext cx="512064" cy="512064"/>
          </a:xfrm>
          <a:prstGeom prst="rect">
            <a:avLst/>
          </a:prstGeom>
          <a:noFill/>
          <a:ln/>
        </p:spPr>
        <p:txBody>
          <a:bodyPr wrap="square" lIns="0" tIns="0" rIns="0" bIns="0" rtlCol="0" anchor="ctr"/>
          <a:lstStyle/>
          <a:p>
            <a:pPr marL="0" indent="0" algn="ctr">
              <a:buNone/>
            </a:pPr>
            <a:r>
              <a:rPr lang="en-US" sz="1600" b="1" dirty="0">
                <a:solidFill>
                  <a:srgbClr val="6CD9FF"/>
                </a:solidFill>
              </a:rPr>
              <a:t>1</a:t>
            </a:r>
            <a:endParaRPr lang="en-US" sz="1600" dirty="0"/>
          </a:p>
        </p:txBody>
      </p:sp>
      <p:sp>
        <p:nvSpPr>
          <p:cNvPr id="6" name="Text 4"/>
          <p:cNvSpPr txBox="1"/>
          <p:nvPr/>
        </p:nvSpPr>
        <p:spPr>
          <a:xfrm>
            <a:off x="594360" y="1828800"/>
            <a:ext cx="1493476" cy="548640"/>
          </a:xfrm>
          <a:prstGeom prst="rect">
            <a:avLst/>
          </a:prstGeom>
          <a:noFill/>
          <a:ln/>
        </p:spPr>
        <p:txBody>
          <a:bodyPr wrap="square" lIns="0" tIns="0" rIns="0" bIns="0" rtlCol="0" anchor="t"/>
          <a:lstStyle/>
          <a:p>
            <a:pPr marL="0" indent="0" algn="ctr">
              <a:buNone/>
            </a:pPr>
            <a:r>
              <a:rPr lang="en-US" sz="1300" b="1" dirty="0">
                <a:solidFill>
                  <a:srgbClr val="FFFFFF"/>
                </a:solidFill>
              </a:rPr>
              <a:t>Obtain data / logs</a:t>
            </a:r>
            <a:endParaRPr lang="en-US" sz="1300" dirty="0"/>
          </a:p>
        </p:txBody>
      </p:sp>
      <p:sp>
        <p:nvSpPr>
          <p:cNvPr id="7" name="Step circle 2"/>
          <p:cNvSpPr/>
          <p:nvPr/>
        </p:nvSpPr>
        <p:spPr>
          <a:xfrm>
            <a:off x="2669983" y="1234440"/>
            <a:ext cx="512064" cy="512064"/>
          </a:xfrm>
          <a:prstGeom prst="ellipse">
            <a:avLst/>
          </a:prstGeom>
          <a:solidFill>
            <a:srgbClr val="0E172A"/>
          </a:solidFill>
          <a:ln w="19050">
            <a:solidFill>
              <a:srgbClr val="6CD9FF"/>
            </a:solidFill>
            <a:prstDash val="solid"/>
          </a:ln>
        </p:spPr>
      </p:sp>
      <p:sp>
        <p:nvSpPr>
          <p:cNvPr id="8" name="Text 6"/>
          <p:cNvSpPr txBox="1"/>
          <p:nvPr/>
        </p:nvSpPr>
        <p:spPr>
          <a:xfrm>
            <a:off x="2669983" y="1234440"/>
            <a:ext cx="512064" cy="512064"/>
          </a:xfrm>
          <a:prstGeom prst="rect">
            <a:avLst/>
          </a:prstGeom>
          <a:noFill/>
          <a:ln/>
        </p:spPr>
        <p:txBody>
          <a:bodyPr wrap="square" lIns="0" tIns="0" rIns="0" bIns="0" rtlCol="0" anchor="ctr"/>
          <a:lstStyle/>
          <a:p>
            <a:pPr marL="0" indent="0" algn="ctr">
              <a:buNone/>
            </a:pPr>
            <a:r>
              <a:rPr lang="en-US" sz="1600" b="1" dirty="0">
                <a:solidFill>
                  <a:srgbClr val="6CD9FF"/>
                </a:solidFill>
              </a:rPr>
              <a:t>2</a:t>
            </a:r>
            <a:endParaRPr lang="en-US" sz="1600" dirty="0"/>
          </a:p>
        </p:txBody>
      </p:sp>
      <p:sp>
        <p:nvSpPr>
          <p:cNvPr id="9" name="Text 7"/>
          <p:cNvSpPr txBox="1"/>
          <p:nvPr/>
        </p:nvSpPr>
        <p:spPr>
          <a:xfrm>
            <a:off x="2179276" y="1828800"/>
            <a:ext cx="1493476" cy="548640"/>
          </a:xfrm>
          <a:prstGeom prst="rect">
            <a:avLst/>
          </a:prstGeom>
          <a:noFill/>
          <a:ln/>
        </p:spPr>
        <p:txBody>
          <a:bodyPr wrap="square" lIns="0" tIns="0" rIns="0" bIns="0" rtlCol="0" anchor="t"/>
          <a:lstStyle/>
          <a:p>
            <a:pPr marL="0" indent="0" algn="ctr">
              <a:buNone/>
            </a:pPr>
            <a:r>
              <a:rPr lang="en-US" sz="1300" b="1" dirty="0">
                <a:solidFill>
                  <a:srgbClr val="FFFFFF"/>
                </a:solidFill>
              </a:rPr>
              <a:t>Inspect &amp; clean</a:t>
            </a:r>
            <a:endParaRPr lang="en-US" sz="1300" dirty="0"/>
          </a:p>
        </p:txBody>
      </p:sp>
      <p:sp>
        <p:nvSpPr>
          <p:cNvPr id="10" name="Step circle 3"/>
          <p:cNvSpPr/>
          <p:nvPr/>
        </p:nvSpPr>
        <p:spPr>
          <a:xfrm>
            <a:off x="4254899" y="1234440"/>
            <a:ext cx="512064" cy="512064"/>
          </a:xfrm>
          <a:prstGeom prst="ellipse">
            <a:avLst/>
          </a:prstGeom>
          <a:solidFill>
            <a:srgbClr val="0E172A"/>
          </a:solidFill>
          <a:ln w="19050">
            <a:solidFill>
              <a:srgbClr val="6CD9FF"/>
            </a:solidFill>
            <a:prstDash val="solid"/>
          </a:ln>
        </p:spPr>
      </p:sp>
      <p:sp>
        <p:nvSpPr>
          <p:cNvPr id="11" name="Text 9"/>
          <p:cNvSpPr txBox="1"/>
          <p:nvPr/>
        </p:nvSpPr>
        <p:spPr>
          <a:xfrm>
            <a:off x="4254899" y="1234440"/>
            <a:ext cx="512064" cy="512064"/>
          </a:xfrm>
          <a:prstGeom prst="rect">
            <a:avLst/>
          </a:prstGeom>
          <a:noFill/>
          <a:ln/>
        </p:spPr>
        <p:txBody>
          <a:bodyPr wrap="square" lIns="0" tIns="0" rIns="0" bIns="0" rtlCol="0" anchor="ctr"/>
          <a:lstStyle/>
          <a:p>
            <a:pPr marL="0" indent="0" algn="ctr">
              <a:buNone/>
            </a:pPr>
            <a:r>
              <a:rPr lang="en-US" sz="1600" b="1" dirty="0">
                <a:solidFill>
                  <a:srgbClr val="6CD9FF"/>
                </a:solidFill>
              </a:rPr>
              <a:t>3</a:t>
            </a:r>
            <a:endParaRPr lang="en-US" sz="1600" dirty="0"/>
          </a:p>
        </p:txBody>
      </p:sp>
      <p:sp>
        <p:nvSpPr>
          <p:cNvPr id="12" name="Text 10"/>
          <p:cNvSpPr txBox="1"/>
          <p:nvPr/>
        </p:nvSpPr>
        <p:spPr>
          <a:xfrm>
            <a:off x="3764193" y="1828800"/>
            <a:ext cx="1493476" cy="548640"/>
          </a:xfrm>
          <a:prstGeom prst="rect">
            <a:avLst/>
          </a:prstGeom>
          <a:noFill/>
          <a:ln/>
        </p:spPr>
        <p:txBody>
          <a:bodyPr wrap="square" lIns="0" tIns="0" rIns="0" bIns="0" rtlCol="0" anchor="t"/>
          <a:lstStyle/>
          <a:p>
            <a:pPr marL="0" indent="0" algn="ctr">
              <a:buNone/>
            </a:pPr>
            <a:r>
              <a:rPr lang="en-US" sz="1300" b="1" dirty="0">
                <a:solidFill>
                  <a:srgbClr val="FFFFFF"/>
                </a:solidFill>
              </a:rPr>
              <a:t>Extract features</a:t>
            </a:r>
            <a:endParaRPr lang="en-US" sz="1300" dirty="0"/>
          </a:p>
        </p:txBody>
      </p:sp>
      <p:sp>
        <p:nvSpPr>
          <p:cNvPr id="13" name="Step circle 4"/>
          <p:cNvSpPr/>
          <p:nvPr/>
        </p:nvSpPr>
        <p:spPr>
          <a:xfrm>
            <a:off x="5839816" y="1234440"/>
            <a:ext cx="512064" cy="512064"/>
          </a:xfrm>
          <a:prstGeom prst="ellipse">
            <a:avLst/>
          </a:prstGeom>
          <a:solidFill>
            <a:srgbClr val="0E172A"/>
          </a:solidFill>
          <a:ln w="19050">
            <a:solidFill>
              <a:srgbClr val="6CD9FF"/>
            </a:solidFill>
            <a:prstDash val="solid"/>
          </a:ln>
        </p:spPr>
      </p:sp>
      <p:sp>
        <p:nvSpPr>
          <p:cNvPr id="14" name="Text 12"/>
          <p:cNvSpPr txBox="1"/>
          <p:nvPr/>
        </p:nvSpPr>
        <p:spPr>
          <a:xfrm>
            <a:off x="5839816" y="1234440"/>
            <a:ext cx="512064" cy="512064"/>
          </a:xfrm>
          <a:prstGeom prst="rect">
            <a:avLst/>
          </a:prstGeom>
          <a:noFill/>
          <a:ln/>
        </p:spPr>
        <p:txBody>
          <a:bodyPr wrap="square" lIns="0" tIns="0" rIns="0" bIns="0" rtlCol="0" anchor="ctr"/>
          <a:lstStyle/>
          <a:p>
            <a:pPr marL="0" indent="0" algn="ctr">
              <a:buNone/>
            </a:pPr>
            <a:r>
              <a:rPr lang="en-US" sz="1600" b="1" dirty="0">
                <a:solidFill>
                  <a:srgbClr val="6CD9FF"/>
                </a:solidFill>
              </a:rPr>
              <a:t>4</a:t>
            </a:r>
            <a:endParaRPr lang="en-US" sz="1600" dirty="0"/>
          </a:p>
        </p:txBody>
      </p:sp>
      <p:sp>
        <p:nvSpPr>
          <p:cNvPr id="15" name="Text 13"/>
          <p:cNvSpPr txBox="1"/>
          <p:nvPr/>
        </p:nvSpPr>
        <p:spPr>
          <a:xfrm>
            <a:off x="5349109" y="1828800"/>
            <a:ext cx="1493476" cy="548640"/>
          </a:xfrm>
          <a:prstGeom prst="rect">
            <a:avLst/>
          </a:prstGeom>
          <a:noFill/>
          <a:ln/>
        </p:spPr>
        <p:txBody>
          <a:bodyPr wrap="square" lIns="0" tIns="0" rIns="0" bIns="0" rtlCol="0" anchor="t"/>
          <a:lstStyle/>
          <a:p>
            <a:pPr marL="0" indent="0" algn="ctr">
              <a:buNone/>
            </a:pPr>
            <a:r>
              <a:rPr lang="en-US" sz="1300" b="1" dirty="0">
                <a:solidFill>
                  <a:srgbClr val="FFFFFF"/>
                </a:solidFill>
              </a:rPr>
              <a:t>Split data (if supervised)</a:t>
            </a:r>
            <a:endParaRPr lang="en-US" sz="1300" dirty="0"/>
          </a:p>
        </p:txBody>
      </p:sp>
      <p:sp>
        <p:nvSpPr>
          <p:cNvPr id="16" name="Step circle 5"/>
          <p:cNvSpPr/>
          <p:nvPr/>
        </p:nvSpPr>
        <p:spPr>
          <a:xfrm>
            <a:off x="7424732" y="1234440"/>
            <a:ext cx="512064" cy="512064"/>
          </a:xfrm>
          <a:prstGeom prst="ellipse">
            <a:avLst/>
          </a:prstGeom>
          <a:solidFill>
            <a:srgbClr val="0E172A"/>
          </a:solidFill>
          <a:ln w="19050">
            <a:solidFill>
              <a:srgbClr val="6CD9FF"/>
            </a:solidFill>
            <a:prstDash val="solid"/>
          </a:ln>
        </p:spPr>
      </p:sp>
      <p:sp>
        <p:nvSpPr>
          <p:cNvPr id="17" name="Text 15"/>
          <p:cNvSpPr txBox="1"/>
          <p:nvPr/>
        </p:nvSpPr>
        <p:spPr>
          <a:xfrm>
            <a:off x="7424732" y="1234440"/>
            <a:ext cx="512064" cy="512064"/>
          </a:xfrm>
          <a:prstGeom prst="rect">
            <a:avLst/>
          </a:prstGeom>
          <a:noFill/>
          <a:ln/>
        </p:spPr>
        <p:txBody>
          <a:bodyPr wrap="square" lIns="0" tIns="0" rIns="0" bIns="0" rtlCol="0" anchor="ctr"/>
          <a:lstStyle/>
          <a:p>
            <a:pPr marL="0" indent="0" algn="ctr">
              <a:buNone/>
            </a:pPr>
            <a:r>
              <a:rPr lang="en-US" sz="1600" b="1" dirty="0">
                <a:solidFill>
                  <a:srgbClr val="6CD9FF"/>
                </a:solidFill>
              </a:rPr>
              <a:t>5</a:t>
            </a:r>
            <a:endParaRPr lang="en-US" sz="1600" dirty="0"/>
          </a:p>
        </p:txBody>
      </p:sp>
      <p:sp>
        <p:nvSpPr>
          <p:cNvPr id="18" name="Text 16"/>
          <p:cNvSpPr txBox="1"/>
          <p:nvPr/>
        </p:nvSpPr>
        <p:spPr>
          <a:xfrm>
            <a:off x="6934026" y="1828800"/>
            <a:ext cx="1493476" cy="548640"/>
          </a:xfrm>
          <a:prstGeom prst="rect">
            <a:avLst/>
          </a:prstGeom>
          <a:noFill/>
          <a:ln/>
        </p:spPr>
        <p:txBody>
          <a:bodyPr wrap="square" lIns="0" tIns="0" rIns="0" bIns="0" rtlCol="0" anchor="t"/>
          <a:lstStyle/>
          <a:p>
            <a:pPr marL="0" indent="0" algn="ctr">
              <a:buNone/>
            </a:pPr>
            <a:r>
              <a:rPr lang="en-US" sz="1300" b="1" dirty="0">
                <a:solidFill>
                  <a:srgbClr val="FFFFFF"/>
                </a:solidFill>
              </a:rPr>
              <a:t>Train / configure</a:t>
            </a:r>
            <a:endParaRPr lang="en-US" sz="1300" dirty="0"/>
          </a:p>
        </p:txBody>
      </p:sp>
      <p:sp>
        <p:nvSpPr>
          <p:cNvPr id="19" name="Step circle 6"/>
          <p:cNvSpPr/>
          <p:nvPr/>
        </p:nvSpPr>
        <p:spPr>
          <a:xfrm>
            <a:off x="9009649" y="1234440"/>
            <a:ext cx="512064" cy="512064"/>
          </a:xfrm>
          <a:prstGeom prst="ellipse">
            <a:avLst/>
          </a:prstGeom>
          <a:solidFill>
            <a:srgbClr val="0E172A"/>
          </a:solidFill>
          <a:ln w="19050">
            <a:solidFill>
              <a:srgbClr val="6CD9FF"/>
            </a:solidFill>
            <a:prstDash val="solid"/>
          </a:ln>
        </p:spPr>
      </p:sp>
      <p:sp>
        <p:nvSpPr>
          <p:cNvPr id="20" name="Text 18"/>
          <p:cNvSpPr txBox="1"/>
          <p:nvPr/>
        </p:nvSpPr>
        <p:spPr>
          <a:xfrm>
            <a:off x="9009649" y="1234440"/>
            <a:ext cx="512064" cy="512064"/>
          </a:xfrm>
          <a:prstGeom prst="rect">
            <a:avLst/>
          </a:prstGeom>
          <a:noFill/>
          <a:ln/>
        </p:spPr>
        <p:txBody>
          <a:bodyPr wrap="square" lIns="0" tIns="0" rIns="0" bIns="0" rtlCol="0" anchor="ctr"/>
          <a:lstStyle/>
          <a:p>
            <a:pPr marL="0" indent="0" algn="ctr">
              <a:buNone/>
            </a:pPr>
            <a:r>
              <a:rPr lang="en-US" sz="1600" b="1" dirty="0">
                <a:solidFill>
                  <a:srgbClr val="6CD9FF"/>
                </a:solidFill>
              </a:rPr>
              <a:t>6</a:t>
            </a:r>
            <a:endParaRPr lang="en-US" sz="1600" dirty="0"/>
          </a:p>
        </p:txBody>
      </p:sp>
      <p:sp>
        <p:nvSpPr>
          <p:cNvPr id="21" name="Text 19"/>
          <p:cNvSpPr txBox="1"/>
          <p:nvPr/>
        </p:nvSpPr>
        <p:spPr>
          <a:xfrm>
            <a:off x="8518942" y="1828800"/>
            <a:ext cx="1493476" cy="548640"/>
          </a:xfrm>
          <a:prstGeom prst="rect">
            <a:avLst/>
          </a:prstGeom>
          <a:noFill/>
          <a:ln/>
        </p:spPr>
        <p:txBody>
          <a:bodyPr wrap="square" lIns="0" tIns="0" rIns="0" bIns="0" rtlCol="0" anchor="t"/>
          <a:lstStyle/>
          <a:p>
            <a:pPr marL="0" indent="0" algn="ctr">
              <a:buNone/>
            </a:pPr>
            <a:r>
              <a:rPr lang="en-US" sz="1300" b="1" dirty="0">
                <a:solidFill>
                  <a:srgbClr val="FFFFFF"/>
                </a:solidFill>
              </a:rPr>
              <a:t>Evaluate model</a:t>
            </a:r>
            <a:endParaRPr lang="en-US" sz="1300" dirty="0"/>
          </a:p>
        </p:txBody>
      </p:sp>
      <p:sp>
        <p:nvSpPr>
          <p:cNvPr id="22" name="Step circle 7"/>
          <p:cNvSpPr/>
          <p:nvPr/>
        </p:nvSpPr>
        <p:spPr>
          <a:xfrm>
            <a:off x="10594565" y="1234440"/>
            <a:ext cx="512064" cy="512064"/>
          </a:xfrm>
          <a:prstGeom prst="ellipse">
            <a:avLst/>
          </a:prstGeom>
          <a:solidFill>
            <a:srgbClr val="0E172A"/>
          </a:solidFill>
          <a:ln w="19050">
            <a:solidFill>
              <a:srgbClr val="6CD9FF"/>
            </a:solidFill>
            <a:prstDash val="solid"/>
          </a:ln>
        </p:spPr>
      </p:sp>
      <p:sp>
        <p:nvSpPr>
          <p:cNvPr id="23" name="Text 21"/>
          <p:cNvSpPr txBox="1"/>
          <p:nvPr/>
        </p:nvSpPr>
        <p:spPr>
          <a:xfrm>
            <a:off x="10594565" y="1234440"/>
            <a:ext cx="512064" cy="512064"/>
          </a:xfrm>
          <a:prstGeom prst="rect">
            <a:avLst/>
          </a:prstGeom>
          <a:noFill/>
          <a:ln/>
        </p:spPr>
        <p:txBody>
          <a:bodyPr wrap="square" lIns="0" tIns="0" rIns="0" bIns="0" rtlCol="0" anchor="ctr"/>
          <a:lstStyle/>
          <a:p>
            <a:pPr marL="0" indent="0" algn="ctr">
              <a:buNone/>
            </a:pPr>
            <a:r>
              <a:rPr lang="en-US" sz="1600" b="1" dirty="0">
                <a:solidFill>
                  <a:srgbClr val="6CD9FF"/>
                </a:solidFill>
              </a:rPr>
              <a:t>7</a:t>
            </a:r>
            <a:endParaRPr lang="en-US" sz="1600" dirty="0"/>
          </a:p>
        </p:txBody>
      </p:sp>
      <p:sp>
        <p:nvSpPr>
          <p:cNvPr id="24" name="Text 22"/>
          <p:cNvSpPr txBox="1"/>
          <p:nvPr/>
        </p:nvSpPr>
        <p:spPr>
          <a:xfrm>
            <a:off x="10103859" y="1828800"/>
            <a:ext cx="1493476" cy="548640"/>
          </a:xfrm>
          <a:prstGeom prst="rect">
            <a:avLst/>
          </a:prstGeom>
          <a:noFill/>
          <a:ln/>
        </p:spPr>
        <p:txBody>
          <a:bodyPr wrap="square" lIns="0" tIns="0" rIns="0" bIns="0" rtlCol="0" anchor="t"/>
          <a:lstStyle/>
          <a:p>
            <a:pPr marL="0" indent="0" algn="ctr">
              <a:buNone/>
            </a:pPr>
            <a:r>
              <a:rPr lang="en-US" sz="1300" b="1" dirty="0">
                <a:solidFill>
                  <a:srgbClr val="FFFFFF"/>
                </a:solidFill>
              </a:rPr>
              <a:t>Interpret results</a:t>
            </a:r>
            <a:endParaRPr lang="en-US" sz="1300" dirty="0"/>
          </a:p>
        </p:txBody>
      </p:sp>
      <p:sp>
        <p:nvSpPr>
          <p:cNvPr id="25" name="Card supervised path"/>
          <p:cNvSpPr/>
          <p:nvPr/>
        </p:nvSpPr>
        <p:spPr>
          <a:xfrm>
            <a:off x="548639" y="2606040"/>
            <a:ext cx="10820095" cy="2423160"/>
          </a:xfrm>
          <a:prstGeom prst="roundRect">
            <a:avLst>
              <a:gd name="adj" fmla="val 3019"/>
            </a:avLst>
          </a:prstGeom>
          <a:solidFill>
            <a:srgbClr val="0E172A">
              <a:alpha val="95000"/>
            </a:srgbClr>
          </a:solidFill>
          <a:ln w="12700">
            <a:solidFill>
              <a:srgbClr val="2A8FBF"/>
            </a:solidFill>
            <a:prstDash val="solid"/>
          </a:ln>
        </p:spPr>
      </p:sp>
      <p:pic>
        <p:nvPicPr>
          <p:cNvPr id="26" name="Icon IF SUPERVISED (LABELED DATA)" descr="IF SUPERVISED (LABELED DATA)"/>
          <p:cNvPicPr>
            <a:picLocks noChangeAspect="1"/>
          </p:cNvPicPr>
          <p:nvPr/>
        </p:nvPicPr>
        <p:blipFill>
          <a:blip r:embed="rId3"/>
          <a:stretch>
            <a:fillRect/>
          </a:stretch>
        </p:blipFill>
        <p:spPr>
          <a:xfrm>
            <a:off x="777240" y="2770632"/>
            <a:ext cx="292608" cy="292608"/>
          </a:xfrm>
          <a:prstGeom prst="rect">
            <a:avLst/>
          </a:prstGeom>
        </p:spPr>
      </p:pic>
      <p:sp>
        <p:nvSpPr>
          <p:cNvPr id="27" name="Heading IF SUPERVISED (LABELED DATA)"/>
          <p:cNvSpPr txBox="1"/>
          <p:nvPr/>
        </p:nvSpPr>
        <p:spPr>
          <a:xfrm>
            <a:off x="1179576" y="2770632"/>
            <a:ext cx="4641952" cy="292608"/>
          </a:xfrm>
          <a:prstGeom prst="rect">
            <a:avLst/>
          </a:prstGeom>
          <a:noFill/>
          <a:ln/>
        </p:spPr>
        <p:txBody>
          <a:bodyPr wrap="square" lIns="0" tIns="0" rIns="0" bIns="0" rtlCol="0" anchor="ctr"/>
          <a:lstStyle/>
          <a:p>
            <a:pPr marL="0" indent="0">
              <a:buNone/>
            </a:pPr>
            <a:r>
              <a:rPr lang="en-US" sz="1400" b="1" kern="0" spc="150" dirty="0">
                <a:solidFill>
                  <a:srgbClr val="6CD9FF"/>
                </a:solidFill>
              </a:rPr>
              <a:t>SUPERVISED (LABELED DATA)</a:t>
            </a:r>
            <a:endParaRPr lang="en-US" sz="1400" dirty="0"/>
          </a:p>
        </p:txBody>
      </p:sp>
      <p:sp>
        <p:nvSpPr>
          <p:cNvPr id="28" name="Bullets"/>
          <p:cNvSpPr txBox="1"/>
          <p:nvPr/>
        </p:nvSpPr>
        <p:spPr>
          <a:xfrm>
            <a:off x="777240" y="3264408"/>
            <a:ext cx="4952848" cy="16916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E8F1FA"/>
                </a:solidFill>
              </a:rPr>
              <a:t>Split labeled data into training and testing sets</a:t>
            </a:r>
            <a:endParaRPr lang="en-US" sz="1600" dirty="0"/>
          </a:p>
          <a:p>
            <a:pPr marL="203200" indent="-203200">
              <a:spcAft>
                <a:spcPts val="800"/>
              </a:spcAft>
              <a:buSzPct val="100000"/>
              <a:buChar char="•"/>
            </a:pPr>
            <a:r>
              <a:rPr lang="en-US" sz="1600" dirty="0">
                <a:solidFill>
                  <a:srgbClr val="E8F1FA"/>
                </a:solidFill>
              </a:rPr>
              <a:t>Train a classifier on normal vs insider examples</a:t>
            </a:r>
            <a:endParaRPr lang="en-US" sz="1600" dirty="0"/>
          </a:p>
          <a:p>
            <a:pPr marL="203200" indent="-203200">
              <a:spcAft>
                <a:spcPts val="800"/>
              </a:spcAft>
              <a:buSzPct val="100000"/>
              <a:buChar char="•"/>
            </a:pPr>
            <a:r>
              <a:rPr lang="en-US" sz="1600" dirty="0">
                <a:solidFill>
                  <a:srgbClr val="E8F1FA"/>
                </a:solidFill>
              </a:rPr>
              <a:t>Test on unseen data: precision, recall, F1, confusion matrix</a:t>
            </a:r>
            <a:endParaRPr lang="en-US" sz="1600" dirty="0"/>
          </a:p>
        </p:txBody>
      </p:sp>
      <p:sp>
        <p:nvSpPr>
          <p:cNvPr id="33" name="Card which path"/>
          <p:cNvSpPr/>
          <p:nvPr/>
        </p:nvSpPr>
        <p:spPr>
          <a:xfrm>
            <a:off x="548640" y="5257800"/>
            <a:ext cx="11094415" cy="1005840"/>
          </a:xfrm>
          <a:prstGeom prst="roundRect">
            <a:avLst>
              <a:gd name="adj" fmla="val 7273"/>
            </a:avLst>
          </a:prstGeom>
          <a:solidFill>
            <a:srgbClr val="0E172A">
              <a:alpha val="95000"/>
            </a:srgbClr>
          </a:solidFill>
          <a:ln w="12700">
            <a:solidFill>
              <a:srgbClr val="F2B24C"/>
            </a:solidFill>
            <a:prstDash val="dash"/>
          </a:ln>
        </p:spPr>
      </p:sp>
      <p:sp>
        <p:nvSpPr>
          <p:cNvPr id="34" name="Text 30"/>
          <p:cNvSpPr txBox="1"/>
          <p:nvPr/>
        </p:nvSpPr>
        <p:spPr>
          <a:xfrm>
            <a:off x="822960" y="5257800"/>
            <a:ext cx="10545775" cy="1005840"/>
          </a:xfrm>
          <a:prstGeom prst="rect">
            <a:avLst/>
          </a:prstGeom>
          <a:noFill/>
          <a:ln/>
        </p:spPr>
        <p:txBody>
          <a:bodyPr wrap="square" lIns="0" tIns="0" rIns="0" bIns="0" rtlCol="0" anchor="ctr"/>
          <a:lstStyle/>
          <a:p>
            <a:pPr marL="0" indent="0">
              <a:buNone/>
            </a:pPr>
            <a:r>
              <a:rPr lang="en-US" sz="1500" b="1" dirty="0">
                <a:solidFill>
                  <a:srgbClr val="6CD9FF"/>
                </a:solidFill>
              </a:rPr>
              <a:t>Our project: </a:t>
            </a:r>
            <a:r>
              <a:rPr lang="en-US" sz="1500" dirty="0">
                <a:solidFill>
                  <a:srgbClr val="E8F1FA"/>
                </a:solidFill>
              </a:rPr>
              <a:t>learning type = </a:t>
            </a:r>
            <a:r>
              <a:rPr lang="en-US" sz="1500" b="1" dirty="0">
                <a:solidFill>
                  <a:srgbClr val="F2B24C"/>
                </a:solidFill>
              </a:rPr>
              <a:t>Supervised</a:t>
            </a:r>
            <a:r>
              <a:rPr lang="en-US" sz="1500" dirty="0">
                <a:solidFill>
                  <a:srgbClr val="E8F1FA"/>
                </a:solidFill>
              </a:rPr>
              <a:t>   |   algorithm = </a:t>
            </a:r>
            <a:r>
              <a:rPr lang="en-US" sz="1500" b="1" dirty="0">
                <a:solidFill>
                  <a:srgbClr val="F2B24C"/>
                </a:solidFill>
              </a:rPr>
              <a:t>Elastic net Regularized Logistic regression</a:t>
            </a:r>
            <a:r>
              <a:rPr lang="en-US" sz="1500" dirty="0">
                <a:solidFill>
                  <a:srgbClr val="E8F1FA"/>
                </a:solidFill>
              </a:rPr>
              <a:t>   |   split = </a:t>
            </a:r>
            <a:r>
              <a:rPr lang="en-US" sz="1500" b="1" dirty="0">
                <a:solidFill>
                  <a:srgbClr val="F2B24C"/>
                </a:solidFill>
              </a:rPr>
              <a:t>[Train/Test ratio or N/A]</a:t>
            </a:r>
            <a:endParaRPr lang="en-US" sz="1500" dirty="0"/>
          </a:p>
        </p:txBody>
      </p:sp>
      <p:sp>
        <p:nvSpPr>
          <p:cNvPr id="3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DATASET &amp; FEATURE ENGINEERING</a:t>
            </a:r>
            <a:endParaRPr lang="en-US" sz="2800" dirty="0"/>
          </a:p>
        </p:txBody>
      </p:sp>
      <p:sp>
        <p:nvSpPr>
          <p:cNvPr id="3" name="Card dataset"/>
          <p:cNvSpPr/>
          <p:nvPr/>
        </p:nvSpPr>
        <p:spPr>
          <a:xfrm>
            <a:off x="548640" y="1143000"/>
            <a:ext cx="5669280" cy="3017520"/>
          </a:xfrm>
          <a:prstGeom prst="roundRect">
            <a:avLst>
              <a:gd name="adj" fmla="val 2424"/>
            </a:avLst>
          </a:prstGeom>
          <a:solidFill>
            <a:srgbClr val="0E172A">
              <a:alpha val="95000"/>
            </a:srgbClr>
          </a:solidFill>
          <a:ln w="12700">
            <a:solidFill>
              <a:srgbClr val="2A8FBF"/>
            </a:solidFill>
            <a:prstDash val="solid"/>
          </a:ln>
        </p:spPr>
      </p:sp>
      <p:pic>
        <p:nvPicPr>
          <p:cNvPr id="4" name="Icon DATASET" descr="DATASET"/>
          <p:cNvPicPr>
            <a:picLocks noChangeAspect="1"/>
          </p:cNvPicPr>
          <p:nvPr/>
        </p:nvPicPr>
        <p:blipFill>
          <a:blip r:embed="rId3"/>
          <a:stretch>
            <a:fillRect/>
          </a:stretch>
        </p:blipFill>
        <p:spPr>
          <a:xfrm>
            <a:off x="777240" y="1307592"/>
            <a:ext cx="292608" cy="292608"/>
          </a:xfrm>
          <a:prstGeom prst="rect">
            <a:avLst/>
          </a:prstGeom>
        </p:spPr>
      </p:pic>
      <p:sp>
        <p:nvSpPr>
          <p:cNvPr id="5" name="Heading DATASET"/>
          <p:cNvSpPr txBox="1"/>
          <p:nvPr/>
        </p:nvSpPr>
        <p:spPr>
          <a:xfrm>
            <a:off x="1179576" y="1307592"/>
            <a:ext cx="234086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DATASET</a:t>
            </a:r>
            <a:endParaRPr lang="en-US" sz="1400" dirty="0"/>
          </a:p>
        </p:txBody>
      </p:sp>
      <p:sp>
        <p:nvSpPr>
          <p:cNvPr id="6" name="Text 3"/>
          <p:cNvSpPr txBox="1"/>
          <p:nvPr/>
        </p:nvSpPr>
        <p:spPr>
          <a:xfrm>
            <a:off x="777240" y="1801368"/>
            <a:ext cx="1463040" cy="329184"/>
          </a:xfrm>
          <a:prstGeom prst="rect">
            <a:avLst/>
          </a:prstGeom>
          <a:noFill/>
          <a:ln/>
        </p:spPr>
        <p:txBody>
          <a:bodyPr wrap="square" lIns="0" tIns="0" rIns="0" bIns="0" rtlCol="0" anchor="ctr"/>
          <a:lstStyle/>
          <a:p>
            <a:pPr marL="0" indent="0">
              <a:buNone/>
            </a:pPr>
            <a:r>
              <a:rPr lang="en-US" sz="1300" b="1" dirty="0">
                <a:solidFill>
                  <a:srgbClr val="6CD9FF"/>
                </a:solidFill>
              </a:rPr>
              <a:t>Name</a:t>
            </a:r>
            <a:endParaRPr lang="en-US" sz="1300" dirty="0"/>
          </a:p>
        </p:txBody>
      </p:sp>
      <p:sp>
        <p:nvSpPr>
          <p:cNvPr id="7" name="Text 4"/>
          <p:cNvSpPr txBox="1"/>
          <p:nvPr/>
        </p:nvSpPr>
        <p:spPr>
          <a:xfrm>
            <a:off x="2286000" y="1801368"/>
            <a:ext cx="3749040" cy="329184"/>
          </a:xfrm>
          <a:prstGeom prst="rect">
            <a:avLst/>
          </a:prstGeom>
          <a:noFill/>
          <a:ln/>
        </p:spPr>
        <p:txBody>
          <a:bodyPr wrap="square" lIns="0" tIns="0" rIns="0" bIns="0" rtlCol="0" anchor="ctr"/>
          <a:lstStyle/>
          <a:p>
            <a:pPr marL="0" indent="0">
              <a:buNone/>
            </a:pPr>
            <a:r>
              <a:rPr lang="en-US" sz="1300" dirty="0">
                <a:solidFill>
                  <a:srgbClr val="E8F1FA"/>
                </a:solidFill>
              </a:rPr>
              <a:t>CERT Insider Threat Dataset (CMU SEI)</a:t>
            </a:r>
            <a:endParaRPr lang="en-US" sz="1300" dirty="0"/>
          </a:p>
        </p:txBody>
      </p:sp>
      <p:sp>
        <p:nvSpPr>
          <p:cNvPr id="10" name="Text 7"/>
          <p:cNvSpPr txBox="1"/>
          <p:nvPr/>
        </p:nvSpPr>
        <p:spPr>
          <a:xfrm>
            <a:off x="777240" y="2148840"/>
            <a:ext cx="1463040" cy="329184"/>
          </a:xfrm>
          <a:prstGeom prst="rect">
            <a:avLst/>
          </a:prstGeom>
          <a:noFill/>
          <a:ln/>
        </p:spPr>
        <p:txBody>
          <a:bodyPr wrap="square" lIns="0" tIns="0" rIns="0" bIns="0" rtlCol="0" anchor="ctr"/>
          <a:lstStyle/>
          <a:p>
            <a:pPr marL="0" indent="0">
              <a:buNone/>
            </a:pPr>
            <a:r>
              <a:rPr lang="en-US" sz="1300" b="1" dirty="0">
                <a:solidFill>
                  <a:srgbClr val="6CD9FF"/>
                </a:solidFill>
              </a:rPr>
              <a:t>Nature</a:t>
            </a:r>
            <a:endParaRPr lang="en-US" sz="1300" dirty="0"/>
          </a:p>
        </p:txBody>
      </p:sp>
      <p:sp>
        <p:nvSpPr>
          <p:cNvPr id="11" name="Text 8"/>
          <p:cNvSpPr txBox="1"/>
          <p:nvPr/>
        </p:nvSpPr>
        <p:spPr>
          <a:xfrm>
            <a:off x="2240280" y="2160853"/>
            <a:ext cx="3749040" cy="329184"/>
          </a:xfrm>
          <a:prstGeom prst="rect">
            <a:avLst/>
          </a:prstGeom>
          <a:noFill/>
          <a:ln/>
        </p:spPr>
        <p:txBody>
          <a:bodyPr wrap="square" lIns="0" tIns="0" rIns="0" bIns="0" rtlCol="0" anchor="ctr"/>
          <a:lstStyle/>
          <a:p>
            <a:pPr marL="0" indent="0">
              <a:buNone/>
            </a:pPr>
            <a:r>
              <a:rPr lang="en-US" sz="1300" dirty="0">
                <a:solidFill>
                  <a:srgbClr val="E8F1FA"/>
                </a:solidFill>
              </a:rPr>
              <a:t>Synthetic organizational activity data</a:t>
            </a:r>
            <a:endParaRPr lang="en-US" sz="1300" dirty="0"/>
          </a:p>
        </p:txBody>
      </p:sp>
      <p:sp>
        <p:nvSpPr>
          <p:cNvPr id="12" name="Text 9"/>
          <p:cNvSpPr txBox="1"/>
          <p:nvPr/>
        </p:nvSpPr>
        <p:spPr>
          <a:xfrm>
            <a:off x="777240" y="2441448"/>
            <a:ext cx="1463040" cy="329184"/>
          </a:xfrm>
          <a:prstGeom prst="rect">
            <a:avLst/>
          </a:prstGeom>
          <a:noFill/>
          <a:ln/>
        </p:spPr>
        <p:txBody>
          <a:bodyPr wrap="square" lIns="0" tIns="0" rIns="0" bIns="0" rtlCol="0" anchor="ctr"/>
          <a:lstStyle/>
          <a:p>
            <a:pPr marL="0" indent="0">
              <a:buNone/>
            </a:pPr>
            <a:r>
              <a:rPr lang="en-US" sz="1300" b="1" dirty="0">
                <a:solidFill>
                  <a:srgbClr val="6CD9FF"/>
                </a:solidFill>
              </a:rPr>
              <a:t>Log types</a:t>
            </a:r>
            <a:endParaRPr lang="en-US" sz="1300" dirty="0"/>
          </a:p>
        </p:txBody>
      </p:sp>
      <p:sp>
        <p:nvSpPr>
          <p:cNvPr id="13" name="Text 10"/>
          <p:cNvSpPr txBox="1"/>
          <p:nvPr/>
        </p:nvSpPr>
        <p:spPr>
          <a:xfrm>
            <a:off x="2240280" y="2423160"/>
            <a:ext cx="3749040" cy="329184"/>
          </a:xfrm>
          <a:prstGeom prst="rect">
            <a:avLst/>
          </a:prstGeom>
          <a:noFill/>
          <a:ln/>
        </p:spPr>
        <p:txBody>
          <a:bodyPr wrap="square" lIns="0" tIns="0" rIns="0" bIns="0" rtlCol="0" anchor="ctr"/>
          <a:lstStyle/>
          <a:p>
            <a:pPr marL="0" indent="0">
              <a:buNone/>
            </a:pPr>
            <a:r>
              <a:rPr lang="en-US" sz="1300" dirty="0">
                <a:solidFill>
                  <a:srgbClr val="E8F1FA"/>
                </a:solidFill>
              </a:rPr>
              <a:t>Logon/logoff, file, email, web browsing, device usage</a:t>
            </a:r>
            <a:endParaRPr lang="en-US" sz="1300" dirty="0"/>
          </a:p>
        </p:txBody>
      </p:sp>
      <p:sp>
        <p:nvSpPr>
          <p:cNvPr id="14" name="Text 11"/>
          <p:cNvSpPr txBox="1"/>
          <p:nvPr/>
        </p:nvSpPr>
        <p:spPr>
          <a:xfrm>
            <a:off x="777240" y="2800933"/>
            <a:ext cx="1463040" cy="329184"/>
          </a:xfrm>
          <a:prstGeom prst="rect">
            <a:avLst/>
          </a:prstGeom>
          <a:noFill/>
          <a:ln/>
        </p:spPr>
        <p:txBody>
          <a:bodyPr wrap="square" lIns="0" tIns="0" rIns="0" bIns="0" rtlCol="0" anchor="ctr"/>
          <a:lstStyle/>
          <a:p>
            <a:pPr marL="0" indent="0">
              <a:buNone/>
            </a:pPr>
            <a:r>
              <a:rPr lang="en-US" sz="1300" b="1" dirty="0">
                <a:solidFill>
                  <a:srgbClr val="6CD9FF"/>
                </a:solidFill>
              </a:rPr>
              <a:t>Records used</a:t>
            </a:r>
            <a:endParaRPr lang="en-US" sz="1300" dirty="0"/>
          </a:p>
        </p:txBody>
      </p:sp>
      <p:sp>
        <p:nvSpPr>
          <p:cNvPr id="15" name="Text 12"/>
          <p:cNvSpPr txBox="1"/>
          <p:nvPr/>
        </p:nvSpPr>
        <p:spPr>
          <a:xfrm>
            <a:off x="2240280" y="2761488"/>
            <a:ext cx="3749040" cy="329184"/>
          </a:xfrm>
          <a:prstGeom prst="rect">
            <a:avLst/>
          </a:prstGeom>
          <a:noFill/>
          <a:ln/>
        </p:spPr>
        <p:txBody>
          <a:bodyPr wrap="square" lIns="0" tIns="0" rIns="0" bIns="0" rtlCol="0" anchor="ctr"/>
          <a:lstStyle/>
          <a:p>
            <a:pPr marL="0" indent="0">
              <a:buNone/>
            </a:pPr>
            <a:r>
              <a:rPr lang="en-US" sz="1300" b="1" dirty="0">
                <a:solidFill>
                  <a:srgbClr val="F2B24C"/>
                </a:solidFill>
              </a:rPr>
              <a:t>2000</a:t>
            </a:r>
            <a:endParaRPr lang="en-US" sz="1300" dirty="0"/>
          </a:p>
        </p:txBody>
      </p:sp>
      <p:sp>
        <p:nvSpPr>
          <p:cNvPr id="16" name="Text 13"/>
          <p:cNvSpPr txBox="1"/>
          <p:nvPr/>
        </p:nvSpPr>
        <p:spPr>
          <a:xfrm>
            <a:off x="764510" y="3141323"/>
            <a:ext cx="1463040" cy="329184"/>
          </a:xfrm>
          <a:prstGeom prst="rect">
            <a:avLst/>
          </a:prstGeom>
          <a:noFill/>
          <a:ln/>
        </p:spPr>
        <p:txBody>
          <a:bodyPr wrap="square" lIns="0" tIns="0" rIns="0" bIns="0" rtlCol="0" anchor="ctr"/>
          <a:lstStyle/>
          <a:p>
            <a:pPr marL="0" indent="0">
              <a:buNone/>
            </a:pPr>
            <a:r>
              <a:rPr lang="en-US" sz="1300" b="1" dirty="0">
                <a:solidFill>
                  <a:srgbClr val="6CD9FF"/>
                </a:solidFill>
              </a:rPr>
              <a:t>Users / insiders</a:t>
            </a:r>
            <a:endParaRPr lang="en-US" sz="1300" dirty="0"/>
          </a:p>
        </p:txBody>
      </p:sp>
      <p:sp>
        <p:nvSpPr>
          <p:cNvPr id="17" name="Text 14"/>
          <p:cNvSpPr txBox="1"/>
          <p:nvPr/>
        </p:nvSpPr>
        <p:spPr>
          <a:xfrm>
            <a:off x="2255368" y="3180498"/>
            <a:ext cx="3749040" cy="329184"/>
          </a:xfrm>
          <a:prstGeom prst="rect">
            <a:avLst/>
          </a:prstGeom>
          <a:noFill/>
          <a:ln/>
        </p:spPr>
        <p:txBody>
          <a:bodyPr wrap="square" lIns="0" tIns="0" rIns="0" bIns="0" rtlCol="0" anchor="ctr"/>
          <a:lstStyle/>
          <a:p>
            <a:pPr marL="0" indent="0">
              <a:buNone/>
            </a:pPr>
            <a:r>
              <a:rPr lang="en-US" sz="1300" b="1" dirty="0">
                <a:solidFill>
                  <a:srgbClr val="F2B24C"/>
                </a:solidFill>
              </a:rPr>
              <a:t>2000</a:t>
            </a:r>
            <a:r>
              <a:rPr lang="en-US" sz="1300" dirty="0">
                <a:solidFill>
                  <a:srgbClr val="E8F1FA"/>
                </a:solidFill>
              </a:rPr>
              <a:t> / </a:t>
            </a:r>
            <a:r>
              <a:rPr lang="en-US" sz="1300" b="1" dirty="0">
                <a:solidFill>
                  <a:srgbClr val="F2B24C"/>
                </a:solidFill>
              </a:rPr>
              <a:t>230</a:t>
            </a:r>
            <a:endParaRPr lang="en-US" sz="1300" dirty="0"/>
          </a:p>
        </p:txBody>
      </p:sp>
      <p:sp>
        <p:nvSpPr>
          <p:cNvPr id="18" name="Card features"/>
          <p:cNvSpPr/>
          <p:nvPr/>
        </p:nvSpPr>
        <p:spPr>
          <a:xfrm>
            <a:off x="6492240" y="1143000"/>
            <a:ext cx="5150815" cy="3017520"/>
          </a:xfrm>
          <a:prstGeom prst="roundRect">
            <a:avLst>
              <a:gd name="adj" fmla="val 2424"/>
            </a:avLst>
          </a:prstGeom>
          <a:solidFill>
            <a:srgbClr val="0E172A">
              <a:alpha val="95000"/>
            </a:srgbClr>
          </a:solidFill>
          <a:ln w="12700">
            <a:solidFill>
              <a:srgbClr val="F2B24C"/>
            </a:solidFill>
            <a:prstDash val="dash"/>
          </a:ln>
        </p:spPr>
      </p:sp>
      <p:pic>
        <p:nvPicPr>
          <p:cNvPr id="19" name="Icon BEHAVIORAL FEATURES" descr="BEHAVIORAL FEATURES"/>
          <p:cNvPicPr>
            <a:picLocks noChangeAspect="1"/>
          </p:cNvPicPr>
          <p:nvPr/>
        </p:nvPicPr>
        <p:blipFill>
          <a:blip r:embed="rId4"/>
          <a:stretch>
            <a:fillRect/>
          </a:stretch>
        </p:blipFill>
        <p:spPr>
          <a:xfrm>
            <a:off x="6720840" y="1307592"/>
            <a:ext cx="292608" cy="292608"/>
          </a:xfrm>
          <a:prstGeom prst="rect">
            <a:avLst/>
          </a:prstGeom>
        </p:spPr>
      </p:pic>
      <p:sp>
        <p:nvSpPr>
          <p:cNvPr id="20" name="Heading BEHAVIORAL FEATURES"/>
          <p:cNvSpPr txBox="1"/>
          <p:nvPr/>
        </p:nvSpPr>
        <p:spPr>
          <a:xfrm>
            <a:off x="7123176" y="1307592"/>
            <a:ext cx="2889504" cy="292608"/>
          </a:xfrm>
          <a:prstGeom prst="rect">
            <a:avLst/>
          </a:prstGeom>
          <a:noFill/>
          <a:ln/>
        </p:spPr>
        <p:txBody>
          <a:bodyPr wrap="square" lIns="0" tIns="0" rIns="0" bIns="0" rtlCol="0" anchor="ctr"/>
          <a:lstStyle/>
          <a:p>
            <a:pPr marL="0" indent="0">
              <a:buNone/>
            </a:pPr>
            <a:r>
              <a:rPr lang="en-US" sz="1400" b="1" kern="0" spc="150" dirty="0">
                <a:solidFill>
                  <a:srgbClr val="F2B24C"/>
                </a:solidFill>
              </a:rPr>
              <a:t>BEHAVIORAL FEATURES</a:t>
            </a:r>
            <a:endParaRPr lang="en-US" sz="1400" dirty="0"/>
          </a:p>
        </p:txBody>
      </p:sp>
      <p:sp>
        <p:nvSpPr>
          <p:cNvPr id="21" name="Tag ILLUSTRATIVE"/>
          <p:cNvSpPr txBox="1"/>
          <p:nvPr/>
        </p:nvSpPr>
        <p:spPr>
          <a:xfrm>
            <a:off x="10134295" y="1335024"/>
            <a:ext cx="1280160" cy="237744"/>
          </a:xfrm>
          <a:prstGeom prst="roundRect">
            <a:avLst>
              <a:gd name="adj" fmla="val 50000"/>
            </a:avLst>
          </a:prstGeom>
          <a:solidFill>
            <a:srgbClr val="08121F"/>
          </a:solidFill>
          <a:ln w="12700">
            <a:solidFill>
              <a:srgbClr val="F2B24C"/>
            </a:solidFill>
          </a:ln>
        </p:spPr>
        <p:txBody>
          <a:bodyPr wrap="square" lIns="0" tIns="0" rIns="0" bIns="0" rtlCol="0" anchor="ctr"/>
          <a:lstStyle/>
          <a:p>
            <a:pPr marL="0" indent="0" algn="ctr">
              <a:buNone/>
            </a:pPr>
            <a:r>
              <a:rPr lang="en-US" sz="1000" b="1" kern="0" spc="100" dirty="0">
                <a:solidFill>
                  <a:srgbClr val="F2B24C"/>
                </a:solidFill>
              </a:rPr>
              <a:t>ILLUSTRATIVE</a:t>
            </a:r>
            <a:endParaRPr lang="en-US" sz="1000" dirty="0"/>
          </a:p>
        </p:txBody>
      </p:sp>
      <p:sp>
        <p:nvSpPr>
          <p:cNvPr id="22" name="Bullets"/>
          <p:cNvSpPr txBox="1"/>
          <p:nvPr/>
        </p:nvSpPr>
        <p:spPr>
          <a:xfrm>
            <a:off x="6720840" y="1801368"/>
            <a:ext cx="4693615" cy="178308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rgbClr val="E8F1FA"/>
                </a:solidFill>
              </a:rPr>
              <a:t>Login time and frequency</a:t>
            </a:r>
            <a:endParaRPr lang="en-US" sz="1500" dirty="0"/>
          </a:p>
          <a:p>
            <a:pPr marL="203200" indent="-203200">
              <a:spcAft>
                <a:spcPts val="500"/>
              </a:spcAft>
              <a:buSzPct val="100000"/>
              <a:buChar char="•"/>
            </a:pPr>
            <a:r>
              <a:rPr lang="en-US" sz="1500" dirty="0">
                <a:solidFill>
                  <a:srgbClr val="E8F1FA"/>
                </a:solidFill>
              </a:rPr>
              <a:t>File access patterns</a:t>
            </a:r>
            <a:endParaRPr lang="en-US" sz="1500" dirty="0"/>
          </a:p>
          <a:p>
            <a:pPr marL="203200" indent="-203200">
              <a:spcAft>
                <a:spcPts val="500"/>
              </a:spcAft>
              <a:buSzPct val="100000"/>
              <a:buChar char="•"/>
            </a:pPr>
            <a:r>
              <a:rPr lang="en-US" sz="1500" dirty="0">
                <a:solidFill>
                  <a:srgbClr val="E8F1FA"/>
                </a:solidFill>
              </a:rPr>
              <a:t>Data transfer volume</a:t>
            </a:r>
            <a:endParaRPr lang="en-US" sz="1500" dirty="0"/>
          </a:p>
          <a:p>
            <a:pPr marL="203200" indent="-203200">
              <a:spcAft>
                <a:spcPts val="500"/>
              </a:spcAft>
              <a:buSzPct val="100000"/>
              <a:buChar char="•"/>
            </a:pPr>
            <a:r>
              <a:rPr lang="en-US" sz="1500" dirty="0">
                <a:solidFill>
                  <a:srgbClr val="E8F1FA"/>
                </a:solidFill>
              </a:rPr>
              <a:t>Access to unusual resources</a:t>
            </a:r>
            <a:endParaRPr lang="en-US" sz="1500" dirty="0"/>
          </a:p>
          <a:p>
            <a:pPr marL="203200" indent="-203200">
              <a:spcAft>
                <a:spcPts val="500"/>
              </a:spcAft>
              <a:buSzPct val="100000"/>
              <a:buChar char="•"/>
            </a:pPr>
            <a:r>
              <a:rPr lang="en-US" sz="1500" dirty="0">
                <a:solidFill>
                  <a:srgbClr val="E8F1FA"/>
                </a:solidFill>
              </a:rPr>
              <a:t>Deviation from the user's own normal activity</a:t>
            </a:r>
            <a:endParaRPr lang="en-US" sz="1500" dirty="0"/>
          </a:p>
        </p:txBody>
      </p:sp>
      <p:sp>
        <p:nvSpPr>
          <p:cNvPr id="24" name="Card preprocessing"/>
          <p:cNvSpPr/>
          <p:nvPr/>
        </p:nvSpPr>
        <p:spPr>
          <a:xfrm>
            <a:off x="548640" y="4389120"/>
            <a:ext cx="11094415" cy="1920240"/>
          </a:xfrm>
          <a:prstGeom prst="roundRect">
            <a:avLst>
              <a:gd name="adj" fmla="val 3810"/>
            </a:avLst>
          </a:prstGeom>
          <a:solidFill>
            <a:srgbClr val="0E172A">
              <a:alpha val="95000"/>
            </a:srgbClr>
          </a:solidFill>
          <a:ln w="12700">
            <a:solidFill>
              <a:srgbClr val="2A8FBF"/>
            </a:solidFill>
            <a:prstDash val="solid"/>
          </a:ln>
        </p:spPr>
      </p:sp>
      <p:pic>
        <p:nvPicPr>
          <p:cNvPr id="25" name="Icon PREPROCESSING (CONFIRM WHICH WERE APPLIED)" descr="PREPROCESSING (CONFIRM WHICH WERE APPLIED)"/>
          <p:cNvPicPr>
            <a:picLocks noChangeAspect="1"/>
          </p:cNvPicPr>
          <p:nvPr/>
        </p:nvPicPr>
        <p:blipFill>
          <a:blip r:embed="rId5"/>
          <a:stretch>
            <a:fillRect/>
          </a:stretch>
        </p:blipFill>
        <p:spPr>
          <a:xfrm>
            <a:off x="777240" y="4553712"/>
            <a:ext cx="292608" cy="292608"/>
          </a:xfrm>
          <a:prstGeom prst="rect">
            <a:avLst/>
          </a:prstGeom>
        </p:spPr>
      </p:pic>
      <p:sp>
        <p:nvSpPr>
          <p:cNvPr id="26" name="Heading PREPROCESSING (CONFIRM WHICH WERE APPLIED)"/>
          <p:cNvSpPr txBox="1"/>
          <p:nvPr/>
        </p:nvSpPr>
        <p:spPr>
          <a:xfrm>
            <a:off x="1179576" y="4553712"/>
            <a:ext cx="691286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PREPROCESSING (CONFIRM WHICH WERE APPLIED)</a:t>
            </a:r>
            <a:endParaRPr lang="en-US" sz="1400" dirty="0"/>
          </a:p>
        </p:txBody>
      </p:sp>
      <p:sp>
        <p:nvSpPr>
          <p:cNvPr id="27" name="Box Missing values"/>
          <p:cNvSpPr/>
          <p:nvPr/>
        </p:nvSpPr>
        <p:spPr>
          <a:xfrm>
            <a:off x="777240" y="5029200"/>
            <a:ext cx="2522144" cy="1051560"/>
          </a:xfrm>
          <a:prstGeom prst="roundRect">
            <a:avLst>
              <a:gd name="adj" fmla="val 6957"/>
            </a:avLst>
          </a:prstGeom>
          <a:solidFill>
            <a:srgbClr val="0A1426"/>
          </a:solidFill>
          <a:ln w="12700">
            <a:solidFill>
              <a:srgbClr val="2A8FBF"/>
            </a:solidFill>
            <a:prstDash val="solid"/>
          </a:ln>
        </p:spPr>
      </p:sp>
      <p:sp>
        <p:nvSpPr>
          <p:cNvPr id="28" name="Text 23"/>
          <p:cNvSpPr txBox="1"/>
          <p:nvPr/>
        </p:nvSpPr>
        <p:spPr>
          <a:xfrm>
            <a:off x="914400" y="5102352"/>
            <a:ext cx="2247824" cy="274320"/>
          </a:xfrm>
          <a:prstGeom prst="rect">
            <a:avLst/>
          </a:prstGeom>
          <a:noFill/>
          <a:ln/>
        </p:spPr>
        <p:txBody>
          <a:bodyPr wrap="square" lIns="0" tIns="0" rIns="0" bIns="0" rtlCol="0" anchor="t"/>
          <a:lstStyle/>
          <a:p>
            <a:pPr marL="0" indent="0">
              <a:buNone/>
            </a:pPr>
            <a:r>
              <a:rPr lang="en-US" sz="1400" b="1" dirty="0">
                <a:solidFill>
                  <a:srgbClr val="FFFFFF"/>
                </a:solidFill>
              </a:rPr>
              <a:t>Missing values</a:t>
            </a:r>
            <a:endParaRPr lang="en-US" sz="1400" dirty="0"/>
          </a:p>
        </p:txBody>
      </p:sp>
      <p:sp>
        <p:nvSpPr>
          <p:cNvPr id="29" name="Text 24"/>
          <p:cNvSpPr txBox="1"/>
          <p:nvPr/>
        </p:nvSpPr>
        <p:spPr>
          <a:xfrm>
            <a:off x="914400" y="5486400"/>
            <a:ext cx="2247824" cy="502920"/>
          </a:xfrm>
          <a:prstGeom prst="rect">
            <a:avLst/>
          </a:prstGeom>
          <a:noFill/>
          <a:ln/>
        </p:spPr>
        <p:txBody>
          <a:bodyPr wrap="square" lIns="0" tIns="0" rIns="0" bIns="0" rtlCol="0" anchor="t"/>
          <a:lstStyle/>
          <a:p>
            <a:pPr marL="0" indent="0">
              <a:buNone/>
            </a:pPr>
            <a:r>
              <a:rPr lang="en-US" sz="1300" b="1" dirty="0">
                <a:solidFill>
                  <a:srgbClr val="F2B24C"/>
                </a:solidFill>
              </a:rPr>
              <a:t>Used</a:t>
            </a:r>
            <a:endParaRPr lang="en-US" sz="1300" dirty="0"/>
          </a:p>
        </p:txBody>
      </p:sp>
      <p:sp>
        <p:nvSpPr>
          <p:cNvPr id="30" name="Box Encoding"/>
          <p:cNvSpPr/>
          <p:nvPr/>
        </p:nvSpPr>
        <p:spPr>
          <a:xfrm>
            <a:off x="3482264" y="5029200"/>
            <a:ext cx="2522144" cy="1051560"/>
          </a:xfrm>
          <a:prstGeom prst="roundRect">
            <a:avLst>
              <a:gd name="adj" fmla="val 6957"/>
            </a:avLst>
          </a:prstGeom>
          <a:solidFill>
            <a:srgbClr val="0A1426"/>
          </a:solidFill>
          <a:ln w="12700">
            <a:solidFill>
              <a:srgbClr val="2A8FBF"/>
            </a:solidFill>
            <a:prstDash val="solid"/>
          </a:ln>
        </p:spPr>
      </p:sp>
      <p:sp>
        <p:nvSpPr>
          <p:cNvPr id="31" name="Text 26"/>
          <p:cNvSpPr txBox="1"/>
          <p:nvPr/>
        </p:nvSpPr>
        <p:spPr>
          <a:xfrm>
            <a:off x="3619424" y="5102352"/>
            <a:ext cx="2247824" cy="274320"/>
          </a:xfrm>
          <a:prstGeom prst="rect">
            <a:avLst/>
          </a:prstGeom>
          <a:noFill/>
          <a:ln/>
        </p:spPr>
        <p:txBody>
          <a:bodyPr wrap="square" lIns="0" tIns="0" rIns="0" bIns="0" rtlCol="0" anchor="t"/>
          <a:lstStyle/>
          <a:p>
            <a:pPr marL="0" indent="0">
              <a:buNone/>
            </a:pPr>
            <a:r>
              <a:rPr lang="en-US" sz="1400" b="1" dirty="0">
                <a:solidFill>
                  <a:srgbClr val="FFFFFF"/>
                </a:solidFill>
              </a:rPr>
              <a:t>Encoding</a:t>
            </a:r>
            <a:endParaRPr lang="en-US" sz="1400" dirty="0"/>
          </a:p>
        </p:txBody>
      </p:sp>
      <p:sp>
        <p:nvSpPr>
          <p:cNvPr id="32" name="Text 27"/>
          <p:cNvSpPr txBox="1"/>
          <p:nvPr/>
        </p:nvSpPr>
        <p:spPr>
          <a:xfrm>
            <a:off x="3619424" y="5486400"/>
            <a:ext cx="2247824" cy="502920"/>
          </a:xfrm>
          <a:prstGeom prst="rect">
            <a:avLst/>
          </a:prstGeom>
          <a:noFill/>
          <a:ln/>
        </p:spPr>
        <p:txBody>
          <a:bodyPr wrap="square" lIns="0" tIns="0" rIns="0" bIns="0" rtlCol="0" anchor="t"/>
          <a:lstStyle/>
          <a:p>
            <a:pPr marL="0" indent="0">
              <a:buNone/>
            </a:pPr>
            <a:r>
              <a:rPr lang="en-US" sz="1300" b="1" dirty="0">
                <a:solidFill>
                  <a:srgbClr val="F2B24C"/>
                </a:solidFill>
              </a:rPr>
              <a:t>Used</a:t>
            </a:r>
            <a:endParaRPr lang="en-US" sz="1300" dirty="0"/>
          </a:p>
        </p:txBody>
      </p:sp>
      <p:sp>
        <p:nvSpPr>
          <p:cNvPr id="33" name="Box Normalization"/>
          <p:cNvSpPr/>
          <p:nvPr/>
        </p:nvSpPr>
        <p:spPr>
          <a:xfrm>
            <a:off x="6187288" y="5029200"/>
            <a:ext cx="2522144" cy="1051560"/>
          </a:xfrm>
          <a:prstGeom prst="roundRect">
            <a:avLst>
              <a:gd name="adj" fmla="val 6957"/>
            </a:avLst>
          </a:prstGeom>
          <a:solidFill>
            <a:srgbClr val="0A1426"/>
          </a:solidFill>
          <a:ln w="12700">
            <a:solidFill>
              <a:srgbClr val="2A8FBF"/>
            </a:solidFill>
            <a:prstDash val="solid"/>
          </a:ln>
        </p:spPr>
      </p:sp>
      <p:sp>
        <p:nvSpPr>
          <p:cNvPr id="34" name="Text 29"/>
          <p:cNvSpPr txBox="1"/>
          <p:nvPr/>
        </p:nvSpPr>
        <p:spPr>
          <a:xfrm>
            <a:off x="6324448" y="5102352"/>
            <a:ext cx="2247824" cy="274320"/>
          </a:xfrm>
          <a:prstGeom prst="rect">
            <a:avLst/>
          </a:prstGeom>
          <a:noFill/>
          <a:ln/>
        </p:spPr>
        <p:txBody>
          <a:bodyPr wrap="square" lIns="0" tIns="0" rIns="0" bIns="0" rtlCol="0" anchor="t"/>
          <a:lstStyle/>
          <a:p>
            <a:pPr marL="0" indent="0">
              <a:buNone/>
            </a:pPr>
            <a:r>
              <a:rPr lang="en-US" sz="1400" b="1" dirty="0">
                <a:solidFill>
                  <a:srgbClr val="FFFFFF"/>
                </a:solidFill>
              </a:rPr>
              <a:t>Normalization</a:t>
            </a:r>
            <a:endParaRPr lang="en-US" sz="1400" dirty="0"/>
          </a:p>
        </p:txBody>
      </p:sp>
      <p:sp>
        <p:nvSpPr>
          <p:cNvPr id="35" name="Text 30"/>
          <p:cNvSpPr txBox="1"/>
          <p:nvPr/>
        </p:nvSpPr>
        <p:spPr>
          <a:xfrm>
            <a:off x="6324448" y="5486400"/>
            <a:ext cx="2247824" cy="502920"/>
          </a:xfrm>
          <a:prstGeom prst="rect">
            <a:avLst/>
          </a:prstGeom>
          <a:noFill/>
          <a:ln/>
        </p:spPr>
        <p:txBody>
          <a:bodyPr wrap="square" lIns="0" tIns="0" rIns="0" bIns="0" rtlCol="0" anchor="t"/>
          <a:lstStyle/>
          <a:p>
            <a:pPr marL="0" indent="0">
              <a:buNone/>
            </a:pPr>
            <a:r>
              <a:rPr lang="en-US" sz="1300" b="1" dirty="0">
                <a:solidFill>
                  <a:srgbClr val="F2B24C"/>
                </a:solidFill>
              </a:rPr>
              <a:t>Used</a:t>
            </a:r>
            <a:endParaRPr lang="en-US" sz="1300" dirty="0"/>
          </a:p>
        </p:txBody>
      </p:sp>
      <p:sp>
        <p:nvSpPr>
          <p:cNvPr id="36" name="Box Feature selection"/>
          <p:cNvSpPr/>
          <p:nvPr/>
        </p:nvSpPr>
        <p:spPr>
          <a:xfrm>
            <a:off x="8892311" y="5029200"/>
            <a:ext cx="2522144" cy="1051560"/>
          </a:xfrm>
          <a:prstGeom prst="roundRect">
            <a:avLst>
              <a:gd name="adj" fmla="val 6957"/>
            </a:avLst>
          </a:prstGeom>
          <a:solidFill>
            <a:srgbClr val="0A1426"/>
          </a:solidFill>
          <a:ln w="12700">
            <a:solidFill>
              <a:srgbClr val="2A8FBF"/>
            </a:solidFill>
            <a:prstDash val="solid"/>
          </a:ln>
        </p:spPr>
      </p:sp>
      <p:sp>
        <p:nvSpPr>
          <p:cNvPr id="37" name="Text 32"/>
          <p:cNvSpPr txBox="1"/>
          <p:nvPr/>
        </p:nvSpPr>
        <p:spPr>
          <a:xfrm>
            <a:off x="9029471" y="5102352"/>
            <a:ext cx="2247824" cy="274320"/>
          </a:xfrm>
          <a:prstGeom prst="rect">
            <a:avLst/>
          </a:prstGeom>
          <a:noFill/>
          <a:ln/>
        </p:spPr>
        <p:txBody>
          <a:bodyPr wrap="square" lIns="0" tIns="0" rIns="0" bIns="0" rtlCol="0" anchor="t"/>
          <a:lstStyle/>
          <a:p>
            <a:pPr marL="0" indent="0">
              <a:buNone/>
            </a:pPr>
            <a:r>
              <a:rPr lang="en-US" sz="1400" b="1" dirty="0">
                <a:solidFill>
                  <a:srgbClr val="FFFFFF"/>
                </a:solidFill>
              </a:rPr>
              <a:t>Feature selection</a:t>
            </a:r>
            <a:endParaRPr lang="en-US" sz="1400" dirty="0"/>
          </a:p>
        </p:txBody>
      </p:sp>
      <p:sp>
        <p:nvSpPr>
          <p:cNvPr id="38" name="Text 33"/>
          <p:cNvSpPr txBox="1"/>
          <p:nvPr/>
        </p:nvSpPr>
        <p:spPr>
          <a:xfrm>
            <a:off x="9029471" y="5486400"/>
            <a:ext cx="2247824" cy="502920"/>
          </a:xfrm>
          <a:prstGeom prst="rect">
            <a:avLst/>
          </a:prstGeom>
          <a:noFill/>
          <a:ln/>
        </p:spPr>
        <p:txBody>
          <a:bodyPr wrap="square" lIns="0" tIns="0" rIns="0" bIns="0" rtlCol="0" anchor="t"/>
          <a:lstStyle/>
          <a:p>
            <a:pPr marL="0" indent="0">
              <a:buNone/>
            </a:pPr>
            <a:r>
              <a:rPr lang="en-US" sz="1300" b="1" dirty="0">
                <a:solidFill>
                  <a:srgbClr val="F2B24C"/>
                </a:solidFill>
              </a:rPr>
              <a:t>Used</a:t>
            </a:r>
            <a:endParaRPr lang="en-US" sz="1300" dirty="0"/>
          </a:p>
        </p:txBody>
      </p:sp>
      <p:sp>
        <p:nvSpPr>
          <p:cNvPr id="39"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MACHINE LEARNING ALGORITHM</a:t>
            </a:r>
            <a:endParaRPr lang="en-US" sz="2800" dirty="0"/>
          </a:p>
        </p:txBody>
      </p:sp>
      <p:sp>
        <p:nvSpPr>
          <p:cNvPr id="3" name="Card algorithm used"/>
          <p:cNvSpPr/>
          <p:nvPr/>
        </p:nvSpPr>
        <p:spPr>
          <a:xfrm>
            <a:off x="548640" y="996696"/>
            <a:ext cx="11094415" cy="822960"/>
          </a:xfrm>
          <a:prstGeom prst="roundRect">
            <a:avLst>
              <a:gd name="adj" fmla="val 8889"/>
            </a:avLst>
          </a:prstGeom>
          <a:solidFill>
            <a:srgbClr val="0E172A">
              <a:alpha val="95000"/>
            </a:srgbClr>
          </a:solidFill>
          <a:ln w="19050">
            <a:solidFill>
              <a:srgbClr val="F2B24C"/>
            </a:solidFill>
            <a:prstDash val="solid"/>
          </a:ln>
        </p:spPr>
      </p:sp>
      <p:sp>
        <p:nvSpPr>
          <p:cNvPr id="4" name="Text 2"/>
          <p:cNvSpPr txBox="1"/>
          <p:nvPr/>
        </p:nvSpPr>
        <p:spPr>
          <a:xfrm>
            <a:off x="823265" y="1035961"/>
            <a:ext cx="2377440" cy="822960"/>
          </a:xfrm>
          <a:prstGeom prst="rect">
            <a:avLst/>
          </a:prstGeom>
          <a:noFill/>
          <a:ln/>
        </p:spPr>
        <p:txBody>
          <a:bodyPr wrap="square" lIns="0" tIns="0" rIns="0" bIns="0" rtlCol="0" anchor="ctr"/>
          <a:lstStyle/>
          <a:p>
            <a:pPr marL="0" indent="0">
              <a:buNone/>
            </a:pPr>
            <a:r>
              <a:rPr lang="en-US" sz="1300" b="1" kern="0" spc="150" dirty="0">
                <a:solidFill>
                  <a:srgbClr val="6CD9FF"/>
                </a:solidFill>
              </a:rPr>
              <a:t>ALGORITHM USED</a:t>
            </a:r>
            <a:endParaRPr lang="en-US" sz="1300" dirty="0"/>
          </a:p>
        </p:txBody>
      </p:sp>
      <p:sp>
        <p:nvSpPr>
          <p:cNvPr id="5" name="Text 3"/>
          <p:cNvSpPr txBox="1"/>
          <p:nvPr/>
        </p:nvSpPr>
        <p:spPr>
          <a:xfrm>
            <a:off x="3017520" y="1000281"/>
            <a:ext cx="8168335" cy="822960"/>
          </a:xfrm>
          <a:prstGeom prst="rect">
            <a:avLst/>
          </a:prstGeom>
          <a:noFill/>
          <a:ln/>
        </p:spPr>
        <p:txBody>
          <a:bodyPr wrap="square" lIns="0" tIns="0" rIns="0" bIns="0" rtlCol="0" anchor="ctr"/>
          <a:lstStyle/>
          <a:p>
            <a:pPr marL="0" indent="0">
              <a:buNone/>
            </a:pPr>
            <a:r>
              <a:rPr lang="en-US" sz="2200" b="1" dirty="0">
                <a:solidFill>
                  <a:srgbClr val="F2B24C"/>
                </a:solidFill>
              </a:rPr>
              <a:t>ELASTIC NET REGULARIZED LOGISTIC REGRESSION</a:t>
            </a:r>
            <a:endParaRPr lang="en-US" sz="2200" dirty="0"/>
          </a:p>
        </p:txBody>
      </p:sp>
      <p:sp>
        <p:nvSpPr>
          <p:cNvPr id="6" name="Card algorithm details"/>
          <p:cNvSpPr/>
          <p:nvPr/>
        </p:nvSpPr>
        <p:spPr>
          <a:xfrm>
            <a:off x="548640" y="2148840"/>
            <a:ext cx="5486400" cy="2674172"/>
          </a:xfrm>
          <a:prstGeom prst="roundRect">
            <a:avLst>
              <a:gd name="adj" fmla="val 3077"/>
            </a:avLst>
          </a:prstGeom>
          <a:solidFill>
            <a:srgbClr val="0E172A">
              <a:alpha val="95000"/>
            </a:srgbClr>
          </a:solidFill>
          <a:ln w="12700">
            <a:solidFill>
              <a:srgbClr val="2A8FBF"/>
            </a:solidFill>
            <a:prstDash val="solid"/>
          </a:ln>
        </p:spPr>
      </p:sp>
      <p:pic>
        <p:nvPicPr>
          <p:cNvPr id="7" name="Icon YOUR ALGORITHM: DETAILS" descr="YOUR ALGORITHM: DETAILS"/>
          <p:cNvPicPr>
            <a:picLocks noChangeAspect="1"/>
          </p:cNvPicPr>
          <p:nvPr/>
        </p:nvPicPr>
        <p:blipFill>
          <a:blip r:embed="rId3"/>
          <a:stretch>
            <a:fillRect/>
          </a:stretch>
        </p:blipFill>
        <p:spPr>
          <a:xfrm>
            <a:off x="777240" y="2194560"/>
            <a:ext cx="292608" cy="292608"/>
          </a:xfrm>
          <a:prstGeom prst="rect">
            <a:avLst/>
          </a:prstGeom>
        </p:spPr>
      </p:pic>
      <p:sp>
        <p:nvSpPr>
          <p:cNvPr id="8" name="Heading YOUR ALGORITHM: DETAILS"/>
          <p:cNvSpPr txBox="1"/>
          <p:nvPr/>
        </p:nvSpPr>
        <p:spPr>
          <a:xfrm>
            <a:off x="1078992" y="2136423"/>
            <a:ext cx="471830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YOUR ALGORITHM: DETAILS</a:t>
            </a:r>
            <a:endParaRPr lang="en-US" sz="1400" dirty="0"/>
          </a:p>
        </p:txBody>
      </p:sp>
      <p:sp>
        <p:nvSpPr>
          <p:cNvPr id="9" name="Bullets"/>
          <p:cNvSpPr txBox="1"/>
          <p:nvPr/>
        </p:nvSpPr>
        <p:spPr>
          <a:xfrm>
            <a:off x="768096" y="2427732"/>
            <a:ext cx="5029200" cy="2098548"/>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rgbClr val="6CD9FF"/>
                </a:solidFill>
              </a:rPr>
              <a:t>Principle: </a:t>
            </a:r>
            <a:r>
              <a:rPr lang="en-US" sz="1200" dirty="0">
                <a:solidFill>
                  <a:schemeClr val="accent4">
                    <a:lumMod val="75000"/>
                  </a:schemeClr>
                </a:solidFill>
              </a:rPr>
              <a:t>Logistic Regression predicts the probability of suspicious activity, while Elastic Net combines L1 and L2 regularization to control model complexity and reduce overfitting</a:t>
            </a:r>
            <a:r>
              <a:rPr lang="en-US" sz="1600" dirty="0"/>
              <a:t>.</a:t>
            </a:r>
          </a:p>
          <a:p>
            <a:pPr marL="203200" indent="-203200">
              <a:spcAft>
                <a:spcPts val="800"/>
              </a:spcAft>
              <a:buSzPct val="100000"/>
              <a:buChar char="•"/>
            </a:pPr>
            <a:r>
              <a:rPr lang="en-US" sz="1600" b="1" dirty="0">
                <a:solidFill>
                  <a:srgbClr val="6CD9FF"/>
                </a:solidFill>
              </a:rPr>
              <a:t>Why suitable: </a:t>
            </a:r>
            <a:r>
              <a:rPr lang="en-US" sz="1200" dirty="0">
                <a:solidFill>
                  <a:schemeClr val="accent4">
                    <a:lumMod val="75000"/>
                  </a:schemeClr>
                </a:solidFill>
              </a:rPr>
              <a:t>It supports binary classification, helps select relevant features, controls coefficient sizes, and provides interpretable predictions for insider threat detection.</a:t>
            </a:r>
          </a:p>
          <a:p>
            <a:pPr marL="203200" indent="-203200">
              <a:spcAft>
                <a:spcPts val="800"/>
              </a:spcAft>
              <a:buSzPct val="100000"/>
              <a:buChar char="•"/>
            </a:pPr>
            <a:r>
              <a:rPr lang="en-US" sz="1600" b="1" dirty="0">
                <a:solidFill>
                  <a:srgbClr val="6CD9FF"/>
                </a:solidFill>
              </a:rPr>
              <a:t>Key parameters: </a:t>
            </a:r>
            <a:endParaRPr lang="en-US" sz="1600" dirty="0"/>
          </a:p>
        </p:txBody>
      </p:sp>
      <p:sp>
        <p:nvSpPr>
          <p:cNvPr id="10" name="Card options"/>
          <p:cNvSpPr/>
          <p:nvPr/>
        </p:nvSpPr>
        <p:spPr>
          <a:xfrm>
            <a:off x="6309360" y="2148840"/>
            <a:ext cx="5333695" cy="2377440"/>
          </a:xfrm>
          <a:prstGeom prst="roundRect">
            <a:avLst>
              <a:gd name="adj" fmla="val 3077"/>
            </a:avLst>
          </a:prstGeom>
          <a:solidFill>
            <a:srgbClr val="0E172A">
              <a:alpha val="95000"/>
            </a:srgbClr>
          </a:solidFill>
          <a:ln w="12700">
            <a:solidFill>
              <a:srgbClr val="F2B24C"/>
            </a:solidFill>
            <a:prstDash val="dash"/>
          </a:ln>
        </p:spPr>
      </p:sp>
      <p:pic>
        <p:nvPicPr>
          <p:cNvPr id="11" name="Icon COMMON OPTIONS" descr="COMMON OPTIONS"/>
          <p:cNvPicPr>
            <a:picLocks noChangeAspect="1"/>
          </p:cNvPicPr>
          <p:nvPr/>
        </p:nvPicPr>
        <p:blipFill>
          <a:blip r:embed="rId4"/>
          <a:stretch>
            <a:fillRect/>
          </a:stretch>
        </p:blipFill>
        <p:spPr>
          <a:xfrm>
            <a:off x="6537960" y="2313432"/>
            <a:ext cx="292608" cy="292608"/>
          </a:xfrm>
          <a:prstGeom prst="rect">
            <a:avLst/>
          </a:prstGeom>
        </p:spPr>
      </p:pic>
      <p:sp>
        <p:nvSpPr>
          <p:cNvPr id="12" name="Heading COMMON OPTIONS"/>
          <p:cNvSpPr txBox="1"/>
          <p:nvPr/>
        </p:nvSpPr>
        <p:spPr>
          <a:xfrm>
            <a:off x="6940296" y="2313432"/>
            <a:ext cx="2523744" cy="292608"/>
          </a:xfrm>
          <a:prstGeom prst="rect">
            <a:avLst/>
          </a:prstGeom>
          <a:noFill/>
          <a:ln/>
        </p:spPr>
        <p:txBody>
          <a:bodyPr wrap="square" lIns="0" tIns="0" rIns="0" bIns="0" rtlCol="0" anchor="ctr"/>
          <a:lstStyle/>
          <a:p>
            <a:pPr marL="0" indent="0">
              <a:buNone/>
            </a:pPr>
            <a:r>
              <a:rPr lang="en-US" sz="1400" b="1" kern="0" spc="150" dirty="0">
                <a:solidFill>
                  <a:srgbClr val="F2B24C"/>
                </a:solidFill>
              </a:rPr>
              <a:t>COMMON OPTIONS</a:t>
            </a:r>
            <a:endParaRPr lang="en-US" sz="1400" dirty="0"/>
          </a:p>
        </p:txBody>
      </p:sp>
      <p:sp>
        <p:nvSpPr>
          <p:cNvPr id="13" name="Tag NOT CLAIMED"/>
          <p:cNvSpPr txBox="1"/>
          <p:nvPr/>
        </p:nvSpPr>
        <p:spPr>
          <a:xfrm>
            <a:off x="10134295" y="2340864"/>
            <a:ext cx="1280160" cy="237744"/>
          </a:xfrm>
          <a:prstGeom prst="roundRect">
            <a:avLst>
              <a:gd name="adj" fmla="val 50000"/>
            </a:avLst>
          </a:prstGeom>
          <a:solidFill>
            <a:srgbClr val="08121F"/>
          </a:solidFill>
          <a:ln w="12700">
            <a:solidFill>
              <a:srgbClr val="F2B24C"/>
            </a:solidFill>
          </a:ln>
        </p:spPr>
        <p:txBody>
          <a:bodyPr wrap="square" lIns="0" tIns="0" rIns="0" bIns="0" rtlCol="0" anchor="ctr"/>
          <a:lstStyle/>
          <a:p>
            <a:pPr marL="0" indent="0" algn="ctr">
              <a:buNone/>
            </a:pPr>
            <a:r>
              <a:rPr lang="en-US" sz="1000" b="1" kern="0" spc="100" dirty="0">
                <a:solidFill>
                  <a:srgbClr val="F2B24C"/>
                </a:solidFill>
              </a:rPr>
              <a:t>NOT CLAIMED</a:t>
            </a:r>
            <a:endParaRPr lang="en-US" sz="1000" dirty="0"/>
          </a:p>
        </p:txBody>
      </p:sp>
      <p:sp>
        <p:nvSpPr>
          <p:cNvPr id="14" name="Bullets"/>
          <p:cNvSpPr txBox="1"/>
          <p:nvPr/>
        </p:nvSpPr>
        <p:spPr>
          <a:xfrm>
            <a:off x="6537960" y="2788920"/>
            <a:ext cx="4876495" cy="164592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rgbClr val="6CD9FF"/>
                </a:solidFill>
              </a:rPr>
              <a:t>Isolation Forest: </a:t>
            </a:r>
            <a:r>
              <a:rPr lang="en-US" sz="1600" dirty="0">
                <a:solidFill>
                  <a:srgbClr val="E8F1FA"/>
                </a:solidFill>
              </a:rPr>
              <a:t>random splits isolate outliers faster (unsupervised)</a:t>
            </a:r>
            <a:endParaRPr lang="en-US" sz="1600" dirty="0"/>
          </a:p>
          <a:p>
            <a:pPr marL="203200" indent="-203200">
              <a:spcAft>
                <a:spcPts val="1000"/>
              </a:spcAft>
              <a:buSzPct val="100000"/>
              <a:buChar char="•"/>
            </a:pPr>
            <a:r>
              <a:rPr lang="en-US" sz="1600" b="1" dirty="0">
                <a:solidFill>
                  <a:srgbClr val="6CD9FF"/>
                </a:solidFill>
              </a:rPr>
              <a:t>One-Class SVM: </a:t>
            </a:r>
            <a:r>
              <a:rPr lang="en-US" sz="1600" dirty="0">
                <a:solidFill>
                  <a:srgbClr val="E8F1FA"/>
                </a:solidFill>
              </a:rPr>
              <a:t>learns a boundary around normal data</a:t>
            </a:r>
            <a:endParaRPr lang="en-US" sz="1600" dirty="0"/>
          </a:p>
          <a:p>
            <a:pPr marL="203200" indent="-203200">
              <a:spcAft>
                <a:spcPts val="1000"/>
              </a:spcAft>
              <a:buSzPct val="100000"/>
              <a:buChar char="•"/>
            </a:pPr>
            <a:r>
              <a:rPr lang="en-US" sz="1600" b="1" dirty="0">
                <a:solidFill>
                  <a:srgbClr val="6CD9FF"/>
                </a:solidFill>
              </a:rPr>
              <a:t>Random Forest: </a:t>
            </a:r>
            <a:r>
              <a:rPr lang="en-US" sz="1600" dirty="0">
                <a:solidFill>
                  <a:srgbClr val="E8F1FA"/>
                </a:solidFill>
              </a:rPr>
              <a:t>many decision trees vote (supervised)</a:t>
            </a:r>
            <a:endParaRPr lang="en-US" sz="1600" dirty="0"/>
          </a:p>
        </p:txBody>
      </p:sp>
      <p:sp>
        <p:nvSpPr>
          <p:cNvPr id="15" name="Card how flagged"/>
          <p:cNvSpPr/>
          <p:nvPr/>
        </p:nvSpPr>
        <p:spPr>
          <a:xfrm>
            <a:off x="548640" y="5029200"/>
            <a:ext cx="11094415" cy="1554480"/>
          </a:xfrm>
          <a:prstGeom prst="roundRect">
            <a:avLst>
              <a:gd name="adj" fmla="val 4706"/>
            </a:avLst>
          </a:prstGeom>
          <a:solidFill>
            <a:srgbClr val="0E172A">
              <a:alpha val="95000"/>
            </a:srgbClr>
          </a:solidFill>
          <a:ln w="12700">
            <a:solidFill>
              <a:srgbClr val="2A8FBF"/>
            </a:solidFill>
            <a:prstDash val="solid"/>
          </a:ln>
        </p:spPr>
      </p:sp>
      <p:pic>
        <p:nvPicPr>
          <p:cNvPr id="16" name="Icon HOW SUSPICIOUS ACTIVITY IS IDENTIFIED" descr="HOW SUSPICIOUS ACTIVITY IS IDENTIFIED"/>
          <p:cNvPicPr>
            <a:picLocks noChangeAspect="1"/>
          </p:cNvPicPr>
          <p:nvPr/>
        </p:nvPicPr>
        <p:blipFill>
          <a:blip r:embed="rId5"/>
          <a:stretch>
            <a:fillRect/>
          </a:stretch>
        </p:blipFill>
        <p:spPr>
          <a:xfrm>
            <a:off x="777240" y="5143500"/>
            <a:ext cx="292608" cy="292608"/>
          </a:xfrm>
          <a:prstGeom prst="rect">
            <a:avLst/>
          </a:prstGeom>
        </p:spPr>
      </p:pic>
      <p:sp>
        <p:nvSpPr>
          <p:cNvPr id="17" name="Heading HOW SUSPICIOUS ACTIVITY IS IDENTIFIED"/>
          <p:cNvSpPr txBox="1"/>
          <p:nvPr/>
        </p:nvSpPr>
        <p:spPr>
          <a:xfrm>
            <a:off x="1069848" y="5079492"/>
            <a:ext cx="691286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HOW SUSPICIOUS ACTIVITY IS IDENTIFIED</a:t>
            </a:r>
            <a:endParaRPr lang="en-US" sz="1400" dirty="0"/>
          </a:p>
        </p:txBody>
      </p:sp>
      <p:sp>
        <p:nvSpPr>
          <p:cNvPr id="18" name="Chain Feature vector"/>
          <p:cNvSpPr txBox="1"/>
          <p:nvPr/>
        </p:nvSpPr>
        <p:spPr>
          <a:xfrm>
            <a:off x="777240" y="5440680"/>
            <a:ext cx="2240280" cy="594360"/>
          </a:xfrm>
          <a:prstGeom prst="roundRect">
            <a:avLst>
              <a:gd name="adj" fmla="val 12308"/>
            </a:avLst>
          </a:prstGeom>
          <a:solidFill>
            <a:srgbClr val="0A1426"/>
          </a:solidFill>
          <a:ln w="15875">
            <a:solidFill>
              <a:srgbClr val="2A8FBF"/>
            </a:solidFill>
          </a:ln>
        </p:spPr>
        <p:txBody>
          <a:bodyPr wrap="square" lIns="635" tIns="635" rIns="635" bIns="635" rtlCol="0" anchor="ctr"/>
          <a:lstStyle/>
          <a:p>
            <a:pPr marL="0" indent="0" algn="ctr">
              <a:buNone/>
            </a:pPr>
            <a:r>
              <a:rPr lang="en-US" sz="1400" b="1" dirty="0">
                <a:solidFill>
                  <a:srgbClr val="FFFFFF"/>
                </a:solidFill>
              </a:rPr>
              <a:t>Feature vector</a:t>
            </a:r>
            <a:endParaRPr lang="en-US" sz="1400" dirty="0"/>
          </a:p>
        </p:txBody>
      </p:sp>
      <p:sp>
        <p:nvSpPr>
          <p:cNvPr id="19" name="Arrow"/>
          <p:cNvSpPr/>
          <p:nvPr/>
        </p:nvSpPr>
        <p:spPr>
          <a:xfrm>
            <a:off x="3063240" y="5737860"/>
            <a:ext cx="467258" cy="0"/>
          </a:xfrm>
          <a:prstGeom prst="line">
            <a:avLst/>
          </a:prstGeom>
          <a:noFill/>
          <a:ln w="25400">
            <a:solidFill>
              <a:srgbClr val="45B5E7"/>
            </a:solidFill>
            <a:prstDash val="solid"/>
            <a:tailEnd type="triangle"/>
          </a:ln>
        </p:spPr>
      </p:sp>
      <p:sp>
        <p:nvSpPr>
          <p:cNvPr id="20" name="Chain Model score / prediction"/>
          <p:cNvSpPr txBox="1"/>
          <p:nvPr/>
        </p:nvSpPr>
        <p:spPr>
          <a:xfrm>
            <a:off x="3576218" y="5440680"/>
            <a:ext cx="2240280" cy="594360"/>
          </a:xfrm>
          <a:prstGeom prst="roundRect">
            <a:avLst>
              <a:gd name="adj" fmla="val 12308"/>
            </a:avLst>
          </a:prstGeom>
          <a:solidFill>
            <a:srgbClr val="0A1426"/>
          </a:solidFill>
          <a:ln w="15875">
            <a:solidFill>
              <a:srgbClr val="2A8FBF"/>
            </a:solidFill>
          </a:ln>
        </p:spPr>
        <p:txBody>
          <a:bodyPr wrap="square" lIns="635" tIns="635" rIns="635" bIns="635" rtlCol="0" anchor="ctr"/>
          <a:lstStyle/>
          <a:p>
            <a:pPr marL="0" indent="0" algn="ctr">
              <a:buNone/>
            </a:pPr>
            <a:r>
              <a:rPr lang="en-US" sz="1400" b="1" dirty="0">
                <a:solidFill>
                  <a:srgbClr val="FFFFFF"/>
                </a:solidFill>
              </a:rPr>
              <a:t>Model score / prediction</a:t>
            </a:r>
            <a:endParaRPr lang="en-US" sz="1400" dirty="0"/>
          </a:p>
        </p:txBody>
      </p:sp>
      <p:sp>
        <p:nvSpPr>
          <p:cNvPr id="21" name="Arrow"/>
          <p:cNvSpPr/>
          <p:nvPr/>
        </p:nvSpPr>
        <p:spPr>
          <a:xfrm>
            <a:off x="5862218" y="5737860"/>
            <a:ext cx="467258" cy="0"/>
          </a:xfrm>
          <a:prstGeom prst="line">
            <a:avLst/>
          </a:prstGeom>
          <a:noFill/>
          <a:ln w="25400">
            <a:solidFill>
              <a:srgbClr val="45B5E7"/>
            </a:solidFill>
            <a:prstDash val="solid"/>
            <a:tailEnd type="triangle"/>
          </a:ln>
        </p:spPr>
      </p:sp>
      <p:sp>
        <p:nvSpPr>
          <p:cNvPr id="22" name="Chain Threshold"/>
          <p:cNvSpPr txBox="1"/>
          <p:nvPr/>
        </p:nvSpPr>
        <p:spPr>
          <a:xfrm>
            <a:off x="6375197" y="5440680"/>
            <a:ext cx="2240280" cy="594360"/>
          </a:xfrm>
          <a:prstGeom prst="roundRect">
            <a:avLst>
              <a:gd name="adj" fmla="val 12308"/>
            </a:avLst>
          </a:prstGeom>
          <a:solidFill>
            <a:srgbClr val="0A1426"/>
          </a:solidFill>
          <a:ln w="15875">
            <a:solidFill>
              <a:srgbClr val="2A8FBF"/>
            </a:solidFill>
          </a:ln>
        </p:spPr>
        <p:txBody>
          <a:bodyPr wrap="square" lIns="635" tIns="635" rIns="635" bIns="635" rtlCol="0" anchor="ctr"/>
          <a:lstStyle/>
          <a:p>
            <a:pPr marL="0" indent="0" algn="ctr">
              <a:buNone/>
            </a:pPr>
            <a:r>
              <a:rPr lang="en-US" sz="1400" b="1" dirty="0">
                <a:solidFill>
                  <a:srgbClr val="FFFFFF"/>
                </a:solidFill>
              </a:rPr>
              <a:t>Threshold</a:t>
            </a:r>
            <a:endParaRPr lang="en-US" sz="1400" dirty="0"/>
          </a:p>
        </p:txBody>
      </p:sp>
      <p:sp>
        <p:nvSpPr>
          <p:cNvPr id="23" name="Arrow"/>
          <p:cNvSpPr/>
          <p:nvPr/>
        </p:nvSpPr>
        <p:spPr>
          <a:xfrm>
            <a:off x="8661197" y="5737860"/>
            <a:ext cx="467258" cy="0"/>
          </a:xfrm>
          <a:prstGeom prst="line">
            <a:avLst/>
          </a:prstGeom>
          <a:noFill/>
          <a:ln w="25400">
            <a:solidFill>
              <a:srgbClr val="45B5E7"/>
            </a:solidFill>
            <a:prstDash val="solid"/>
            <a:tailEnd type="triangle"/>
          </a:ln>
        </p:spPr>
      </p:sp>
      <p:sp>
        <p:nvSpPr>
          <p:cNvPr id="24" name="Chain Flagged for review"/>
          <p:cNvSpPr txBox="1"/>
          <p:nvPr/>
        </p:nvSpPr>
        <p:spPr>
          <a:xfrm>
            <a:off x="9174175" y="5440680"/>
            <a:ext cx="2240280" cy="594360"/>
          </a:xfrm>
          <a:prstGeom prst="roundRect">
            <a:avLst>
              <a:gd name="adj" fmla="val 12308"/>
            </a:avLst>
          </a:prstGeom>
          <a:solidFill>
            <a:srgbClr val="0A1426"/>
          </a:solidFill>
          <a:ln w="15875">
            <a:solidFill>
              <a:srgbClr val="6CD9FF"/>
            </a:solidFill>
          </a:ln>
        </p:spPr>
        <p:txBody>
          <a:bodyPr wrap="square" lIns="635" tIns="635" rIns="635" bIns="635" rtlCol="0" anchor="ctr"/>
          <a:lstStyle/>
          <a:p>
            <a:pPr marL="0" indent="0" algn="ctr">
              <a:buNone/>
            </a:pPr>
            <a:r>
              <a:rPr lang="en-US" sz="1400" b="1" dirty="0">
                <a:solidFill>
                  <a:srgbClr val="FFFFFF"/>
                </a:solidFill>
              </a:rPr>
              <a:t>Flagged for review</a:t>
            </a:r>
            <a:endParaRPr lang="en-US" sz="14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10</a:t>
            </a:fld>
            <a:endParaRPr lang="en-US"/>
          </a:p>
        </p:txBody>
      </p:sp>
      <p:sp>
        <p:nvSpPr>
          <p:cNvPr id="32" name="Rectangle 7">
            <a:extLst>
              <a:ext uri="{FF2B5EF4-FFF2-40B4-BE49-F238E27FC236}">
                <a16:creationId xmlns:a16="http://schemas.microsoft.com/office/drawing/2014/main" id="{4D36085F-4ECF-9313-0289-CF87877BFD0A}"/>
              </a:ext>
            </a:extLst>
          </p:cNvPr>
          <p:cNvSpPr>
            <a:spLocks noChangeArrowheads="1"/>
          </p:cNvSpPr>
          <p:nvPr/>
        </p:nvSpPr>
        <p:spPr bwMode="auto">
          <a:xfrm>
            <a:off x="2402540" y="3787232"/>
            <a:ext cx="339475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4">
                    <a:lumMod val="75000"/>
                  </a:schemeClr>
                </a:solidFill>
                <a:effectLst/>
                <a:latin typeface="Arial Unicode MS"/>
              </a:rPr>
              <a:t>C</a:t>
            </a:r>
            <a:r>
              <a:rPr kumimoji="0" lang="en-US" altLang="en-US" sz="1200" b="0" i="0" u="none" strike="noStrike" cap="none" normalizeH="0" baseline="0" dirty="0">
                <a:ln>
                  <a:noFill/>
                </a:ln>
                <a:solidFill>
                  <a:schemeClr val="accent4">
                    <a:lumMod val="75000"/>
                  </a:schemeClr>
                </a:solidFill>
                <a:effectLst/>
              </a:rPr>
              <a:t> </a:t>
            </a:r>
            <a:r>
              <a:rPr kumimoji="0" lang="en-US" altLang="en-US" sz="1200" b="0" i="0" u="none" strike="noStrike" cap="none" normalizeH="0" baseline="0" dirty="0">
                <a:ln>
                  <a:noFill/>
                </a:ln>
                <a:solidFill>
                  <a:schemeClr val="accent4">
                    <a:lumMod val="75000"/>
                  </a:schemeClr>
                </a:solidFill>
                <a:effectLst/>
                <a:latin typeface="Arial" panose="020B0604020202020204" pitchFamily="34" charset="0"/>
              </a:rPr>
              <a:t>– Controls regularization strength; smaller values mean stronger regularization.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accent4">
                    <a:lumMod val="75000"/>
                  </a:schemeClr>
                </a:solidFill>
                <a:effectLst/>
                <a:latin typeface="Arial Unicode MS"/>
              </a:rPr>
              <a:t>penalty</a:t>
            </a:r>
            <a:r>
              <a:rPr kumimoji="0" lang="en-US" altLang="en-US" sz="1200" b="0" i="0" u="none" strike="noStrike" cap="none" normalizeH="0" baseline="0" dirty="0">
                <a:ln>
                  <a:noFill/>
                </a:ln>
                <a:solidFill>
                  <a:schemeClr val="accent4">
                    <a:lumMod val="75000"/>
                  </a:schemeClr>
                </a:solidFill>
                <a:effectLst/>
              </a:rPr>
              <a:t> </a:t>
            </a:r>
            <a:r>
              <a:rPr kumimoji="0" lang="en-US" altLang="en-US" sz="1200" b="0" i="0" u="none" strike="noStrike" cap="none" normalizeH="0" baseline="0" dirty="0">
                <a:ln>
                  <a:noFill/>
                </a:ln>
                <a:solidFill>
                  <a:schemeClr val="accent4">
                    <a:lumMod val="75000"/>
                  </a:schemeClr>
                </a:solidFill>
                <a:effectLst/>
                <a:latin typeface="Arial" panose="020B0604020202020204" pitchFamily="34" charset="0"/>
              </a:rPr>
              <a:t>– Set to </a:t>
            </a:r>
            <a:r>
              <a:rPr kumimoji="0" lang="en-US" altLang="en-US" sz="1200" b="0" i="0" u="none" strike="noStrike" cap="none" normalizeH="0" baseline="0" dirty="0" err="1">
                <a:ln>
                  <a:noFill/>
                </a:ln>
                <a:solidFill>
                  <a:schemeClr val="accent4">
                    <a:lumMod val="75000"/>
                  </a:schemeClr>
                </a:solidFill>
                <a:effectLst/>
                <a:latin typeface="Arial Unicode MS"/>
              </a:rPr>
              <a:t>elasticnet</a:t>
            </a:r>
            <a:r>
              <a:rPr kumimoji="0" lang="en-US" altLang="en-US" sz="1200" b="0" i="0" u="none" strike="noStrike" cap="none" normalizeH="0" baseline="0" dirty="0">
                <a:ln>
                  <a:noFill/>
                </a:ln>
                <a:solidFill>
                  <a:schemeClr val="accent4">
                    <a:lumMod val="75000"/>
                  </a:schemeClr>
                </a:solidFill>
                <a:effectLst/>
              </a:rPr>
              <a:t> </a:t>
            </a:r>
            <a:r>
              <a:rPr kumimoji="0" lang="en-US" altLang="en-US" sz="1200" b="0" i="0" u="none" strike="noStrike" cap="none" normalizeH="0" baseline="0" dirty="0">
                <a:ln>
                  <a:noFill/>
                </a:ln>
                <a:solidFill>
                  <a:schemeClr val="accent4">
                    <a:lumMod val="75000"/>
                  </a:schemeClr>
                </a:solidFill>
                <a:effectLst/>
                <a:latin typeface="Arial" panose="020B0604020202020204" pitchFamily="34" charset="0"/>
              </a:rPr>
              <a:t>to combine L1 and L2.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TECHNOLOGY STACK &amp; IMPLEMENTATION</a:t>
            </a:r>
            <a:endParaRPr lang="en-US" sz="2800" dirty="0"/>
          </a:p>
        </p:txBody>
      </p:sp>
      <p:sp>
        <p:nvSpPr>
          <p:cNvPr id="3" name="Card tech stack"/>
          <p:cNvSpPr/>
          <p:nvPr/>
        </p:nvSpPr>
        <p:spPr>
          <a:xfrm>
            <a:off x="548640" y="1143000"/>
            <a:ext cx="3840480" cy="5166360"/>
          </a:xfrm>
          <a:prstGeom prst="roundRect">
            <a:avLst>
              <a:gd name="adj" fmla="val 1905"/>
            </a:avLst>
          </a:prstGeom>
          <a:solidFill>
            <a:srgbClr val="0E172A">
              <a:alpha val="95000"/>
            </a:srgbClr>
          </a:solidFill>
          <a:ln w="12700">
            <a:solidFill>
              <a:srgbClr val="2A8FBF"/>
            </a:solidFill>
            <a:prstDash val="solid"/>
          </a:ln>
        </p:spPr>
      </p:sp>
      <p:pic>
        <p:nvPicPr>
          <p:cNvPr id="4" name="Icon TECHNOLOGY STACK" descr="TECHNOLOGY STACK"/>
          <p:cNvPicPr>
            <a:picLocks noChangeAspect="1"/>
          </p:cNvPicPr>
          <p:nvPr/>
        </p:nvPicPr>
        <p:blipFill>
          <a:blip r:embed="rId3"/>
          <a:stretch>
            <a:fillRect/>
          </a:stretch>
        </p:blipFill>
        <p:spPr>
          <a:xfrm>
            <a:off x="777240" y="1307592"/>
            <a:ext cx="292608" cy="292608"/>
          </a:xfrm>
          <a:prstGeom prst="rect">
            <a:avLst/>
          </a:prstGeom>
        </p:spPr>
      </p:pic>
      <p:sp>
        <p:nvSpPr>
          <p:cNvPr id="5" name="Heading TECHNOLOGY STACK"/>
          <p:cNvSpPr txBox="1"/>
          <p:nvPr/>
        </p:nvSpPr>
        <p:spPr>
          <a:xfrm>
            <a:off x="1179576" y="1307592"/>
            <a:ext cx="307238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TECHNOLOGY STACK</a:t>
            </a:r>
            <a:endParaRPr lang="en-US" sz="1400" dirty="0"/>
          </a:p>
        </p:txBody>
      </p:sp>
      <p:sp>
        <p:nvSpPr>
          <p:cNvPr id="6" name="Text 3"/>
          <p:cNvSpPr txBox="1"/>
          <p:nvPr/>
        </p:nvSpPr>
        <p:spPr>
          <a:xfrm>
            <a:off x="777240" y="1828800"/>
            <a:ext cx="3383280" cy="201168"/>
          </a:xfrm>
          <a:prstGeom prst="rect">
            <a:avLst/>
          </a:prstGeom>
          <a:noFill/>
          <a:ln/>
        </p:spPr>
        <p:txBody>
          <a:bodyPr wrap="square" lIns="0" tIns="0" rIns="0" bIns="0" rtlCol="0" anchor="t"/>
          <a:lstStyle/>
          <a:p>
            <a:pPr marL="0" indent="0">
              <a:buNone/>
            </a:pPr>
            <a:r>
              <a:rPr lang="en-US" sz="1100" b="1" kern="0" spc="100" dirty="0">
                <a:solidFill>
                  <a:srgbClr val="6CD9FF"/>
                </a:solidFill>
              </a:rPr>
              <a:t>LANGUAGE</a:t>
            </a:r>
            <a:endParaRPr lang="en-US" sz="1100" dirty="0"/>
          </a:p>
        </p:txBody>
      </p:sp>
      <p:sp>
        <p:nvSpPr>
          <p:cNvPr id="7" name="Text 4"/>
          <p:cNvSpPr txBox="1"/>
          <p:nvPr/>
        </p:nvSpPr>
        <p:spPr>
          <a:xfrm>
            <a:off x="777240" y="2048256"/>
            <a:ext cx="3383280" cy="292608"/>
          </a:xfrm>
          <a:prstGeom prst="rect">
            <a:avLst/>
          </a:prstGeom>
          <a:noFill/>
          <a:ln/>
        </p:spPr>
        <p:txBody>
          <a:bodyPr wrap="square" lIns="0" tIns="0" rIns="0" bIns="0" rtlCol="0" anchor="t"/>
          <a:lstStyle/>
          <a:p>
            <a:pPr marL="0" indent="0">
              <a:buNone/>
            </a:pPr>
            <a:r>
              <a:rPr lang="en-US" sz="1500" dirty="0">
                <a:solidFill>
                  <a:srgbClr val="FFFFFF"/>
                </a:solidFill>
              </a:rPr>
              <a:t>Python</a:t>
            </a:r>
            <a:endParaRPr lang="en-US" sz="1500" dirty="0"/>
          </a:p>
        </p:txBody>
      </p:sp>
      <p:sp>
        <p:nvSpPr>
          <p:cNvPr id="8" name="Text 5"/>
          <p:cNvSpPr txBox="1"/>
          <p:nvPr/>
        </p:nvSpPr>
        <p:spPr>
          <a:xfrm>
            <a:off x="777240" y="2450592"/>
            <a:ext cx="3383280" cy="201168"/>
          </a:xfrm>
          <a:prstGeom prst="rect">
            <a:avLst/>
          </a:prstGeom>
          <a:noFill/>
          <a:ln/>
        </p:spPr>
        <p:txBody>
          <a:bodyPr wrap="square" lIns="0" tIns="0" rIns="0" bIns="0" rtlCol="0" anchor="t"/>
          <a:lstStyle/>
          <a:p>
            <a:pPr marL="0" indent="0">
              <a:buNone/>
            </a:pPr>
            <a:r>
              <a:rPr lang="en-US" sz="1100" b="1" kern="0" spc="100" dirty="0">
                <a:solidFill>
                  <a:srgbClr val="6CD9FF"/>
                </a:solidFill>
              </a:rPr>
              <a:t>ENVIRONMENT</a:t>
            </a:r>
            <a:endParaRPr lang="en-US" sz="1100" dirty="0"/>
          </a:p>
        </p:txBody>
      </p:sp>
      <p:sp>
        <p:nvSpPr>
          <p:cNvPr id="9" name="Text 6"/>
          <p:cNvSpPr txBox="1"/>
          <p:nvPr/>
        </p:nvSpPr>
        <p:spPr>
          <a:xfrm>
            <a:off x="777240" y="2670048"/>
            <a:ext cx="3383280" cy="292608"/>
          </a:xfrm>
          <a:prstGeom prst="rect">
            <a:avLst/>
          </a:prstGeom>
          <a:noFill/>
          <a:ln/>
        </p:spPr>
        <p:txBody>
          <a:bodyPr wrap="square" lIns="0" tIns="0" rIns="0" bIns="0" rtlCol="0" anchor="t"/>
          <a:lstStyle/>
          <a:p>
            <a:pPr marL="0" indent="0">
              <a:buNone/>
            </a:pPr>
            <a:r>
              <a:rPr lang="en-US" sz="1500" dirty="0">
                <a:solidFill>
                  <a:srgbClr val="FFFFFF"/>
                </a:solidFill>
              </a:rPr>
              <a:t> Google Colab</a:t>
            </a:r>
            <a:endParaRPr lang="en-US" sz="1500" dirty="0"/>
          </a:p>
        </p:txBody>
      </p:sp>
      <p:sp>
        <p:nvSpPr>
          <p:cNvPr id="10" name="Text 7"/>
          <p:cNvSpPr txBox="1"/>
          <p:nvPr/>
        </p:nvSpPr>
        <p:spPr>
          <a:xfrm>
            <a:off x="777240" y="3072384"/>
            <a:ext cx="3383280" cy="201168"/>
          </a:xfrm>
          <a:prstGeom prst="rect">
            <a:avLst/>
          </a:prstGeom>
          <a:noFill/>
          <a:ln/>
        </p:spPr>
        <p:txBody>
          <a:bodyPr wrap="square" lIns="0" tIns="0" rIns="0" bIns="0" rtlCol="0" anchor="t"/>
          <a:lstStyle/>
          <a:p>
            <a:pPr marL="0" indent="0">
              <a:buNone/>
            </a:pPr>
            <a:r>
              <a:rPr lang="en-US" sz="1100" b="1" kern="0" spc="100" dirty="0">
                <a:solidFill>
                  <a:srgbClr val="6CD9FF"/>
                </a:solidFill>
              </a:rPr>
              <a:t>DATA HANDLING</a:t>
            </a:r>
            <a:endParaRPr lang="en-US" sz="1100" dirty="0"/>
          </a:p>
        </p:txBody>
      </p:sp>
      <p:sp>
        <p:nvSpPr>
          <p:cNvPr id="11" name="Text 8"/>
          <p:cNvSpPr txBox="1"/>
          <p:nvPr/>
        </p:nvSpPr>
        <p:spPr>
          <a:xfrm>
            <a:off x="777240" y="3291840"/>
            <a:ext cx="3383280" cy="292608"/>
          </a:xfrm>
          <a:prstGeom prst="rect">
            <a:avLst/>
          </a:prstGeom>
          <a:noFill/>
          <a:ln/>
        </p:spPr>
        <p:txBody>
          <a:bodyPr wrap="square" lIns="0" tIns="0" rIns="0" bIns="0" rtlCol="0" anchor="t"/>
          <a:lstStyle/>
          <a:p>
            <a:pPr marL="0" indent="0">
              <a:buNone/>
            </a:pPr>
            <a:r>
              <a:rPr lang="en-US" sz="1500" dirty="0">
                <a:solidFill>
                  <a:srgbClr val="FFFFFF"/>
                </a:solidFill>
              </a:rPr>
              <a:t>Pandas, NumPy</a:t>
            </a:r>
            <a:endParaRPr lang="en-US" sz="1500" dirty="0"/>
          </a:p>
        </p:txBody>
      </p:sp>
      <p:sp>
        <p:nvSpPr>
          <p:cNvPr id="12" name="Text 9"/>
          <p:cNvSpPr txBox="1"/>
          <p:nvPr/>
        </p:nvSpPr>
        <p:spPr>
          <a:xfrm>
            <a:off x="777240" y="3694176"/>
            <a:ext cx="3383280" cy="201168"/>
          </a:xfrm>
          <a:prstGeom prst="rect">
            <a:avLst/>
          </a:prstGeom>
          <a:noFill/>
          <a:ln/>
        </p:spPr>
        <p:txBody>
          <a:bodyPr wrap="square" lIns="0" tIns="0" rIns="0" bIns="0" rtlCol="0" anchor="t"/>
          <a:lstStyle/>
          <a:p>
            <a:pPr marL="0" indent="0">
              <a:buNone/>
            </a:pPr>
            <a:r>
              <a:rPr lang="en-US" sz="1100" b="1" kern="0" spc="100" dirty="0">
                <a:solidFill>
                  <a:srgbClr val="6CD9FF"/>
                </a:solidFill>
              </a:rPr>
              <a:t>MACHINE LEARNING</a:t>
            </a:r>
            <a:endParaRPr lang="en-US" sz="1100" dirty="0"/>
          </a:p>
        </p:txBody>
      </p:sp>
      <p:sp>
        <p:nvSpPr>
          <p:cNvPr id="13" name="Text 10"/>
          <p:cNvSpPr txBox="1"/>
          <p:nvPr/>
        </p:nvSpPr>
        <p:spPr>
          <a:xfrm>
            <a:off x="777240" y="3913632"/>
            <a:ext cx="3383280" cy="292608"/>
          </a:xfrm>
          <a:prstGeom prst="rect">
            <a:avLst/>
          </a:prstGeom>
          <a:noFill/>
          <a:ln/>
        </p:spPr>
        <p:txBody>
          <a:bodyPr wrap="square" lIns="0" tIns="0" rIns="0" bIns="0" rtlCol="0" anchor="t"/>
          <a:lstStyle/>
          <a:p>
            <a:pPr marL="0" indent="0">
              <a:buNone/>
            </a:pPr>
            <a:r>
              <a:rPr lang="en-US" sz="1500" dirty="0">
                <a:solidFill>
                  <a:srgbClr val="FFFFFF"/>
                </a:solidFill>
              </a:rPr>
              <a:t>Scikit-learn</a:t>
            </a:r>
            <a:endParaRPr lang="en-US" sz="1500" dirty="0"/>
          </a:p>
        </p:txBody>
      </p:sp>
      <p:sp>
        <p:nvSpPr>
          <p:cNvPr id="14" name="Text 11"/>
          <p:cNvSpPr txBox="1"/>
          <p:nvPr/>
        </p:nvSpPr>
        <p:spPr>
          <a:xfrm>
            <a:off x="777240" y="4315968"/>
            <a:ext cx="3383280" cy="201168"/>
          </a:xfrm>
          <a:prstGeom prst="rect">
            <a:avLst/>
          </a:prstGeom>
          <a:noFill/>
          <a:ln/>
        </p:spPr>
        <p:txBody>
          <a:bodyPr wrap="square" lIns="0" tIns="0" rIns="0" bIns="0" rtlCol="0" anchor="t"/>
          <a:lstStyle/>
          <a:p>
            <a:pPr marL="0" indent="0">
              <a:buNone/>
            </a:pPr>
            <a:r>
              <a:rPr lang="en-US" sz="1100" b="1" kern="0" spc="100" dirty="0">
                <a:solidFill>
                  <a:srgbClr val="6CD9FF"/>
                </a:solidFill>
              </a:rPr>
              <a:t>VISUALIZATION</a:t>
            </a:r>
            <a:endParaRPr lang="en-US" sz="1100" dirty="0"/>
          </a:p>
        </p:txBody>
      </p:sp>
      <p:sp>
        <p:nvSpPr>
          <p:cNvPr id="15" name="Text 12"/>
          <p:cNvSpPr txBox="1"/>
          <p:nvPr/>
        </p:nvSpPr>
        <p:spPr>
          <a:xfrm>
            <a:off x="777240" y="4535424"/>
            <a:ext cx="3383280" cy="292608"/>
          </a:xfrm>
          <a:prstGeom prst="rect">
            <a:avLst/>
          </a:prstGeom>
          <a:noFill/>
          <a:ln/>
        </p:spPr>
        <p:txBody>
          <a:bodyPr wrap="square" lIns="0" tIns="0" rIns="0" bIns="0" rtlCol="0" anchor="t"/>
          <a:lstStyle/>
          <a:p>
            <a:pPr marL="0" indent="0">
              <a:buNone/>
            </a:pPr>
            <a:r>
              <a:rPr lang="en-US" sz="1500" dirty="0">
                <a:solidFill>
                  <a:srgbClr val="FFFFFF"/>
                </a:solidFill>
              </a:rPr>
              <a:t>Matplotlib, Seaborn</a:t>
            </a:r>
            <a:endParaRPr lang="en-US" sz="1500" dirty="0"/>
          </a:p>
        </p:txBody>
      </p:sp>
      <p:sp>
        <p:nvSpPr>
          <p:cNvPr id="20" name="Card implementation stages"/>
          <p:cNvSpPr/>
          <p:nvPr/>
        </p:nvSpPr>
        <p:spPr>
          <a:xfrm>
            <a:off x="4617719" y="1143000"/>
            <a:ext cx="6722633" cy="5166360"/>
          </a:xfrm>
          <a:prstGeom prst="roundRect">
            <a:avLst>
              <a:gd name="adj" fmla="val 2105"/>
            </a:avLst>
          </a:prstGeom>
          <a:solidFill>
            <a:srgbClr val="0E172A">
              <a:alpha val="95000"/>
            </a:srgbClr>
          </a:solidFill>
          <a:ln w="12700">
            <a:solidFill>
              <a:srgbClr val="2A8FBF"/>
            </a:solidFill>
            <a:prstDash val="solid"/>
          </a:ln>
        </p:spPr>
        <p:txBody>
          <a:bodyPr/>
          <a:lstStyle/>
          <a:p>
            <a:endParaRPr lang="en-IN"/>
          </a:p>
        </p:txBody>
      </p:sp>
      <p:pic>
        <p:nvPicPr>
          <p:cNvPr id="21" name="Icon IMPLEMENTATION STAGES" descr="IMPLEMENTATION STAGES"/>
          <p:cNvPicPr>
            <a:picLocks noChangeAspect="1"/>
          </p:cNvPicPr>
          <p:nvPr/>
        </p:nvPicPr>
        <p:blipFill>
          <a:blip r:embed="rId4"/>
          <a:stretch>
            <a:fillRect/>
          </a:stretch>
        </p:blipFill>
        <p:spPr>
          <a:xfrm>
            <a:off x="4846320" y="1307592"/>
            <a:ext cx="292608" cy="292608"/>
          </a:xfrm>
          <a:prstGeom prst="rect">
            <a:avLst/>
          </a:prstGeom>
        </p:spPr>
      </p:pic>
      <p:sp>
        <p:nvSpPr>
          <p:cNvPr id="22" name="Heading IMPLEMENTATION STAGES"/>
          <p:cNvSpPr txBox="1"/>
          <p:nvPr/>
        </p:nvSpPr>
        <p:spPr>
          <a:xfrm>
            <a:off x="5248656" y="1307592"/>
            <a:ext cx="270662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IMPLEMENTATION STAGES</a:t>
            </a:r>
            <a:endParaRPr lang="en-US" sz="1400" dirty="0"/>
          </a:p>
        </p:txBody>
      </p:sp>
      <p:sp>
        <p:nvSpPr>
          <p:cNvPr id="23" name="Stage circle 1"/>
          <p:cNvSpPr/>
          <p:nvPr/>
        </p:nvSpPr>
        <p:spPr>
          <a:xfrm>
            <a:off x="4846320" y="1920240"/>
            <a:ext cx="420624" cy="420624"/>
          </a:xfrm>
          <a:prstGeom prst="ellipse">
            <a:avLst/>
          </a:prstGeom>
          <a:solidFill>
            <a:srgbClr val="0A1426"/>
          </a:solidFill>
          <a:ln w="15875">
            <a:solidFill>
              <a:srgbClr val="6CD9FF"/>
            </a:solidFill>
            <a:prstDash val="solid"/>
          </a:ln>
        </p:spPr>
      </p:sp>
      <p:sp>
        <p:nvSpPr>
          <p:cNvPr id="24" name="Text 20"/>
          <p:cNvSpPr txBox="1"/>
          <p:nvPr/>
        </p:nvSpPr>
        <p:spPr>
          <a:xfrm>
            <a:off x="4846320" y="1920240"/>
            <a:ext cx="420624" cy="420624"/>
          </a:xfrm>
          <a:prstGeom prst="rect">
            <a:avLst/>
          </a:prstGeom>
          <a:noFill/>
          <a:ln/>
        </p:spPr>
        <p:txBody>
          <a:bodyPr wrap="square" lIns="0" tIns="0" rIns="0" bIns="0" rtlCol="0" anchor="ctr"/>
          <a:lstStyle/>
          <a:p>
            <a:pPr marL="0" indent="0" algn="ctr">
              <a:buNone/>
            </a:pPr>
            <a:r>
              <a:rPr lang="en-US" sz="1400" b="1" dirty="0">
                <a:solidFill>
                  <a:srgbClr val="6CD9FF"/>
                </a:solidFill>
              </a:rPr>
              <a:t>1</a:t>
            </a:r>
            <a:endParaRPr lang="en-US" sz="1400" dirty="0"/>
          </a:p>
        </p:txBody>
      </p:sp>
      <p:sp>
        <p:nvSpPr>
          <p:cNvPr id="25" name="Text 21"/>
          <p:cNvSpPr txBox="1"/>
          <p:nvPr/>
        </p:nvSpPr>
        <p:spPr>
          <a:xfrm>
            <a:off x="5440680" y="1901952"/>
            <a:ext cx="2468880" cy="274320"/>
          </a:xfrm>
          <a:prstGeom prst="rect">
            <a:avLst/>
          </a:prstGeom>
          <a:noFill/>
          <a:ln/>
        </p:spPr>
        <p:txBody>
          <a:bodyPr wrap="square" lIns="0" tIns="0" rIns="0" bIns="0" rtlCol="0" anchor="t"/>
          <a:lstStyle/>
          <a:p>
            <a:pPr marL="0" indent="0">
              <a:buNone/>
            </a:pPr>
            <a:r>
              <a:rPr lang="en-US" sz="1400" b="1" dirty="0">
                <a:solidFill>
                  <a:srgbClr val="FFFFFF"/>
                </a:solidFill>
              </a:rPr>
              <a:t>Load and clean logs</a:t>
            </a:r>
            <a:endParaRPr lang="en-US" sz="1400" dirty="0"/>
          </a:p>
        </p:txBody>
      </p:sp>
      <p:sp>
        <p:nvSpPr>
          <p:cNvPr id="26" name="Text 22"/>
          <p:cNvSpPr txBox="1"/>
          <p:nvPr/>
        </p:nvSpPr>
        <p:spPr>
          <a:xfrm>
            <a:off x="5440680" y="2194560"/>
            <a:ext cx="2468880" cy="274320"/>
          </a:xfrm>
          <a:prstGeom prst="rect">
            <a:avLst/>
          </a:prstGeom>
          <a:noFill/>
          <a:ln/>
        </p:spPr>
        <p:txBody>
          <a:bodyPr wrap="square" lIns="0" tIns="0" rIns="0" bIns="0" rtlCol="0" anchor="t"/>
          <a:lstStyle/>
          <a:p>
            <a:pPr marL="0" indent="0">
              <a:buNone/>
            </a:pPr>
            <a:r>
              <a:rPr lang="en-US" sz="1200" dirty="0">
                <a:solidFill>
                  <a:srgbClr val="A9BBCF"/>
                </a:solidFill>
              </a:rPr>
              <a:t>Pandas</a:t>
            </a:r>
            <a:endParaRPr lang="en-US" sz="1200" dirty="0"/>
          </a:p>
        </p:txBody>
      </p:sp>
      <p:sp>
        <p:nvSpPr>
          <p:cNvPr id="27" name="Stage circle 2"/>
          <p:cNvSpPr/>
          <p:nvPr/>
        </p:nvSpPr>
        <p:spPr>
          <a:xfrm>
            <a:off x="4846320" y="2944368"/>
            <a:ext cx="420624" cy="420624"/>
          </a:xfrm>
          <a:prstGeom prst="ellipse">
            <a:avLst/>
          </a:prstGeom>
          <a:solidFill>
            <a:srgbClr val="0A1426"/>
          </a:solidFill>
          <a:ln w="15875">
            <a:solidFill>
              <a:srgbClr val="6CD9FF"/>
            </a:solidFill>
            <a:prstDash val="solid"/>
          </a:ln>
        </p:spPr>
      </p:sp>
      <p:sp>
        <p:nvSpPr>
          <p:cNvPr id="28" name="Text 24"/>
          <p:cNvSpPr txBox="1"/>
          <p:nvPr/>
        </p:nvSpPr>
        <p:spPr>
          <a:xfrm>
            <a:off x="4846320" y="2944368"/>
            <a:ext cx="420624" cy="420624"/>
          </a:xfrm>
          <a:prstGeom prst="rect">
            <a:avLst/>
          </a:prstGeom>
          <a:noFill/>
          <a:ln/>
        </p:spPr>
        <p:txBody>
          <a:bodyPr wrap="square" lIns="0" tIns="0" rIns="0" bIns="0" rtlCol="0" anchor="ctr"/>
          <a:lstStyle/>
          <a:p>
            <a:pPr marL="0" indent="0" algn="ctr">
              <a:buNone/>
            </a:pPr>
            <a:r>
              <a:rPr lang="en-US" sz="1400" b="1" dirty="0">
                <a:solidFill>
                  <a:srgbClr val="6CD9FF"/>
                </a:solidFill>
              </a:rPr>
              <a:t>2</a:t>
            </a:r>
            <a:endParaRPr lang="en-US" sz="1400" dirty="0"/>
          </a:p>
        </p:txBody>
      </p:sp>
      <p:sp>
        <p:nvSpPr>
          <p:cNvPr id="29" name="Text 25"/>
          <p:cNvSpPr txBox="1"/>
          <p:nvPr/>
        </p:nvSpPr>
        <p:spPr>
          <a:xfrm>
            <a:off x="5440680" y="2926080"/>
            <a:ext cx="2468880" cy="274320"/>
          </a:xfrm>
          <a:prstGeom prst="rect">
            <a:avLst/>
          </a:prstGeom>
          <a:noFill/>
          <a:ln/>
        </p:spPr>
        <p:txBody>
          <a:bodyPr wrap="square" lIns="0" tIns="0" rIns="0" bIns="0" rtlCol="0" anchor="t"/>
          <a:lstStyle/>
          <a:p>
            <a:pPr marL="0" indent="0">
              <a:buNone/>
            </a:pPr>
            <a:r>
              <a:rPr lang="en-US" sz="1400" b="1" dirty="0">
                <a:solidFill>
                  <a:srgbClr val="FFFFFF"/>
                </a:solidFill>
              </a:rPr>
              <a:t>Build behavioral features</a:t>
            </a:r>
            <a:endParaRPr lang="en-US" sz="1400" dirty="0"/>
          </a:p>
        </p:txBody>
      </p:sp>
      <p:sp>
        <p:nvSpPr>
          <p:cNvPr id="30" name="Text 26"/>
          <p:cNvSpPr txBox="1"/>
          <p:nvPr/>
        </p:nvSpPr>
        <p:spPr>
          <a:xfrm>
            <a:off x="5440680" y="3218688"/>
            <a:ext cx="2468880" cy="274320"/>
          </a:xfrm>
          <a:prstGeom prst="rect">
            <a:avLst/>
          </a:prstGeom>
          <a:noFill/>
          <a:ln/>
        </p:spPr>
        <p:txBody>
          <a:bodyPr wrap="square" lIns="0" tIns="0" rIns="0" bIns="0" rtlCol="0" anchor="t"/>
          <a:lstStyle/>
          <a:p>
            <a:pPr marL="0" indent="0">
              <a:buNone/>
            </a:pPr>
            <a:r>
              <a:rPr lang="en-US" sz="1200" dirty="0">
                <a:solidFill>
                  <a:srgbClr val="A9BBCF"/>
                </a:solidFill>
              </a:rPr>
              <a:t>Pandas, NumPy</a:t>
            </a:r>
            <a:endParaRPr lang="en-US" sz="1200" dirty="0"/>
          </a:p>
        </p:txBody>
      </p:sp>
      <p:sp>
        <p:nvSpPr>
          <p:cNvPr id="31" name="Stage circle 3"/>
          <p:cNvSpPr/>
          <p:nvPr/>
        </p:nvSpPr>
        <p:spPr>
          <a:xfrm>
            <a:off x="4846320" y="3968496"/>
            <a:ext cx="420624" cy="420624"/>
          </a:xfrm>
          <a:prstGeom prst="ellipse">
            <a:avLst/>
          </a:prstGeom>
          <a:solidFill>
            <a:srgbClr val="0A1426"/>
          </a:solidFill>
          <a:ln w="15875">
            <a:solidFill>
              <a:srgbClr val="6CD9FF"/>
            </a:solidFill>
            <a:prstDash val="solid"/>
          </a:ln>
        </p:spPr>
      </p:sp>
      <p:sp>
        <p:nvSpPr>
          <p:cNvPr id="32" name="Text 28"/>
          <p:cNvSpPr txBox="1"/>
          <p:nvPr/>
        </p:nvSpPr>
        <p:spPr>
          <a:xfrm>
            <a:off x="4846320" y="3968496"/>
            <a:ext cx="420624" cy="420624"/>
          </a:xfrm>
          <a:prstGeom prst="rect">
            <a:avLst/>
          </a:prstGeom>
          <a:noFill/>
          <a:ln/>
        </p:spPr>
        <p:txBody>
          <a:bodyPr wrap="square" lIns="0" tIns="0" rIns="0" bIns="0" rtlCol="0" anchor="ctr"/>
          <a:lstStyle/>
          <a:p>
            <a:pPr marL="0" indent="0" algn="ctr">
              <a:buNone/>
            </a:pPr>
            <a:r>
              <a:rPr lang="en-US" sz="1400" b="1" dirty="0">
                <a:solidFill>
                  <a:srgbClr val="6CD9FF"/>
                </a:solidFill>
              </a:rPr>
              <a:t>3</a:t>
            </a:r>
            <a:endParaRPr lang="en-US" sz="1400" dirty="0"/>
          </a:p>
        </p:txBody>
      </p:sp>
      <p:sp>
        <p:nvSpPr>
          <p:cNvPr id="33" name="Text 29"/>
          <p:cNvSpPr txBox="1"/>
          <p:nvPr/>
        </p:nvSpPr>
        <p:spPr>
          <a:xfrm>
            <a:off x="5440680" y="3950208"/>
            <a:ext cx="2468880" cy="274320"/>
          </a:xfrm>
          <a:prstGeom prst="rect">
            <a:avLst/>
          </a:prstGeom>
          <a:noFill/>
          <a:ln/>
        </p:spPr>
        <p:txBody>
          <a:bodyPr wrap="square" lIns="0" tIns="0" rIns="0" bIns="0" rtlCol="0" anchor="t"/>
          <a:lstStyle/>
          <a:p>
            <a:pPr marL="0" indent="0">
              <a:buNone/>
            </a:pPr>
            <a:r>
              <a:rPr lang="en-US" sz="1400" b="1" dirty="0">
                <a:solidFill>
                  <a:srgbClr val="FFFFFF"/>
                </a:solidFill>
              </a:rPr>
              <a:t>Train and evaluate model</a:t>
            </a:r>
            <a:endParaRPr lang="en-US" sz="1400" dirty="0"/>
          </a:p>
        </p:txBody>
      </p:sp>
      <p:sp>
        <p:nvSpPr>
          <p:cNvPr id="34" name="Text 30"/>
          <p:cNvSpPr txBox="1"/>
          <p:nvPr/>
        </p:nvSpPr>
        <p:spPr>
          <a:xfrm>
            <a:off x="5440680" y="4242816"/>
            <a:ext cx="2468880" cy="274320"/>
          </a:xfrm>
          <a:prstGeom prst="rect">
            <a:avLst/>
          </a:prstGeom>
          <a:noFill/>
          <a:ln/>
        </p:spPr>
        <p:txBody>
          <a:bodyPr wrap="square" lIns="0" tIns="0" rIns="0" bIns="0" rtlCol="0" anchor="t"/>
          <a:lstStyle/>
          <a:p>
            <a:pPr marL="0" indent="0">
              <a:buNone/>
            </a:pPr>
            <a:r>
              <a:rPr lang="en-US" sz="1200" dirty="0">
                <a:solidFill>
                  <a:srgbClr val="A9BBCF"/>
                </a:solidFill>
              </a:rPr>
              <a:t>Scikit-learn</a:t>
            </a:r>
            <a:endParaRPr lang="en-US" sz="1200" dirty="0"/>
          </a:p>
        </p:txBody>
      </p:sp>
      <p:sp>
        <p:nvSpPr>
          <p:cNvPr id="35" name="Stage circle 4"/>
          <p:cNvSpPr/>
          <p:nvPr/>
        </p:nvSpPr>
        <p:spPr>
          <a:xfrm>
            <a:off x="4846320" y="4992624"/>
            <a:ext cx="420624" cy="420624"/>
          </a:xfrm>
          <a:prstGeom prst="ellipse">
            <a:avLst/>
          </a:prstGeom>
          <a:solidFill>
            <a:srgbClr val="0A1426"/>
          </a:solidFill>
          <a:ln w="15875">
            <a:solidFill>
              <a:srgbClr val="6CD9FF"/>
            </a:solidFill>
            <a:prstDash val="solid"/>
          </a:ln>
        </p:spPr>
      </p:sp>
      <p:sp>
        <p:nvSpPr>
          <p:cNvPr id="36" name="Text 32"/>
          <p:cNvSpPr txBox="1"/>
          <p:nvPr/>
        </p:nvSpPr>
        <p:spPr>
          <a:xfrm>
            <a:off x="4846320" y="4992624"/>
            <a:ext cx="420624" cy="420624"/>
          </a:xfrm>
          <a:prstGeom prst="rect">
            <a:avLst/>
          </a:prstGeom>
          <a:noFill/>
          <a:ln/>
        </p:spPr>
        <p:txBody>
          <a:bodyPr wrap="square" lIns="0" tIns="0" rIns="0" bIns="0" rtlCol="0" anchor="ctr"/>
          <a:lstStyle/>
          <a:p>
            <a:pPr marL="0" indent="0" algn="ctr">
              <a:buNone/>
            </a:pPr>
            <a:r>
              <a:rPr lang="en-US" sz="1400" b="1" dirty="0">
                <a:solidFill>
                  <a:srgbClr val="6CD9FF"/>
                </a:solidFill>
              </a:rPr>
              <a:t>4</a:t>
            </a:r>
            <a:endParaRPr lang="en-US" sz="1400" dirty="0"/>
          </a:p>
        </p:txBody>
      </p:sp>
      <p:sp>
        <p:nvSpPr>
          <p:cNvPr id="37" name="Text 33"/>
          <p:cNvSpPr txBox="1"/>
          <p:nvPr/>
        </p:nvSpPr>
        <p:spPr>
          <a:xfrm>
            <a:off x="5440680" y="4974336"/>
            <a:ext cx="2468880" cy="274320"/>
          </a:xfrm>
          <a:prstGeom prst="rect">
            <a:avLst/>
          </a:prstGeom>
          <a:noFill/>
          <a:ln/>
        </p:spPr>
        <p:txBody>
          <a:bodyPr wrap="square" lIns="0" tIns="0" rIns="0" bIns="0" rtlCol="0" anchor="t"/>
          <a:lstStyle/>
          <a:p>
            <a:pPr marL="0" indent="0">
              <a:buNone/>
            </a:pPr>
            <a:r>
              <a:rPr lang="en-US" sz="1400" b="1" dirty="0">
                <a:solidFill>
                  <a:srgbClr val="FFFFFF"/>
                </a:solidFill>
              </a:rPr>
              <a:t>Plot and interpret results</a:t>
            </a:r>
            <a:endParaRPr lang="en-US" sz="1400" dirty="0"/>
          </a:p>
        </p:txBody>
      </p:sp>
      <p:sp>
        <p:nvSpPr>
          <p:cNvPr id="38" name="Text 34"/>
          <p:cNvSpPr txBox="1"/>
          <p:nvPr/>
        </p:nvSpPr>
        <p:spPr>
          <a:xfrm>
            <a:off x="5440680" y="5266944"/>
            <a:ext cx="2468880" cy="274320"/>
          </a:xfrm>
          <a:prstGeom prst="rect">
            <a:avLst/>
          </a:prstGeom>
          <a:noFill/>
          <a:ln/>
        </p:spPr>
        <p:txBody>
          <a:bodyPr wrap="square" lIns="0" tIns="0" rIns="0" bIns="0" rtlCol="0" anchor="t"/>
          <a:lstStyle/>
          <a:p>
            <a:pPr marL="0" indent="0">
              <a:buNone/>
            </a:pPr>
            <a:r>
              <a:rPr lang="en-US" sz="1200" dirty="0">
                <a:solidFill>
                  <a:srgbClr val="A9BBCF"/>
                </a:solidFill>
              </a:rPr>
              <a:t>Matplotlib, Seaborn</a:t>
            </a:r>
            <a:endParaRPr lang="en-US" sz="1200" dirty="0"/>
          </a:p>
        </p:txBody>
      </p:sp>
      <p:sp>
        <p:nvSpPr>
          <p:cNvPr id="4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RESULTS &amp; EVALUATION</a:t>
            </a:r>
            <a:endParaRPr lang="en-US" sz="2800" dirty="0"/>
          </a:p>
        </p:txBody>
      </p:sp>
      <p:sp>
        <p:nvSpPr>
          <p:cNvPr id="3" name="Card metrics"/>
          <p:cNvSpPr/>
          <p:nvPr/>
        </p:nvSpPr>
        <p:spPr>
          <a:xfrm>
            <a:off x="548640" y="1143000"/>
            <a:ext cx="5760720" cy="5166360"/>
          </a:xfrm>
          <a:prstGeom prst="roundRect">
            <a:avLst>
              <a:gd name="adj" fmla="val 1416"/>
            </a:avLst>
          </a:prstGeom>
          <a:solidFill>
            <a:srgbClr val="0E172A">
              <a:alpha val="95000"/>
            </a:srgbClr>
          </a:solidFill>
          <a:ln w="12700">
            <a:solidFill>
              <a:srgbClr val="2A8FBF"/>
            </a:solidFill>
            <a:prstDash val="solid"/>
          </a:ln>
        </p:spPr>
      </p:sp>
      <p:pic>
        <p:nvPicPr>
          <p:cNvPr id="4" name="Icon EVALUATION METRICS" descr="EVALUATION METRICS"/>
          <p:cNvPicPr>
            <a:picLocks noChangeAspect="1"/>
          </p:cNvPicPr>
          <p:nvPr/>
        </p:nvPicPr>
        <p:blipFill>
          <a:blip r:embed="rId3"/>
          <a:stretch>
            <a:fillRect/>
          </a:stretch>
        </p:blipFill>
        <p:spPr>
          <a:xfrm>
            <a:off x="777240" y="1307592"/>
            <a:ext cx="292608" cy="292608"/>
          </a:xfrm>
          <a:prstGeom prst="rect">
            <a:avLst/>
          </a:prstGeom>
        </p:spPr>
      </p:pic>
      <p:sp>
        <p:nvSpPr>
          <p:cNvPr id="5" name="Heading EVALUATION METRICS"/>
          <p:cNvSpPr txBox="1"/>
          <p:nvPr/>
        </p:nvSpPr>
        <p:spPr>
          <a:xfrm>
            <a:off x="1179576" y="1307592"/>
            <a:ext cx="325526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EVALUATION METRICS</a:t>
            </a:r>
            <a:endParaRPr lang="en-US" sz="1400" dirty="0"/>
          </a:p>
        </p:txBody>
      </p:sp>
      <p:sp>
        <p:nvSpPr>
          <p:cNvPr id="6" name="Tag TEMPLATE"/>
          <p:cNvSpPr txBox="1"/>
          <p:nvPr/>
        </p:nvSpPr>
        <p:spPr>
          <a:xfrm>
            <a:off x="4800600" y="1335024"/>
            <a:ext cx="1280160" cy="237744"/>
          </a:xfrm>
          <a:prstGeom prst="roundRect">
            <a:avLst>
              <a:gd name="adj" fmla="val 50000"/>
            </a:avLst>
          </a:prstGeom>
          <a:solidFill>
            <a:srgbClr val="08121F"/>
          </a:solidFill>
          <a:ln w="12700">
            <a:solidFill>
              <a:srgbClr val="F2B24C"/>
            </a:solidFill>
          </a:ln>
        </p:spPr>
        <p:txBody>
          <a:bodyPr wrap="square" lIns="0" tIns="0" rIns="0" bIns="0" rtlCol="0" anchor="ctr"/>
          <a:lstStyle/>
          <a:p>
            <a:pPr marL="0" indent="0" algn="ctr">
              <a:buNone/>
            </a:pPr>
            <a:r>
              <a:rPr lang="en-US" sz="1000" b="1" kern="0" spc="100" dirty="0">
                <a:solidFill>
                  <a:srgbClr val="F2B24C"/>
                </a:solidFill>
              </a:rPr>
              <a:t>TEMPLATE</a:t>
            </a:r>
            <a:endParaRPr lang="en-US" sz="1000" dirty="0"/>
          </a:p>
        </p:txBody>
      </p:sp>
      <p:graphicFrame>
        <p:nvGraphicFramePr>
          <p:cNvPr id="13" name="Table metrics template"/>
          <p:cNvGraphicFramePr>
            <a:graphicFrameLocks noGrp="1"/>
          </p:cNvGraphicFramePr>
          <p:nvPr>
            <p:extLst>
              <p:ext uri="{D42A27DB-BD31-4B8C-83A1-F6EECF244321}">
                <p14:modId xmlns:p14="http://schemas.microsoft.com/office/powerpoint/2010/main" val="946422890"/>
              </p:ext>
            </p:extLst>
          </p:nvPr>
        </p:nvGraphicFramePr>
        <p:xfrm>
          <a:off x="777240" y="1828800"/>
          <a:ext cx="5303520" cy="3200400"/>
        </p:xfrm>
        <a:graphic>
          <a:graphicData uri="http://schemas.openxmlformats.org/drawingml/2006/table">
            <a:tbl>
              <a:tblPr/>
              <a:tblGrid>
                <a:gridCol w="2011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57200">
                <a:tc>
                  <a:txBody>
                    <a:bodyPr/>
                    <a:lstStyle/>
                    <a:p>
                      <a:pPr marL="0" indent="0" algn="ctr">
                        <a:buNone/>
                      </a:pPr>
                      <a:r>
                        <a:rPr lang="en-US" sz="1300" b="1" dirty="0">
                          <a:solidFill>
                            <a:srgbClr val="6CD9FF"/>
                          </a:solidFill>
                        </a:rPr>
                        <a:t>Metric</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tc>
                  <a:txBody>
                    <a:bodyPr/>
                    <a:lstStyle/>
                    <a:p>
                      <a:pPr marL="0" indent="0" algn="ctr">
                        <a:buNone/>
                      </a:pPr>
                      <a:r>
                        <a:rPr lang="en-US" sz="1300" b="1" dirty="0">
                          <a:solidFill>
                            <a:srgbClr val="6CD9FF"/>
                          </a:solidFill>
                        </a:rPr>
                        <a:t>Our model</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tc>
                  <a:txBody>
                    <a:bodyPr/>
                    <a:lstStyle/>
                    <a:p>
                      <a:pPr marL="0" indent="0" algn="ctr">
                        <a:buNone/>
                      </a:pPr>
                      <a:r>
                        <a:rPr lang="en-US" sz="1300" b="1" dirty="0">
                          <a:solidFill>
                            <a:srgbClr val="6CD9FF"/>
                          </a:solidFill>
                        </a:rPr>
                        <a:t>Baseline</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6CD9FF"/>
                          </a:solidFill>
                        </a:rPr>
                        <a:t>Accuracy</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95%</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90%</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6CD9FF"/>
                          </a:solidFill>
                        </a:rPr>
                        <a:t>Precision</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85%</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0%</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6CD9FF"/>
                          </a:solidFill>
                        </a:rPr>
                        <a:t>Recall</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80%</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0%</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6CD9FF"/>
                          </a:solidFill>
                        </a:rPr>
                        <a:t>F1-score</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82.5%</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0%</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6CD9FF"/>
                          </a:solidFill>
                        </a:rPr>
                        <a:t>False-positive rate</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2%</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0%</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6CD9FF"/>
                          </a:solidFill>
                        </a:rPr>
                        <a:t>False-negative rate</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20%</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100%</a:t>
                      </a:r>
                      <a:endParaRPr lang="en-US" sz="1300" dirty="0"/>
                    </a:p>
                  </a:txBody>
                  <a:tcPr marL="64008" marR="64008" marT="64008" marB="64008"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6"/>
                  </a:ext>
                </a:extLst>
              </a:tr>
            </a:tbl>
          </a:graphicData>
        </a:graphic>
      </p:graphicFrame>
      <p:sp>
        <p:nvSpPr>
          <p:cNvPr id="8" name="Text 4"/>
          <p:cNvSpPr txBox="1"/>
          <p:nvPr/>
        </p:nvSpPr>
        <p:spPr>
          <a:xfrm>
            <a:off x="777240" y="5257800"/>
            <a:ext cx="5303520" cy="822960"/>
          </a:xfrm>
          <a:prstGeom prst="rect">
            <a:avLst/>
          </a:prstGeom>
          <a:noFill/>
          <a:ln/>
        </p:spPr>
        <p:txBody>
          <a:bodyPr wrap="square" lIns="0" tIns="0" rIns="0" bIns="0" rtlCol="0" anchor="t"/>
          <a:lstStyle/>
          <a:p>
            <a:pPr marL="0" indent="0">
              <a:buNone/>
            </a:pPr>
            <a:r>
              <a:rPr lang="en-US" sz="1300" dirty="0">
                <a:solidFill>
                  <a:srgbClr val="A9BBCF"/>
                </a:solidFill>
              </a:rPr>
              <a:t>.</a:t>
            </a:r>
            <a:endParaRPr lang="en-US" sz="1300" dirty="0"/>
          </a:p>
        </p:txBody>
      </p:sp>
      <p:sp>
        <p:nvSpPr>
          <p:cNvPr id="9" name="Card confusion matrix"/>
          <p:cNvSpPr/>
          <p:nvPr/>
        </p:nvSpPr>
        <p:spPr>
          <a:xfrm>
            <a:off x="6583680" y="1143000"/>
            <a:ext cx="5059375" cy="2514600"/>
          </a:xfrm>
          <a:prstGeom prst="roundRect">
            <a:avLst>
              <a:gd name="adj" fmla="val 2909"/>
            </a:avLst>
          </a:prstGeom>
          <a:solidFill>
            <a:srgbClr val="0E172A">
              <a:alpha val="95000"/>
            </a:srgbClr>
          </a:solidFill>
          <a:ln w="12700">
            <a:solidFill>
              <a:srgbClr val="2A8FBF"/>
            </a:solidFill>
            <a:prstDash val="solid"/>
          </a:ln>
        </p:spPr>
      </p:sp>
      <p:pic>
        <p:nvPicPr>
          <p:cNvPr id="10" name="Icon CONFUSION MATRIX" descr="CONFUSION MATRIX"/>
          <p:cNvPicPr>
            <a:picLocks noChangeAspect="1"/>
          </p:cNvPicPr>
          <p:nvPr/>
        </p:nvPicPr>
        <p:blipFill>
          <a:blip r:embed="rId4"/>
          <a:stretch>
            <a:fillRect/>
          </a:stretch>
        </p:blipFill>
        <p:spPr>
          <a:xfrm>
            <a:off x="6812280" y="1307592"/>
            <a:ext cx="292608" cy="292608"/>
          </a:xfrm>
          <a:prstGeom prst="rect">
            <a:avLst/>
          </a:prstGeom>
        </p:spPr>
      </p:pic>
      <p:sp>
        <p:nvSpPr>
          <p:cNvPr id="11" name="Heading CONFUSION MATRIX"/>
          <p:cNvSpPr txBox="1"/>
          <p:nvPr/>
        </p:nvSpPr>
        <p:spPr>
          <a:xfrm>
            <a:off x="7214616" y="1307592"/>
            <a:ext cx="288950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CONFUSION MATRIX</a:t>
            </a:r>
            <a:endParaRPr lang="en-US" sz="1400" dirty="0"/>
          </a:p>
        </p:txBody>
      </p:sp>
      <p:graphicFrame>
        <p:nvGraphicFramePr>
          <p:cNvPr id="25" name="Table confusion matrix"/>
          <p:cNvGraphicFramePr>
            <a:graphicFrameLocks noGrp="1"/>
          </p:cNvGraphicFramePr>
          <p:nvPr>
            <p:extLst>
              <p:ext uri="{D42A27DB-BD31-4B8C-83A1-F6EECF244321}">
                <p14:modId xmlns:p14="http://schemas.microsoft.com/office/powerpoint/2010/main" val="1120227558"/>
              </p:ext>
            </p:extLst>
          </p:nvPr>
        </p:nvGraphicFramePr>
        <p:xfrm>
          <a:off x="6812280" y="1828800"/>
          <a:ext cx="4602175" cy="1508760"/>
        </p:xfrm>
        <a:graphic>
          <a:graphicData uri="http://schemas.openxmlformats.org/drawingml/2006/table">
            <a:tbl>
              <a:tblPr/>
              <a:tblGrid>
                <a:gridCol w="1508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721815">
                  <a:extLst>
                    <a:ext uri="{9D8B030D-6E8A-4147-A177-3AD203B41FA5}">
                      <a16:colId xmlns:a16="http://schemas.microsoft.com/office/drawing/2014/main" val="20002"/>
                    </a:ext>
                  </a:extLst>
                </a:gridCol>
              </a:tblGrid>
              <a:tr h="502920">
                <a:tc>
                  <a:txBody>
                    <a:bodyPr/>
                    <a:lstStyle/>
                    <a:p>
                      <a:pPr marL="0" indent="0">
                        <a:buNone/>
                      </a:pP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tc>
                  <a:txBody>
                    <a:bodyPr/>
                    <a:lstStyle/>
                    <a:p>
                      <a:pPr marL="0" indent="0" algn="ctr">
                        <a:buNone/>
                      </a:pPr>
                      <a:r>
                        <a:rPr lang="en-US" sz="1300" b="1" dirty="0">
                          <a:solidFill>
                            <a:srgbClr val="6CD9FF"/>
                          </a:solidFill>
                        </a:rPr>
                        <a:t>Pred: Normal</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tc>
                  <a:txBody>
                    <a:bodyPr/>
                    <a:lstStyle/>
                    <a:p>
                      <a:pPr marL="0" indent="0" algn="ctr">
                        <a:buNone/>
                      </a:pPr>
                      <a:r>
                        <a:rPr lang="en-US" sz="1300" b="1" dirty="0">
                          <a:solidFill>
                            <a:srgbClr val="6CD9FF"/>
                          </a:solidFill>
                        </a:rPr>
                        <a:t>Pred: Suspicious</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A1426"/>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6CD9FF"/>
                          </a:solidFill>
                        </a:rPr>
                        <a:t>Actual: Normal</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900</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20</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6CD9FF"/>
                          </a:solidFill>
                        </a:rPr>
                        <a:t>Actual: Suspicious</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16</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tc>
                  <a:txBody>
                    <a:bodyPr/>
                    <a:lstStyle/>
                    <a:p>
                      <a:pPr marL="0" indent="0" algn="ctr">
                        <a:buNone/>
                      </a:pPr>
                      <a:r>
                        <a:rPr lang="en-US" sz="1300" b="1" dirty="0">
                          <a:solidFill>
                            <a:srgbClr val="F2B24C"/>
                          </a:solidFill>
                        </a:rPr>
                        <a:t>64</a:t>
                      </a:r>
                      <a:endParaRPr lang="en-US" sz="1300" dirty="0"/>
                    </a:p>
                  </a:txBody>
                  <a:tcPr marL="54864" marR="54864" marT="54864" marB="54864" anchor="ctr">
                    <a:lnL w="9525" cap="flat" cmpd="sng" algn="ctr">
                      <a:solidFill>
                        <a:srgbClr val="2A8FBF"/>
                      </a:solidFill>
                      <a:prstDash val="solid"/>
                      <a:round/>
                      <a:headEnd type="none" w="med" len="med"/>
                      <a:tailEnd type="none" w="med" len="med"/>
                    </a:lnL>
                    <a:lnR w="9525" cap="flat" cmpd="sng" algn="ctr">
                      <a:solidFill>
                        <a:srgbClr val="2A8FBF"/>
                      </a:solidFill>
                      <a:prstDash val="solid"/>
                      <a:round/>
                      <a:headEnd type="none" w="med" len="med"/>
                      <a:tailEnd type="none" w="med" len="med"/>
                    </a:lnR>
                    <a:lnT w="9525" cap="flat" cmpd="sng" algn="ctr">
                      <a:solidFill>
                        <a:srgbClr val="2A8FBF"/>
                      </a:solidFill>
                      <a:prstDash val="solid"/>
                      <a:round/>
                      <a:headEnd type="none" w="med" len="med"/>
                      <a:tailEnd type="none" w="med" len="med"/>
                    </a:lnT>
                    <a:lnB w="9525" cap="flat" cmpd="sng" algn="ctr">
                      <a:solidFill>
                        <a:srgbClr val="2A8FBF"/>
                      </a:solidFill>
                      <a:prstDash val="solid"/>
                      <a:round/>
                      <a:headEnd type="none" w="med" len="med"/>
                      <a:tailEnd type="none" w="med" len="med"/>
                    </a:lnB>
                    <a:solidFill>
                      <a:srgbClr val="0E172A"/>
                    </a:solidFill>
                  </a:tcPr>
                </a:tc>
                <a:extLst>
                  <a:ext uri="{0D108BD9-81ED-4DB2-BD59-A6C34878D82A}">
                    <a16:rowId xmlns:a16="http://schemas.microsoft.com/office/drawing/2014/main" val="10002"/>
                  </a:ext>
                </a:extLst>
              </a:tr>
            </a:tbl>
          </a:graphicData>
        </a:graphic>
      </p:graphicFrame>
      <p:sp>
        <p:nvSpPr>
          <p:cNvPr id="7" name="Card accuracy misleading"/>
          <p:cNvSpPr/>
          <p:nvPr/>
        </p:nvSpPr>
        <p:spPr>
          <a:xfrm>
            <a:off x="6583680" y="3840480"/>
            <a:ext cx="5059375" cy="2468880"/>
          </a:xfrm>
          <a:prstGeom prst="roundRect">
            <a:avLst>
              <a:gd name="adj" fmla="val 2963"/>
            </a:avLst>
          </a:prstGeom>
          <a:solidFill>
            <a:srgbClr val="0E172A">
              <a:alpha val="95000"/>
            </a:srgbClr>
          </a:solidFill>
          <a:ln w="12700">
            <a:solidFill>
              <a:srgbClr val="6CD9FF"/>
            </a:solidFill>
            <a:prstDash val="solid"/>
          </a:ln>
        </p:spPr>
      </p:sp>
      <p:pic>
        <p:nvPicPr>
          <p:cNvPr id="14" name="Icon WHY ACCURACY ALONE MISLEADS" descr="WHY ACCURACY ALONE MISLEADS"/>
          <p:cNvPicPr>
            <a:picLocks noChangeAspect="1"/>
          </p:cNvPicPr>
          <p:nvPr/>
        </p:nvPicPr>
        <p:blipFill>
          <a:blip r:embed="rId5"/>
          <a:stretch>
            <a:fillRect/>
          </a:stretch>
        </p:blipFill>
        <p:spPr>
          <a:xfrm>
            <a:off x="6812280" y="4005072"/>
            <a:ext cx="292608" cy="292608"/>
          </a:xfrm>
          <a:prstGeom prst="rect">
            <a:avLst/>
          </a:prstGeom>
        </p:spPr>
      </p:pic>
      <p:sp>
        <p:nvSpPr>
          <p:cNvPr id="15" name="Heading WHY ACCURACY ALONE MISLEADS"/>
          <p:cNvSpPr txBox="1"/>
          <p:nvPr/>
        </p:nvSpPr>
        <p:spPr>
          <a:xfrm>
            <a:off x="7214616" y="4005072"/>
            <a:ext cx="4291279" cy="292608"/>
          </a:xfrm>
          <a:prstGeom prst="rect">
            <a:avLst/>
          </a:prstGeom>
          <a:noFill/>
          <a:ln/>
        </p:spPr>
        <p:txBody>
          <a:bodyPr wrap="square" lIns="0" tIns="0" rIns="0" bIns="0" rtlCol="0" anchor="ctr"/>
          <a:lstStyle/>
          <a:p>
            <a:pPr marL="0" indent="0">
              <a:buNone/>
            </a:pPr>
            <a:r>
              <a:rPr lang="en-US" sz="1400" b="1" kern="0" spc="150" dirty="0">
                <a:solidFill>
                  <a:srgbClr val="6CD9FF"/>
                </a:solidFill>
              </a:rPr>
              <a:t>WHY ACCURACY ALONE MISLEADS</a:t>
            </a:r>
            <a:endParaRPr lang="en-US" sz="1400" dirty="0"/>
          </a:p>
        </p:txBody>
      </p:sp>
      <p:sp>
        <p:nvSpPr>
          <p:cNvPr id="16" name="Text 9"/>
          <p:cNvSpPr txBox="1"/>
          <p:nvPr/>
        </p:nvSpPr>
        <p:spPr>
          <a:xfrm>
            <a:off x="6812280" y="4498848"/>
            <a:ext cx="4602175" cy="1691640"/>
          </a:xfrm>
          <a:prstGeom prst="rect">
            <a:avLst/>
          </a:prstGeom>
          <a:noFill/>
          <a:ln/>
        </p:spPr>
        <p:txBody>
          <a:bodyPr wrap="square" lIns="0" tIns="0" rIns="0" bIns="0" rtlCol="0" anchor="t"/>
          <a:lstStyle/>
          <a:p>
            <a:pPr marL="0" indent="0">
              <a:buNone/>
            </a:pPr>
            <a:r>
              <a:rPr lang="en-US" sz="1500" dirty="0">
                <a:solidFill>
                  <a:srgbClr val="E8F1FA"/>
                </a:solidFill>
              </a:rPr>
              <a:t>Insider events are rare. A model that always says "normal" can still score very high accuracy while missing every threat. So also report precision, recall, F1 and the false-positive and false-negative rates.</a:t>
            </a:r>
            <a:endParaRPr lang="en-US" sz="1500" dirty="0"/>
          </a:p>
        </p:txBody>
      </p:sp>
      <p:sp>
        <p:nvSpPr>
          <p:cNvPr id="12"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ADVANTAGES, APPLICATIONS &amp; LIMITATIONS</a:t>
            </a:r>
            <a:endParaRPr lang="en-US" sz="2800" dirty="0"/>
          </a:p>
        </p:txBody>
      </p:sp>
      <p:sp>
        <p:nvSpPr>
          <p:cNvPr id="3" name="Card POTENTIAL ADVANTAGES"/>
          <p:cNvSpPr/>
          <p:nvPr/>
        </p:nvSpPr>
        <p:spPr>
          <a:xfrm>
            <a:off x="548640" y="1143000"/>
            <a:ext cx="3515258" cy="4526280"/>
          </a:xfrm>
          <a:prstGeom prst="roundRect">
            <a:avLst>
              <a:gd name="adj" fmla="val 2081"/>
            </a:avLst>
          </a:prstGeom>
          <a:solidFill>
            <a:srgbClr val="0E172A">
              <a:alpha val="95000"/>
            </a:srgbClr>
          </a:solidFill>
          <a:ln w="12700">
            <a:solidFill>
              <a:srgbClr val="2A8FBF"/>
            </a:solidFill>
            <a:prstDash val="solid"/>
          </a:ln>
        </p:spPr>
      </p:sp>
      <p:pic>
        <p:nvPicPr>
          <p:cNvPr id="4" name="Icon POTENTIAL ADVANTAGES" descr="POTENTIAL ADVANTAGES"/>
          <p:cNvPicPr>
            <a:picLocks noChangeAspect="1"/>
          </p:cNvPicPr>
          <p:nvPr/>
        </p:nvPicPr>
        <p:blipFill>
          <a:blip r:embed="rId3"/>
          <a:stretch>
            <a:fillRect/>
          </a:stretch>
        </p:blipFill>
        <p:spPr>
          <a:xfrm>
            <a:off x="777240" y="1325880"/>
            <a:ext cx="292608" cy="292608"/>
          </a:xfrm>
          <a:prstGeom prst="rect">
            <a:avLst/>
          </a:prstGeom>
        </p:spPr>
      </p:pic>
      <p:sp>
        <p:nvSpPr>
          <p:cNvPr id="5" name="Heading POTENTIAL ADVANTAGES"/>
          <p:cNvSpPr txBox="1"/>
          <p:nvPr/>
        </p:nvSpPr>
        <p:spPr>
          <a:xfrm>
            <a:off x="1179576" y="1325880"/>
            <a:ext cx="2747162" cy="292608"/>
          </a:xfrm>
          <a:prstGeom prst="rect">
            <a:avLst/>
          </a:prstGeom>
          <a:noFill/>
          <a:ln/>
        </p:spPr>
        <p:txBody>
          <a:bodyPr wrap="square" lIns="0" tIns="0" rIns="0" bIns="0" rtlCol="0" anchor="ctr"/>
          <a:lstStyle/>
          <a:p>
            <a:pPr marL="0" indent="0">
              <a:buNone/>
            </a:pPr>
            <a:r>
              <a:rPr lang="en-US" sz="1400" b="1" kern="0" spc="150" dirty="0">
                <a:solidFill>
                  <a:srgbClr val="6CD9FF"/>
                </a:solidFill>
              </a:rPr>
              <a:t>POTENTIAL ADVANTAGES</a:t>
            </a:r>
            <a:endParaRPr lang="en-US" sz="1400" dirty="0"/>
          </a:p>
        </p:txBody>
      </p:sp>
      <p:sp>
        <p:nvSpPr>
          <p:cNvPr id="6" name="Bullets"/>
          <p:cNvSpPr txBox="1"/>
          <p:nvPr/>
        </p:nvSpPr>
        <p:spPr>
          <a:xfrm>
            <a:off x="777240" y="1874520"/>
            <a:ext cx="3058058" cy="3657600"/>
          </a:xfrm>
          <a:prstGeom prst="rect">
            <a:avLst/>
          </a:prstGeom>
          <a:noFill/>
          <a:ln/>
        </p:spPr>
        <p:txBody>
          <a:bodyPr wrap="square" lIns="0" tIns="0" rIns="0" bIns="0" rtlCol="0" anchor="t"/>
          <a:lstStyle/>
          <a:p>
            <a:pPr marL="203200" indent="-203200">
              <a:spcAft>
                <a:spcPts val="1600"/>
              </a:spcAft>
              <a:buSzPct val="100000"/>
              <a:buChar char="•"/>
            </a:pPr>
            <a:r>
              <a:rPr lang="en-US" sz="1800" dirty="0">
                <a:solidFill>
                  <a:srgbClr val="E8F1FA"/>
                </a:solidFill>
              </a:rPr>
              <a:t>May identify unusual behavior</a:t>
            </a:r>
            <a:endParaRPr lang="en-US" sz="1800" dirty="0"/>
          </a:p>
          <a:p>
            <a:pPr marL="203200" indent="-203200">
              <a:spcAft>
                <a:spcPts val="1600"/>
              </a:spcAft>
              <a:buSzPct val="100000"/>
              <a:buChar char="•"/>
            </a:pPr>
            <a:r>
              <a:rPr lang="en-US" sz="1800" dirty="0">
                <a:solidFill>
                  <a:srgbClr val="E8F1FA"/>
                </a:solidFill>
              </a:rPr>
              <a:t>Can support security investigations</a:t>
            </a:r>
            <a:endParaRPr lang="en-US" sz="1800" dirty="0"/>
          </a:p>
          <a:p>
            <a:pPr marL="203200" indent="-203200">
              <a:spcAft>
                <a:spcPts val="1600"/>
              </a:spcAft>
              <a:buSzPct val="100000"/>
              <a:buChar char="•"/>
            </a:pPr>
            <a:r>
              <a:rPr lang="en-US" sz="1800" dirty="0">
                <a:solidFill>
                  <a:srgbClr val="E8F1FA"/>
                </a:solidFill>
              </a:rPr>
              <a:t>Can analyze multiple behavioral features together</a:t>
            </a:r>
            <a:endParaRPr lang="en-US" sz="1800" dirty="0"/>
          </a:p>
        </p:txBody>
      </p:sp>
      <p:sp>
        <p:nvSpPr>
          <p:cNvPr id="7" name="Card APPLICATIONS"/>
          <p:cNvSpPr/>
          <p:nvPr/>
        </p:nvSpPr>
        <p:spPr>
          <a:xfrm>
            <a:off x="4338218" y="1143000"/>
            <a:ext cx="3515258" cy="4526280"/>
          </a:xfrm>
          <a:prstGeom prst="roundRect">
            <a:avLst>
              <a:gd name="adj" fmla="val 2081"/>
            </a:avLst>
          </a:prstGeom>
          <a:solidFill>
            <a:srgbClr val="0E172A">
              <a:alpha val="95000"/>
            </a:srgbClr>
          </a:solidFill>
          <a:ln w="12700">
            <a:solidFill>
              <a:srgbClr val="2A8FBF"/>
            </a:solidFill>
            <a:prstDash val="solid"/>
          </a:ln>
        </p:spPr>
      </p:sp>
      <p:pic>
        <p:nvPicPr>
          <p:cNvPr id="8" name="Icon APPLICATIONS" descr="APPLICATIONS"/>
          <p:cNvPicPr>
            <a:picLocks noChangeAspect="1"/>
          </p:cNvPicPr>
          <p:nvPr/>
        </p:nvPicPr>
        <p:blipFill>
          <a:blip r:embed="rId4"/>
          <a:stretch>
            <a:fillRect/>
          </a:stretch>
        </p:blipFill>
        <p:spPr>
          <a:xfrm>
            <a:off x="4566818" y="1325880"/>
            <a:ext cx="292608" cy="292608"/>
          </a:xfrm>
          <a:prstGeom prst="rect">
            <a:avLst/>
          </a:prstGeom>
        </p:spPr>
      </p:pic>
      <p:sp>
        <p:nvSpPr>
          <p:cNvPr id="9" name="Heading APPLICATIONS"/>
          <p:cNvSpPr txBox="1"/>
          <p:nvPr/>
        </p:nvSpPr>
        <p:spPr>
          <a:xfrm>
            <a:off x="4969154" y="1325880"/>
            <a:ext cx="2747162" cy="292608"/>
          </a:xfrm>
          <a:prstGeom prst="rect">
            <a:avLst/>
          </a:prstGeom>
          <a:noFill/>
          <a:ln/>
        </p:spPr>
        <p:txBody>
          <a:bodyPr wrap="square" lIns="0" tIns="0" rIns="0" bIns="0" rtlCol="0" anchor="ctr"/>
          <a:lstStyle/>
          <a:p>
            <a:pPr marL="0" indent="0">
              <a:buNone/>
            </a:pPr>
            <a:r>
              <a:rPr lang="en-US" sz="1400" b="1" kern="0" spc="150" dirty="0">
                <a:solidFill>
                  <a:srgbClr val="6CD9FF"/>
                </a:solidFill>
              </a:rPr>
              <a:t>APPLICATIONS</a:t>
            </a:r>
            <a:endParaRPr lang="en-US" sz="1400" dirty="0"/>
          </a:p>
        </p:txBody>
      </p:sp>
      <p:sp>
        <p:nvSpPr>
          <p:cNvPr id="10" name="Bullets"/>
          <p:cNvSpPr txBox="1"/>
          <p:nvPr/>
        </p:nvSpPr>
        <p:spPr>
          <a:xfrm>
            <a:off x="4566818" y="1874520"/>
            <a:ext cx="3058058" cy="3657600"/>
          </a:xfrm>
          <a:prstGeom prst="rect">
            <a:avLst/>
          </a:prstGeom>
          <a:noFill/>
          <a:ln/>
        </p:spPr>
        <p:txBody>
          <a:bodyPr wrap="square" lIns="0" tIns="0" rIns="0" bIns="0" rtlCol="0" anchor="t"/>
          <a:lstStyle/>
          <a:p>
            <a:pPr marL="203200" indent="-203200">
              <a:spcAft>
                <a:spcPts val="1600"/>
              </a:spcAft>
              <a:buSzPct val="100000"/>
              <a:buChar char="•"/>
            </a:pPr>
            <a:r>
              <a:rPr lang="en-US" sz="1800" dirty="0">
                <a:solidFill>
                  <a:srgbClr val="E8F1FA"/>
                </a:solidFill>
              </a:rPr>
              <a:t>Enterprise cybersecurity</a:t>
            </a:r>
            <a:endParaRPr lang="en-US" sz="1800" dirty="0"/>
          </a:p>
          <a:p>
            <a:pPr marL="203200" indent="-203200">
              <a:spcAft>
                <a:spcPts val="1600"/>
              </a:spcAft>
              <a:buSzPct val="100000"/>
              <a:buChar char="•"/>
            </a:pPr>
            <a:r>
              <a:rPr lang="en-US" sz="1800" dirty="0">
                <a:solidFill>
                  <a:srgbClr val="E8F1FA"/>
                </a:solidFill>
              </a:rPr>
              <a:t>Data loss prevention</a:t>
            </a:r>
            <a:endParaRPr lang="en-US" sz="1800" dirty="0"/>
          </a:p>
          <a:p>
            <a:pPr marL="203200" indent="-203200">
              <a:spcAft>
                <a:spcPts val="1600"/>
              </a:spcAft>
              <a:buSzPct val="100000"/>
              <a:buChar char="•"/>
            </a:pPr>
            <a:r>
              <a:rPr lang="en-US" sz="1800" dirty="0">
                <a:solidFill>
                  <a:srgbClr val="E8F1FA"/>
                </a:solidFill>
              </a:rPr>
              <a:t>Security operations centers</a:t>
            </a:r>
            <a:endParaRPr lang="en-US" sz="1800" dirty="0"/>
          </a:p>
          <a:p>
            <a:pPr marL="203200" indent="-203200">
              <a:spcAft>
                <a:spcPts val="1600"/>
              </a:spcAft>
              <a:buSzPct val="100000"/>
              <a:buChar char="•"/>
            </a:pPr>
            <a:r>
              <a:rPr lang="en-US" sz="1800" dirty="0">
                <a:solidFill>
                  <a:srgbClr val="E8F1FA"/>
                </a:solidFill>
              </a:rPr>
              <a:t>Monitoring access to sensitive resources</a:t>
            </a:r>
            <a:endParaRPr lang="en-US" sz="1800" dirty="0"/>
          </a:p>
        </p:txBody>
      </p:sp>
      <p:sp>
        <p:nvSpPr>
          <p:cNvPr id="11" name="Card LIMITATIONS"/>
          <p:cNvSpPr/>
          <p:nvPr/>
        </p:nvSpPr>
        <p:spPr>
          <a:xfrm>
            <a:off x="8127797" y="1143000"/>
            <a:ext cx="3515258" cy="4526280"/>
          </a:xfrm>
          <a:prstGeom prst="roundRect">
            <a:avLst>
              <a:gd name="adj" fmla="val 2081"/>
            </a:avLst>
          </a:prstGeom>
          <a:solidFill>
            <a:srgbClr val="0E172A">
              <a:alpha val="95000"/>
            </a:srgbClr>
          </a:solidFill>
          <a:ln w="12700">
            <a:solidFill>
              <a:srgbClr val="F2B24C"/>
            </a:solidFill>
            <a:prstDash val="solid"/>
          </a:ln>
        </p:spPr>
      </p:sp>
      <p:pic>
        <p:nvPicPr>
          <p:cNvPr id="12" name="Icon LIMITATIONS" descr="LIMITATIONS"/>
          <p:cNvPicPr>
            <a:picLocks noChangeAspect="1"/>
          </p:cNvPicPr>
          <p:nvPr/>
        </p:nvPicPr>
        <p:blipFill>
          <a:blip r:embed="rId5"/>
          <a:stretch>
            <a:fillRect/>
          </a:stretch>
        </p:blipFill>
        <p:spPr>
          <a:xfrm>
            <a:off x="8356397" y="1325880"/>
            <a:ext cx="292608" cy="292608"/>
          </a:xfrm>
          <a:prstGeom prst="rect">
            <a:avLst/>
          </a:prstGeom>
        </p:spPr>
      </p:pic>
      <p:sp>
        <p:nvSpPr>
          <p:cNvPr id="13" name="Heading LIMITATIONS"/>
          <p:cNvSpPr txBox="1"/>
          <p:nvPr/>
        </p:nvSpPr>
        <p:spPr>
          <a:xfrm>
            <a:off x="8758733" y="1325880"/>
            <a:ext cx="2747162" cy="292608"/>
          </a:xfrm>
          <a:prstGeom prst="rect">
            <a:avLst/>
          </a:prstGeom>
          <a:noFill/>
          <a:ln/>
        </p:spPr>
        <p:txBody>
          <a:bodyPr wrap="square" lIns="0" tIns="0" rIns="0" bIns="0" rtlCol="0" anchor="ctr"/>
          <a:lstStyle/>
          <a:p>
            <a:pPr marL="0" indent="0">
              <a:buNone/>
            </a:pPr>
            <a:r>
              <a:rPr lang="en-US" sz="1400" b="1" kern="0" spc="150" dirty="0">
                <a:solidFill>
                  <a:srgbClr val="F2B24C"/>
                </a:solidFill>
              </a:rPr>
              <a:t>LIMITATIONS</a:t>
            </a:r>
            <a:endParaRPr lang="en-US" sz="1400" dirty="0"/>
          </a:p>
        </p:txBody>
      </p:sp>
      <p:sp>
        <p:nvSpPr>
          <p:cNvPr id="14" name="Bullets"/>
          <p:cNvSpPr txBox="1"/>
          <p:nvPr/>
        </p:nvSpPr>
        <p:spPr>
          <a:xfrm>
            <a:off x="8356397" y="1874520"/>
            <a:ext cx="3058058" cy="3657600"/>
          </a:xfrm>
          <a:prstGeom prst="rect">
            <a:avLst/>
          </a:prstGeom>
          <a:noFill/>
          <a:ln/>
        </p:spPr>
        <p:txBody>
          <a:bodyPr wrap="square" lIns="0" tIns="0" rIns="0" bIns="0" rtlCol="0" anchor="t"/>
          <a:lstStyle/>
          <a:p>
            <a:pPr marL="203200" indent="-203200">
              <a:spcAft>
                <a:spcPts val="1600"/>
              </a:spcAft>
              <a:buSzPct val="100000"/>
              <a:buChar char="•"/>
            </a:pPr>
            <a:r>
              <a:rPr lang="en-US" sz="1800" dirty="0">
                <a:solidFill>
                  <a:srgbClr val="E8F1FA"/>
                </a:solidFill>
              </a:rPr>
              <a:t>False alarms</a:t>
            </a:r>
            <a:endParaRPr lang="en-US" sz="1800" dirty="0"/>
          </a:p>
          <a:p>
            <a:pPr marL="203200" indent="-203200">
              <a:spcAft>
                <a:spcPts val="1600"/>
              </a:spcAft>
              <a:buSzPct val="100000"/>
              <a:buChar char="•"/>
            </a:pPr>
            <a:r>
              <a:rPr lang="en-US" sz="1800" dirty="0">
                <a:solidFill>
                  <a:srgbClr val="E8F1FA"/>
                </a:solidFill>
              </a:rPr>
              <a:t>Incomplete or biased datasets</a:t>
            </a:r>
            <a:endParaRPr lang="en-US" sz="1800" dirty="0"/>
          </a:p>
          <a:p>
            <a:pPr marL="203200" indent="-203200">
              <a:spcAft>
                <a:spcPts val="1600"/>
              </a:spcAft>
              <a:buSzPct val="100000"/>
              <a:buChar char="•"/>
            </a:pPr>
            <a:r>
              <a:rPr lang="en-US" sz="1800" dirty="0">
                <a:solidFill>
                  <a:srgbClr val="E8F1FA"/>
                </a:solidFill>
              </a:rPr>
              <a:t>Hard to tell legitimate unusual behavior from malicious activity</a:t>
            </a:r>
            <a:endParaRPr lang="en-US" sz="1800" dirty="0"/>
          </a:p>
          <a:p>
            <a:pPr marL="203200" indent="-203200">
              <a:spcAft>
                <a:spcPts val="1600"/>
              </a:spcAft>
              <a:buSzPct val="100000"/>
              <a:buChar char="•"/>
            </a:pPr>
            <a:r>
              <a:rPr lang="en-US" sz="1800" dirty="0">
                <a:solidFill>
                  <a:srgbClr val="E8F1FA"/>
                </a:solidFill>
              </a:rPr>
              <a:t>Privacy and data-protection concerns</a:t>
            </a:r>
            <a:endParaRPr lang="en-US" sz="1800" dirty="0"/>
          </a:p>
          <a:p>
            <a:pPr marL="203200" indent="-203200">
              <a:spcAft>
                <a:spcPts val="1600"/>
              </a:spcAft>
              <a:buSzPct val="100000"/>
              <a:buChar char="•"/>
            </a:pPr>
            <a:r>
              <a:rPr lang="en-US" sz="1800" dirty="0">
                <a:solidFill>
                  <a:srgbClr val="E8F1FA"/>
                </a:solidFill>
              </a:rPr>
              <a:t>Limited generalization to unseen environments</a:t>
            </a:r>
            <a:endParaRPr lang="en-US" sz="1800" dirty="0"/>
          </a:p>
        </p:txBody>
      </p:sp>
      <p:sp>
        <p:nvSpPr>
          <p:cNvPr id="15" name="Card disclaimer"/>
          <p:cNvSpPr/>
          <p:nvPr/>
        </p:nvSpPr>
        <p:spPr>
          <a:xfrm>
            <a:off x="548640" y="5852160"/>
            <a:ext cx="11094415" cy="457200"/>
          </a:xfrm>
          <a:prstGeom prst="roundRect">
            <a:avLst>
              <a:gd name="adj" fmla="val 16000"/>
            </a:avLst>
          </a:prstGeom>
          <a:solidFill>
            <a:srgbClr val="0E172A">
              <a:alpha val="95000"/>
            </a:srgbClr>
          </a:solidFill>
          <a:ln w="12700">
            <a:solidFill>
              <a:srgbClr val="6CD9FF"/>
            </a:solidFill>
            <a:prstDash val="solid"/>
          </a:ln>
        </p:spPr>
      </p:sp>
      <p:sp>
        <p:nvSpPr>
          <p:cNvPr id="16" name="Text 11"/>
          <p:cNvSpPr txBox="1"/>
          <p:nvPr/>
        </p:nvSpPr>
        <p:spPr>
          <a:xfrm>
            <a:off x="822960" y="5852160"/>
            <a:ext cx="10545775" cy="457200"/>
          </a:xfrm>
          <a:prstGeom prst="rect">
            <a:avLst/>
          </a:prstGeom>
          <a:noFill/>
          <a:ln/>
        </p:spPr>
        <p:txBody>
          <a:bodyPr wrap="square" lIns="0" tIns="0" rIns="0" bIns="0" rtlCol="0" anchor="ctr"/>
          <a:lstStyle/>
          <a:p>
            <a:pPr marL="0" indent="0" algn="ctr">
              <a:buNone/>
            </a:pPr>
            <a:r>
              <a:rPr lang="en-US" sz="1400" i="1" dirty="0">
                <a:solidFill>
                  <a:srgbClr val="B8F4FF"/>
                </a:solidFill>
                <a:effectLst>
                  <a:glow rad="101600">
                    <a:srgbClr val="3FC4F0">
                      <a:alpha val="35000"/>
                    </a:srgbClr>
                  </a:glow>
                </a:effectLst>
              </a:rPr>
              <a:t>These are potential benefits and challenges, not guaranteed outcomes.</a:t>
            </a:r>
            <a:endParaRPr lang="en-US" sz="14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RESPONSIBLE USE &amp; FUTURE SCOPE</a:t>
            </a:r>
            <a:endParaRPr lang="en-US" sz="2800" dirty="0"/>
          </a:p>
        </p:txBody>
      </p:sp>
      <p:sp>
        <p:nvSpPr>
          <p:cNvPr id="3" name="Card responsible use"/>
          <p:cNvSpPr/>
          <p:nvPr/>
        </p:nvSpPr>
        <p:spPr>
          <a:xfrm>
            <a:off x="548640" y="1143000"/>
            <a:ext cx="5410048" cy="4434840"/>
          </a:xfrm>
          <a:prstGeom prst="roundRect">
            <a:avLst>
              <a:gd name="adj" fmla="val 1649"/>
            </a:avLst>
          </a:prstGeom>
          <a:solidFill>
            <a:srgbClr val="0E172A">
              <a:alpha val="95000"/>
            </a:srgbClr>
          </a:solidFill>
          <a:ln w="12700">
            <a:solidFill>
              <a:srgbClr val="2A8FBF"/>
            </a:solidFill>
            <a:prstDash val="solid"/>
          </a:ln>
        </p:spPr>
      </p:sp>
      <p:pic>
        <p:nvPicPr>
          <p:cNvPr id="4" name="Icon RESPONSIBLE USE" descr="RESPONSIBLE USE"/>
          <p:cNvPicPr>
            <a:picLocks noChangeAspect="1"/>
          </p:cNvPicPr>
          <p:nvPr/>
        </p:nvPicPr>
        <p:blipFill>
          <a:blip r:embed="rId3"/>
          <a:stretch>
            <a:fillRect/>
          </a:stretch>
        </p:blipFill>
        <p:spPr>
          <a:xfrm>
            <a:off x="777240" y="1325880"/>
            <a:ext cx="292608" cy="292608"/>
          </a:xfrm>
          <a:prstGeom prst="rect">
            <a:avLst/>
          </a:prstGeom>
        </p:spPr>
      </p:pic>
      <p:sp>
        <p:nvSpPr>
          <p:cNvPr id="5" name="Heading RESPONSIBLE USE"/>
          <p:cNvSpPr txBox="1"/>
          <p:nvPr/>
        </p:nvSpPr>
        <p:spPr>
          <a:xfrm>
            <a:off x="1179576" y="1325880"/>
            <a:ext cx="325526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RESPONSIBLE USE</a:t>
            </a:r>
            <a:endParaRPr lang="en-US" sz="1400" dirty="0"/>
          </a:p>
        </p:txBody>
      </p:sp>
      <p:sp>
        <p:nvSpPr>
          <p:cNvPr id="6" name="Bullets"/>
          <p:cNvSpPr txBox="1"/>
          <p:nvPr/>
        </p:nvSpPr>
        <p:spPr>
          <a:xfrm>
            <a:off x="777240" y="1874520"/>
            <a:ext cx="4952848" cy="3611880"/>
          </a:xfrm>
          <a:prstGeom prst="rect">
            <a:avLst/>
          </a:prstGeom>
          <a:noFill/>
          <a:ln/>
        </p:spPr>
        <p:txBody>
          <a:bodyPr wrap="square" lIns="0" tIns="0" rIns="0" bIns="0" rtlCol="0" anchor="t"/>
          <a:lstStyle/>
          <a:p>
            <a:pPr marL="203200" indent="-203200">
              <a:spcAft>
                <a:spcPts val="1400"/>
              </a:spcAft>
              <a:buSzPct val="100000"/>
              <a:buChar char="•"/>
            </a:pPr>
            <a:r>
              <a:rPr lang="en-US" sz="1700" b="1" dirty="0">
                <a:solidFill>
                  <a:srgbClr val="6CD9FF"/>
                </a:solidFill>
              </a:rPr>
              <a:t>Privacy: </a:t>
            </a:r>
            <a:r>
              <a:rPr lang="en-US" sz="1700" dirty="0">
                <a:solidFill>
                  <a:srgbClr val="E8F1FA"/>
                </a:solidFill>
              </a:rPr>
              <a:t>analyze only what is needed; pseudonymize identities where possible</a:t>
            </a:r>
            <a:endParaRPr lang="en-US" sz="1700" dirty="0"/>
          </a:p>
          <a:p>
            <a:pPr marL="203200" indent="-203200">
              <a:spcAft>
                <a:spcPts val="1400"/>
              </a:spcAft>
              <a:buSzPct val="100000"/>
              <a:buChar char="•"/>
            </a:pPr>
            <a:r>
              <a:rPr lang="en-US" sz="1700" b="1" dirty="0">
                <a:solidFill>
                  <a:srgbClr val="6CD9FF"/>
                </a:solidFill>
              </a:rPr>
              <a:t>Access control: </a:t>
            </a:r>
            <a:r>
              <a:rPr lang="en-US" sz="1700" dirty="0">
                <a:solidFill>
                  <a:srgbClr val="E8F1FA"/>
                </a:solidFill>
              </a:rPr>
              <a:t>protect sensitive logs and results</a:t>
            </a:r>
            <a:endParaRPr lang="en-US" sz="1700" dirty="0"/>
          </a:p>
          <a:p>
            <a:pPr marL="203200" indent="-203200">
              <a:spcAft>
                <a:spcPts val="1400"/>
              </a:spcAft>
              <a:buSzPct val="100000"/>
              <a:buChar char="•"/>
            </a:pPr>
            <a:r>
              <a:rPr lang="en-US" sz="1700" b="1" dirty="0">
                <a:solidFill>
                  <a:srgbClr val="6CD9FF"/>
                </a:solidFill>
              </a:rPr>
              <a:t>Human review: </a:t>
            </a:r>
            <a:r>
              <a:rPr lang="en-US" sz="1700" dirty="0">
                <a:solidFill>
                  <a:srgbClr val="E8F1FA"/>
                </a:solidFill>
              </a:rPr>
              <a:t>an analyst checks before any consequential action</a:t>
            </a:r>
            <a:endParaRPr lang="en-US" sz="1700" dirty="0"/>
          </a:p>
          <a:p>
            <a:pPr marL="203200" indent="-203200">
              <a:spcAft>
                <a:spcPts val="1400"/>
              </a:spcAft>
              <a:buSzPct val="100000"/>
              <a:buChar char="•"/>
            </a:pPr>
            <a:r>
              <a:rPr lang="en-US" sz="1700" b="1" dirty="0">
                <a:solidFill>
                  <a:srgbClr val="6CD9FF"/>
                </a:solidFill>
              </a:rPr>
              <a:t>Fairness: </a:t>
            </a:r>
            <a:r>
              <a:rPr lang="en-US" sz="1700" dirty="0">
                <a:solidFill>
                  <a:srgbClr val="E8F1FA"/>
                </a:solidFill>
              </a:rPr>
              <a:t>evaluate bias; give transparent alert explanations</a:t>
            </a:r>
            <a:endParaRPr lang="en-US" sz="1700" dirty="0"/>
          </a:p>
          <a:p>
            <a:pPr marL="203200" indent="-203200">
              <a:spcAft>
                <a:spcPts val="1400"/>
              </a:spcAft>
              <a:buSzPct val="100000"/>
              <a:buChar char="•"/>
            </a:pPr>
            <a:r>
              <a:rPr lang="en-US" sz="1700" b="1" dirty="0">
                <a:solidFill>
                  <a:srgbClr val="6CD9FF"/>
                </a:solidFill>
              </a:rPr>
              <a:t>Retention: </a:t>
            </a:r>
            <a:r>
              <a:rPr lang="en-US" sz="1700" dirty="0">
                <a:solidFill>
                  <a:srgbClr val="E8F1FA"/>
                </a:solidFill>
              </a:rPr>
              <a:t>keep and handle monitoring data appropriately</a:t>
            </a:r>
            <a:endParaRPr lang="en-US" sz="1700" dirty="0"/>
          </a:p>
        </p:txBody>
      </p:sp>
      <p:sp>
        <p:nvSpPr>
          <p:cNvPr id="7" name="Card future scope"/>
          <p:cNvSpPr/>
          <p:nvPr/>
        </p:nvSpPr>
        <p:spPr>
          <a:xfrm>
            <a:off x="6233008" y="1143000"/>
            <a:ext cx="5410048" cy="4434840"/>
          </a:xfrm>
          <a:prstGeom prst="roundRect">
            <a:avLst>
              <a:gd name="adj" fmla="val 1649"/>
            </a:avLst>
          </a:prstGeom>
          <a:solidFill>
            <a:srgbClr val="0E172A">
              <a:alpha val="95000"/>
            </a:srgbClr>
          </a:solidFill>
          <a:ln w="12700">
            <a:solidFill>
              <a:srgbClr val="F2B24C"/>
            </a:solidFill>
            <a:prstDash val="dash"/>
          </a:ln>
        </p:spPr>
      </p:sp>
      <p:pic>
        <p:nvPicPr>
          <p:cNvPr id="8" name="Icon FUTURE SCOPE" descr="FUTURE SCOPE"/>
          <p:cNvPicPr>
            <a:picLocks noChangeAspect="1"/>
          </p:cNvPicPr>
          <p:nvPr/>
        </p:nvPicPr>
        <p:blipFill>
          <a:blip r:embed="rId4"/>
          <a:stretch>
            <a:fillRect/>
          </a:stretch>
        </p:blipFill>
        <p:spPr>
          <a:xfrm>
            <a:off x="6461608" y="1325880"/>
            <a:ext cx="292608" cy="292608"/>
          </a:xfrm>
          <a:prstGeom prst="rect">
            <a:avLst/>
          </a:prstGeom>
        </p:spPr>
      </p:pic>
      <p:sp>
        <p:nvSpPr>
          <p:cNvPr id="9" name="Heading FUTURE SCOPE"/>
          <p:cNvSpPr txBox="1"/>
          <p:nvPr/>
        </p:nvSpPr>
        <p:spPr>
          <a:xfrm>
            <a:off x="6863944" y="1325880"/>
            <a:ext cx="2340864" cy="292608"/>
          </a:xfrm>
          <a:prstGeom prst="rect">
            <a:avLst/>
          </a:prstGeom>
          <a:noFill/>
          <a:ln/>
        </p:spPr>
        <p:txBody>
          <a:bodyPr wrap="square" lIns="0" tIns="0" rIns="0" bIns="0" rtlCol="0" anchor="ctr"/>
          <a:lstStyle/>
          <a:p>
            <a:pPr marL="0" indent="0">
              <a:buNone/>
            </a:pPr>
            <a:r>
              <a:rPr lang="en-US" sz="1400" b="1" kern="0" spc="150" dirty="0">
                <a:solidFill>
                  <a:srgbClr val="F2B24C"/>
                </a:solidFill>
              </a:rPr>
              <a:t>FUTURE SCOPE</a:t>
            </a:r>
            <a:endParaRPr lang="en-US" sz="1400" dirty="0"/>
          </a:p>
        </p:txBody>
      </p:sp>
      <p:sp>
        <p:nvSpPr>
          <p:cNvPr id="10" name="Tag PROPOSED"/>
          <p:cNvSpPr txBox="1"/>
          <p:nvPr/>
        </p:nvSpPr>
        <p:spPr>
          <a:xfrm>
            <a:off x="10134295" y="1353312"/>
            <a:ext cx="1280160" cy="237744"/>
          </a:xfrm>
          <a:prstGeom prst="roundRect">
            <a:avLst>
              <a:gd name="adj" fmla="val 50000"/>
            </a:avLst>
          </a:prstGeom>
          <a:solidFill>
            <a:srgbClr val="08121F"/>
          </a:solidFill>
          <a:ln w="12700">
            <a:solidFill>
              <a:srgbClr val="F2B24C"/>
            </a:solidFill>
          </a:ln>
        </p:spPr>
        <p:txBody>
          <a:bodyPr wrap="square" lIns="0" tIns="0" rIns="0" bIns="0" rtlCol="0" anchor="ctr"/>
          <a:lstStyle/>
          <a:p>
            <a:pPr marL="0" indent="0" algn="ctr">
              <a:buNone/>
            </a:pPr>
            <a:r>
              <a:rPr lang="en-US" sz="1000" b="1" kern="0" spc="100" dirty="0">
                <a:solidFill>
                  <a:srgbClr val="F2B24C"/>
                </a:solidFill>
              </a:rPr>
              <a:t>PROPOSED</a:t>
            </a:r>
            <a:endParaRPr lang="en-US" sz="1000" dirty="0"/>
          </a:p>
        </p:txBody>
      </p:sp>
      <p:sp>
        <p:nvSpPr>
          <p:cNvPr id="11" name="Bullets"/>
          <p:cNvSpPr txBox="1"/>
          <p:nvPr/>
        </p:nvSpPr>
        <p:spPr>
          <a:xfrm>
            <a:off x="6461608" y="1874520"/>
            <a:ext cx="4952848" cy="361188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E8F1FA"/>
                </a:solidFill>
              </a:rPr>
              <a:t>Real-time detection and monitoring</a:t>
            </a:r>
            <a:endParaRPr lang="en-US" sz="1700" dirty="0"/>
          </a:p>
          <a:p>
            <a:pPr marL="203200" indent="-203200">
              <a:spcAft>
                <a:spcPts val="1000"/>
              </a:spcAft>
              <a:buSzPct val="100000"/>
              <a:buChar char="•"/>
            </a:pPr>
            <a:r>
              <a:rPr lang="en-US" sz="1700" dirty="0">
                <a:solidFill>
                  <a:srgbClr val="E8F1FA"/>
                </a:solidFill>
              </a:rPr>
              <a:t>Improved feature engineering</a:t>
            </a:r>
            <a:endParaRPr lang="en-US" sz="1700" dirty="0"/>
          </a:p>
          <a:p>
            <a:pPr marL="203200" indent="-203200">
              <a:spcAft>
                <a:spcPts val="1000"/>
              </a:spcAft>
              <a:buSzPct val="100000"/>
              <a:buChar char="•"/>
            </a:pPr>
            <a:r>
              <a:rPr lang="en-US" sz="1700" dirty="0">
                <a:solidFill>
                  <a:srgbClr val="E8F1FA"/>
                </a:solidFill>
              </a:rPr>
              <a:t>Explainable machine learning</a:t>
            </a:r>
            <a:endParaRPr lang="en-US" sz="1700" dirty="0"/>
          </a:p>
          <a:p>
            <a:pPr marL="203200" indent="-203200">
              <a:spcAft>
                <a:spcPts val="1000"/>
              </a:spcAft>
              <a:buSzPct val="100000"/>
              <a:buChar char="•"/>
            </a:pPr>
            <a:r>
              <a:rPr lang="en-US" sz="1700" dirty="0">
                <a:solidFill>
                  <a:srgbClr val="E8F1FA"/>
                </a:solidFill>
              </a:rPr>
              <a:t>Adaptive per-user baselines</a:t>
            </a:r>
            <a:endParaRPr lang="en-US" sz="1700" dirty="0"/>
          </a:p>
          <a:p>
            <a:pPr marL="203200" indent="-203200">
              <a:spcAft>
                <a:spcPts val="1000"/>
              </a:spcAft>
              <a:buSzPct val="100000"/>
              <a:buChar char="•"/>
            </a:pPr>
            <a:r>
              <a:rPr lang="en-US" sz="1700" dirty="0">
                <a:solidFill>
                  <a:srgbClr val="E8F1FA"/>
                </a:solidFill>
              </a:rPr>
              <a:t>Integration with SIEM systems</a:t>
            </a:r>
            <a:endParaRPr lang="en-US" sz="1700" dirty="0"/>
          </a:p>
          <a:p>
            <a:pPr marL="203200" indent="-203200">
              <a:spcAft>
                <a:spcPts val="1000"/>
              </a:spcAft>
              <a:buSzPct val="100000"/>
              <a:buChar char="•"/>
            </a:pPr>
            <a:r>
              <a:rPr lang="en-US" sz="1700" dirty="0">
                <a:solidFill>
                  <a:srgbClr val="E8F1FA"/>
                </a:solidFill>
              </a:rPr>
              <a:t>Testing on additional datasets</a:t>
            </a:r>
            <a:endParaRPr lang="en-US" sz="1700" dirty="0"/>
          </a:p>
          <a:p>
            <a:pPr marL="203200" indent="-203200">
              <a:spcAft>
                <a:spcPts val="1000"/>
              </a:spcAft>
              <a:buSzPct val="100000"/>
              <a:buChar char="•"/>
            </a:pPr>
            <a:r>
              <a:rPr lang="en-US" sz="1700" dirty="0">
                <a:solidFill>
                  <a:srgbClr val="E8F1FA"/>
                </a:solidFill>
              </a:rPr>
              <a:t>Deep-learning-based detection</a:t>
            </a:r>
            <a:endParaRPr lang="en-US" sz="1700" dirty="0"/>
          </a:p>
        </p:txBody>
      </p:sp>
      <p:sp>
        <p:nvSpPr>
          <p:cNvPr id="12" name="Card caution"/>
          <p:cNvSpPr/>
          <p:nvPr/>
        </p:nvSpPr>
        <p:spPr>
          <a:xfrm>
            <a:off x="548640" y="5760720"/>
            <a:ext cx="11094415" cy="548640"/>
          </a:xfrm>
          <a:prstGeom prst="roundRect">
            <a:avLst>
              <a:gd name="adj" fmla="val 13333"/>
            </a:avLst>
          </a:prstGeom>
          <a:solidFill>
            <a:srgbClr val="0E172A">
              <a:alpha val="95000"/>
            </a:srgbClr>
          </a:solidFill>
          <a:ln w="12700">
            <a:solidFill>
              <a:srgbClr val="6CD9FF"/>
            </a:solidFill>
            <a:prstDash val="solid"/>
          </a:ln>
        </p:spPr>
      </p:sp>
      <p:sp>
        <p:nvSpPr>
          <p:cNvPr id="13" name="Text 9"/>
          <p:cNvSpPr txBox="1"/>
          <p:nvPr/>
        </p:nvSpPr>
        <p:spPr>
          <a:xfrm>
            <a:off x="822960" y="5760720"/>
            <a:ext cx="10545775" cy="548640"/>
          </a:xfrm>
          <a:prstGeom prst="rect">
            <a:avLst/>
          </a:prstGeom>
          <a:noFill/>
          <a:ln/>
        </p:spPr>
        <p:txBody>
          <a:bodyPr wrap="square" lIns="0" tIns="0" rIns="0" bIns="0" rtlCol="0" anchor="ctr"/>
          <a:lstStyle/>
          <a:p>
            <a:pPr marL="0" indent="0" algn="ctr">
              <a:buNone/>
            </a:pPr>
            <a:r>
              <a:rPr lang="en-US" sz="1400" i="1" dirty="0">
                <a:solidFill>
                  <a:srgbClr val="B8F4FF"/>
                </a:solidFill>
                <a:effectLst>
                  <a:glow rad="101600">
                    <a:srgbClr val="3FC4F0">
                      <a:alpha val="35000"/>
                    </a:srgbClr>
                  </a:glow>
                </a:effectLst>
              </a:rPr>
              <a:t>A flag is a lead for investigation, not proof of intent. Nothing under Future Scope exists in the current project.</a:t>
            </a:r>
            <a:endParaRPr lang="en-US" sz="14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11094415" cy="685800"/>
          </a:xfrm>
          <a:prstGeom prst="rect">
            <a:avLst/>
          </a:prstGeom>
          <a:noFill/>
          <a:ln/>
        </p:spPr>
        <p:txBody>
          <a:bodyPr wrap="square" lIns="0" tIns="0" rIns="0" bIns="0" rtlCol="0" anchor="ctr"/>
          <a:lstStyle/>
          <a:p>
            <a:pPr marL="0" indent="0" algn="l">
              <a:buNone/>
            </a:pPr>
            <a:r>
              <a:rPr lang="en-US" sz="2800" b="1" kern="0" spc="100" dirty="0">
                <a:solidFill>
                  <a:srgbClr val="B8F4FF"/>
                </a:solidFill>
                <a:effectLst>
                  <a:glow rad="101600">
                    <a:srgbClr val="3FC4F0">
                      <a:alpha val="35000"/>
                    </a:srgbClr>
                  </a:glow>
                </a:effectLst>
              </a:rPr>
              <a:t>CONCLUSION &amp; REFERENCES</a:t>
            </a:r>
            <a:endParaRPr lang="en-US" sz="2800" dirty="0"/>
          </a:p>
        </p:txBody>
      </p:sp>
      <p:sp>
        <p:nvSpPr>
          <p:cNvPr id="3" name="Card conclusion"/>
          <p:cNvSpPr/>
          <p:nvPr/>
        </p:nvSpPr>
        <p:spPr>
          <a:xfrm>
            <a:off x="548640" y="1097280"/>
            <a:ext cx="4754880" cy="4069080"/>
          </a:xfrm>
          <a:prstGeom prst="roundRect">
            <a:avLst>
              <a:gd name="adj" fmla="val 1798"/>
            </a:avLst>
          </a:prstGeom>
          <a:solidFill>
            <a:srgbClr val="0E172A">
              <a:alpha val="95000"/>
            </a:srgbClr>
          </a:solidFill>
          <a:ln w="12700">
            <a:solidFill>
              <a:srgbClr val="2A8FBF"/>
            </a:solidFill>
            <a:prstDash val="solid"/>
          </a:ln>
        </p:spPr>
      </p:sp>
      <p:pic>
        <p:nvPicPr>
          <p:cNvPr id="4" name="Icon CONCLUSION" descr="CONCLUSION"/>
          <p:cNvPicPr>
            <a:picLocks noChangeAspect="1"/>
          </p:cNvPicPr>
          <p:nvPr/>
        </p:nvPicPr>
        <p:blipFill>
          <a:blip r:embed="rId3"/>
          <a:stretch>
            <a:fillRect/>
          </a:stretch>
        </p:blipFill>
        <p:spPr>
          <a:xfrm>
            <a:off x="777240" y="1261872"/>
            <a:ext cx="292608" cy="292608"/>
          </a:xfrm>
          <a:prstGeom prst="rect">
            <a:avLst/>
          </a:prstGeom>
        </p:spPr>
      </p:pic>
      <p:sp>
        <p:nvSpPr>
          <p:cNvPr id="5" name="Heading CONCLUSION"/>
          <p:cNvSpPr txBox="1"/>
          <p:nvPr/>
        </p:nvSpPr>
        <p:spPr>
          <a:xfrm>
            <a:off x="1179576" y="1261872"/>
            <a:ext cx="325526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CONCLUSION</a:t>
            </a:r>
            <a:endParaRPr lang="en-US" sz="1400" dirty="0"/>
          </a:p>
        </p:txBody>
      </p:sp>
      <p:sp>
        <p:nvSpPr>
          <p:cNvPr id="6" name="Bullets"/>
          <p:cNvSpPr txBox="1"/>
          <p:nvPr/>
        </p:nvSpPr>
        <p:spPr>
          <a:xfrm>
            <a:off x="777240" y="1755648"/>
            <a:ext cx="4297680" cy="333756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rgbClr val="6CD9FF"/>
                </a:solidFill>
              </a:rPr>
              <a:t>Problem: </a:t>
            </a:r>
            <a:r>
              <a:rPr lang="en-US" sz="1600" dirty="0">
                <a:solidFill>
                  <a:srgbClr val="E8F1FA"/>
                </a:solidFill>
              </a:rPr>
              <a:t>insider activity can hide inside normal-looking logs.</a:t>
            </a:r>
            <a:endParaRPr lang="en-US" sz="1600" dirty="0"/>
          </a:p>
          <a:p>
            <a:pPr marL="203200" indent="-203200">
              <a:spcAft>
                <a:spcPts val="1200"/>
              </a:spcAft>
              <a:buSzPct val="100000"/>
              <a:buChar char="•"/>
            </a:pPr>
            <a:r>
              <a:rPr lang="en-US" sz="1600" b="1" dirty="0">
                <a:solidFill>
                  <a:srgbClr val="6CD9FF"/>
                </a:solidFill>
              </a:rPr>
              <a:t>Approach: </a:t>
            </a:r>
            <a:r>
              <a:rPr lang="en-US" sz="1600" dirty="0">
                <a:solidFill>
                  <a:srgbClr val="E8F1FA"/>
                </a:solidFill>
              </a:rPr>
              <a:t>ML on user-activity data: preprocessing, features and </a:t>
            </a:r>
            <a:r>
              <a:rPr lang="en-US" sz="1600" b="1" dirty="0">
                <a:solidFill>
                  <a:srgbClr val="F2B24C"/>
                </a:solidFill>
              </a:rPr>
              <a:t>Elastic Net regularized logistic regression</a:t>
            </a:r>
            <a:endParaRPr lang="en-US" sz="1600" dirty="0"/>
          </a:p>
          <a:p>
            <a:pPr marL="203200" indent="-203200">
              <a:spcAft>
                <a:spcPts val="1200"/>
              </a:spcAft>
              <a:buSzPct val="100000"/>
              <a:buChar char="•"/>
            </a:pPr>
            <a:r>
              <a:rPr lang="en-US" sz="1600" b="1" dirty="0">
                <a:solidFill>
                  <a:srgbClr val="6CD9FF"/>
                </a:solidFill>
              </a:rPr>
              <a:t>Contribution: </a:t>
            </a:r>
            <a:r>
              <a:rPr lang="en-US" sz="1600" dirty="0">
                <a:solidFill>
                  <a:srgbClr val="E8F1FA"/>
                </a:solidFill>
              </a:rPr>
              <a:t> The results can be used as a support for analysts.</a:t>
            </a:r>
            <a:endParaRPr lang="en-US" sz="1600" dirty="0"/>
          </a:p>
          <a:p>
            <a:pPr marL="203200" indent="-203200">
              <a:spcAft>
                <a:spcPts val="1200"/>
              </a:spcAft>
              <a:buSzPct val="100000"/>
              <a:buChar char="•"/>
            </a:pPr>
            <a:r>
              <a:rPr lang="en-US" sz="1600" b="1" dirty="0">
                <a:solidFill>
                  <a:srgbClr val="6CD9FF"/>
                </a:solidFill>
              </a:rPr>
              <a:t>Responsible use: </a:t>
            </a:r>
            <a:r>
              <a:rPr lang="en-US" sz="1600" dirty="0">
                <a:solidFill>
                  <a:srgbClr val="E8F1FA"/>
                </a:solidFill>
              </a:rPr>
              <a:t>assist human analysts; never judge intent.</a:t>
            </a:r>
            <a:endParaRPr lang="en-US" sz="1600" dirty="0"/>
          </a:p>
        </p:txBody>
      </p:sp>
      <p:sp>
        <p:nvSpPr>
          <p:cNvPr id="7" name="Card references"/>
          <p:cNvSpPr/>
          <p:nvPr/>
        </p:nvSpPr>
        <p:spPr>
          <a:xfrm>
            <a:off x="5532120" y="1097280"/>
            <a:ext cx="6110935" cy="4069080"/>
          </a:xfrm>
          <a:prstGeom prst="roundRect">
            <a:avLst>
              <a:gd name="adj" fmla="val 1798"/>
            </a:avLst>
          </a:prstGeom>
          <a:solidFill>
            <a:srgbClr val="0E172A">
              <a:alpha val="95000"/>
            </a:srgbClr>
          </a:solidFill>
          <a:ln w="12700">
            <a:solidFill>
              <a:srgbClr val="2A8FBF"/>
            </a:solidFill>
            <a:prstDash val="solid"/>
          </a:ln>
        </p:spPr>
      </p:sp>
      <p:pic>
        <p:nvPicPr>
          <p:cNvPr id="8" name="Icon REFERENCES" descr="REFERENCES"/>
          <p:cNvPicPr>
            <a:picLocks noChangeAspect="1"/>
          </p:cNvPicPr>
          <p:nvPr/>
        </p:nvPicPr>
        <p:blipFill>
          <a:blip r:embed="rId4"/>
          <a:stretch>
            <a:fillRect/>
          </a:stretch>
        </p:blipFill>
        <p:spPr>
          <a:xfrm>
            <a:off x="5760720" y="1261872"/>
            <a:ext cx="292608" cy="292608"/>
          </a:xfrm>
          <a:prstGeom prst="rect">
            <a:avLst/>
          </a:prstGeom>
        </p:spPr>
      </p:pic>
      <p:sp>
        <p:nvSpPr>
          <p:cNvPr id="9" name="Heading REFERENCES"/>
          <p:cNvSpPr txBox="1"/>
          <p:nvPr/>
        </p:nvSpPr>
        <p:spPr>
          <a:xfrm>
            <a:off x="6163056" y="1261872"/>
            <a:ext cx="3255264" cy="292608"/>
          </a:xfrm>
          <a:prstGeom prst="rect">
            <a:avLst/>
          </a:prstGeom>
          <a:noFill/>
          <a:ln/>
        </p:spPr>
        <p:txBody>
          <a:bodyPr wrap="square" lIns="0" tIns="0" rIns="0" bIns="0" rtlCol="0" anchor="ctr"/>
          <a:lstStyle/>
          <a:p>
            <a:pPr marL="0" indent="0">
              <a:buNone/>
            </a:pPr>
            <a:r>
              <a:rPr lang="en-US" sz="1400" b="1" kern="0" spc="150" dirty="0">
                <a:solidFill>
                  <a:srgbClr val="6CD9FF"/>
                </a:solidFill>
              </a:rPr>
              <a:t>REFERENCES</a:t>
            </a:r>
            <a:endParaRPr lang="en-US" sz="1400" dirty="0"/>
          </a:p>
        </p:txBody>
      </p:sp>
      <p:sp>
        <p:nvSpPr>
          <p:cNvPr id="10" name="Bullets"/>
          <p:cNvSpPr txBox="1"/>
          <p:nvPr/>
        </p:nvSpPr>
        <p:spPr>
          <a:xfrm>
            <a:off x="5760720" y="1691640"/>
            <a:ext cx="5653735" cy="3383280"/>
          </a:xfrm>
          <a:prstGeom prst="rect">
            <a:avLst/>
          </a:prstGeom>
          <a:noFill/>
          <a:ln/>
        </p:spPr>
        <p:txBody>
          <a:bodyPr wrap="square" lIns="0" tIns="0" rIns="0" bIns="0" rtlCol="0" anchor="t"/>
          <a:lstStyle/>
          <a:p>
            <a:pPr marL="0" indent="0">
              <a:spcAft>
                <a:spcPts val="500"/>
              </a:spcAft>
              <a:buNone/>
            </a:pPr>
            <a:r>
              <a:rPr lang="en-US" sz="1200" dirty="0">
                <a:solidFill>
                  <a:srgbClr val="E8F1FA"/>
                </a:solidFill>
              </a:rPr>
              <a:t>[1] Chandola, V., Banerjee, A., &amp; Kumar, V. (2009). Anomaly detection: A survey. ACM Computing Surveys, 41(3), Article 15.</a:t>
            </a:r>
            <a:endParaRPr lang="en-US" sz="1200" dirty="0"/>
          </a:p>
          <a:p>
            <a:pPr marL="0" indent="0">
              <a:spcAft>
                <a:spcPts val="500"/>
              </a:spcAft>
              <a:buNone/>
            </a:pPr>
            <a:r>
              <a:rPr lang="en-US" sz="1200" dirty="0">
                <a:solidFill>
                  <a:srgbClr val="E8F1FA"/>
                </a:solidFill>
              </a:rPr>
              <a:t>[2] Homoliak, I., Toffalini, F., Guarnizo, J., Elovici, Y., &amp; Ochoa, M. (2019). Insight into insiders and IT: A survey of insider threat taxonomies, analysis, modeling, and countermeasures. ACM Computing Surveys, 52(2), Article 30.</a:t>
            </a:r>
            <a:endParaRPr lang="en-US" sz="1200" dirty="0"/>
          </a:p>
          <a:p>
            <a:pPr marL="0" indent="0">
              <a:spcAft>
                <a:spcPts val="500"/>
              </a:spcAft>
              <a:buNone/>
            </a:pPr>
            <a:r>
              <a:rPr lang="en-US" sz="1200" dirty="0">
                <a:solidFill>
                  <a:srgbClr val="E8F1FA"/>
                </a:solidFill>
              </a:rPr>
              <a:t>[3] Glasser, J., &amp; Lindauer, B. (2013). Bridging the gap: A pragmatic approach to generating insider threat data. IEEE Security and Privacy Workshops, 98-104.</a:t>
            </a:r>
            <a:endParaRPr lang="en-US" sz="1200" dirty="0"/>
          </a:p>
          <a:p>
            <a:pPr marL="0" indent="0">
              <a:spcAft>
                <a:spcPts val="500"/>
              </a:spcAft>
              <a:buNone/>
            </a:pPr>
            <a:r>
              <a:rPr lang="en-US" sz="1200" dirty="0">
                <a:solidFill>
                  <a:srgbClr val="E8F1FA"/>
                </a:solidFill>
              </a:rPr>
              <a:t>[4] Tuor, A., Kaplan, S., Hutchinson, B., Nichols, N., &amp; Robinson, S. (2017). Deep learning for unsupervised insider threat detection in structured cybersecurity data streams. AAAI-17 Workshop on AI for Cyber Security, 224-231.</a:t>
            </a:r>
            <a:endParaRPr lang="en-US" sz="1200" dirty="0"/>
          </a:p>
          <a:p>
            <a:pPr marL="0" indent="0">
              <a:spcAft>
                <a:spcPts val="500"/>
              </a:spcAft>
              <a:buNone/>
            </a:pPr>
            <a:r>
              <a:rPr lang="en-US" sz="1200" dirty="0">
                <a:solidFill>
                  <a:srgbClr val="E8F1FA"/>
                </a:solidFill>
              </a:rPr>
              <a:t>[5] Software Engineering Institute (2016). Insider Threat Test Dataset. Carnegie Mellon University. doi:10.1184/R1/12841247.v1</a:t>
            </a:r>
            <a:endParaRPr lang="en-US" sz="1200" dirty="0"/>
          </a:p>
          <a:p>
            <a:pPr marL="0" indent="0">
              <a:spcAft>
                <a:spcPts val="500"/>
              </a:spcAft>
              <a:buNone/>
            </a:pPr>
            <a:r>
              <a:rPr lang="en-US" sz="1200" dirty="0">
                <a:solidFill>
                  <a:srgbClr val="E8F1FA"/>
                </a:solidFill>
              </a:rPr>
              <a:t>[6] Pedregosa, F., et al. (2011). Scikit-learn: Machine learning in Python. Journal of Machine Learning Research, 12, 2825-2830.</a:t>
            </a:r>
            <a:endParaRPr lang="en-US" sz="1200" dirty="0"/>
          </a:p>
        </p:txBody>
      </p:sp>
      <p:sp>
        <p:nvSpPr>
          <p:cNvPr id="11" name="Thank You"/>
          <p:cNvSpPr txBox="1"/>
          <p:nvPr/>
        </p:nvSpPr>
        <p:spPr>
          <a:xfrm>
            <a:off x="548640" y="5303520"/>
            <a:ext cx="11094415" cy="685800"/>
          </a:xfrm>
          <a:prstGeom prst="rect">
            <a:avLst/>
          </a:prstGeom>
          <a:noFill/>
          <a:ln/>
        </p:spPr>
        <p:txBody>
          <a:bodyPr wrap="square" lIns="0" tIns="0" rIns="0" bIns="0" rtlCol="0" anchor="ctr"/>
          <a:lstStyle/>
          <a:p>
            <a:pPr marL="0" indent="0" algn="ctr">
              <a:buNone/>
            </a:pPr>
            <a:r>
              <a:rPr lang="en-US" sz="4200" b="1" kern="0" spc="600" dirty="0">
                <a:solidFill>
                  <a:srgbClr val="B8F4FF"/>
                </a:solidFill>
                <a:effectLst>
                  <a:glow rad="101600">
                    <a:srgbClr val="3FC4F0">
                      <a:alpha val="35000"/>
                    </a:srgbClr>
                  </a:glow>
                </a:effectLst>
                <a:latin typeface="+mj-lt" pitchFamily="34" charset="0"/>
                <a:ea typeface="+mj-lt" pitchFamily="34" charset="-122"/>
                <a:cs typeface="+mj-lt" pitchFamily="34" charset="-120"/>
              </a:rPr>
              <a:t>THANK YOU</a:t>
            </a:r>
            <a:endParaRPr lang="en-US" sz="4200" dirty="0"/>
          </a:p>
        </p:txBody>
      </p:sp>
      <p:sp>
        <p:nvSpPr>
          <p:cNvPr id="12" name="Questions"/>
          <p:cNvSpPr txBox="1"/>
          <p:nvPr/>
        </p:nvSpPr>
        <p:spPr>
          <a:xfrm>
            <a:off x="548640" y="5943600"/>
            <a:ext cx="11094415" cy="411480"/>
          </a:xfrm>
          <a:prstGeom prst="rect">
            <a:avLst/>
          </a:prstGeom>
          <a:noFill/>
          <a:ln/>
        </p:spPr>
        <p:txBody>
          <a:bodyPr wrap="square" lIns="0" tIns="0" rIns="0" bIns="0" rtlCol="0" anchor="ctr"/>
          <a:lstStyle/>
          <a:p>
            <a:pPr marL="0" indent="0" algn="ctr">
              <a:buNone/>
            </a:pPr>
            <a:endParaRPr lang="en-US" sz="2200" dirty="0"/>
          </a:p>
        </p:txBody>
      </p:sp>
      <p:sp>
        <p:nvSpPr>
          <p:cNvPr id="25" name="Slide Number Placeholder 0"/>
          <p:cNvSpPr>
            <a:spLocks noGrp="1"/>
          </p:cNvSpPr>
          <p:nvPr>
            <p:ph type="sldNum" sz="quarter" idx="4294967295"/>
          </p:nvPr>
        </p:nvSpPr>
        <p:spPr>
          <a:xfrm>
            <a:off x="11155680" y="6455664"/>
            <a:ext cx="484632"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A9BBCF"/>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Insider Threat Cyber">
  <a:themeElements>
    <a:clrScheme name="Insider Threat Cyber">
      <a:dk1>
        <a:srgbClr val="0A101E"/>
      </a:dk1>
      <a:lt1>
        <a:srgbClr val="FFFFFF"/>
      </a:lt1>
      <a:dk2>
        <a:srgbClr val="0E172A"/>
      </a:dk2>
      <a:lt2>
        <a:srgbClr val="E8F1FA"/>
      </a:lt2>
      <a:accent1>
        <a:srgbClr val="6CD9FF"/>
      </a:accent1>
      <a:accent2>
        <a:srgbClr val="45B5E7"/>
      </a:accent2>
      <a:accent3>
        <a:srgbClr val="2A8FBF"/>
      </a:accent3>
      <a:accent4>
        <a:srgbClr val="F2B24C"/>
      </a:accent4>
      <a:accent5>
        <a:srgbClr val="B8F4FF"/>
      </a:accent5>
      <a:accent6>
        <a:srgbClr val="A9BBCF"/>
      </a:accent6>
      <a:hlink>
        <a:srgbClr val="6CD9FF"/>
      </a:hlink>
      <a:folHlink>
        <a:srgbClr val="A9BBCF"/>
      </a:folHlink>
    </a:clrScheme>
    <a:fontScheme name="Insider Threat Cyb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3971</Words>
  <Application>Microsoft Office PowerPoint</Application>
  <PresentationFormat>Widescreen</PresentationFormat>
  <Paragraphs>364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Arial Unicode MS</vt:lpstr>
      <vt:lpstr>Calibri</vt:lpstr>
      <vt:lpstr>Insider Threat Cyber</vt:lpstr>
      <vt:lpstr>PowerPoint Presentation</vt:lpstr>
      <vt:lpstr>INTRODUCTION &amp; BACKGROUND</vt:lpstr>
      <vt:lpstr>PROBLEM STATEMENT &amp; MOTIVATION</vt:lpstr>
      <vt:lpstr>OBJECTIVES &amp; SCOPE</vt:lpstr>
      <vt:lpstr>LITERATURE SURVEY &amp; EXISTING SYSTEMS</vt:lpstr>
      <vt:lpstr>PROPOSED SYSTEM</vt:lpstr>
      <vt:lpstr>SYSTEM ARCHITECTURE</vt:lpstr>
      <vt:lpstr>METHODOLOGY &amp; WORKFLOW</vt:lpstr>
      <vt:lpstr>DATASET &amp; FEATURE ENGINEERING</vt:lpstr>
      <vt:lpstr>MACHINE LEARNING ALGORITHM</vt:lpstr>
      <vt:lpstr>TECHNOLOGY STACK &amp; IMPLEMENTATION</vt:lpstr>
      <vt:lpstr>RESULTS &amp; EVALUATION</vt:lpstr>
      <vt:lpstr>ADVANTAGES, APPLICATIONS &amp; LIMITATIONS</vt:lpstr>
      <vt:lpstr>RESPONSIBLE USE &amp; FUTURE SCOPE</vt:lpstr>
      <vt:lpstr>CONCLUSION &amp; 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Insider Threat Detection Using Machine Learning</dc:title>
  <dc:subject>Academic project presentation</dc:subject>
  <dc:creator>PptxGenJS</dc:creator>
  <cp:lastModifiedBy>Narendra Kumar Konduparthy</cp:lastModifiedBy>
  <cp:revision>2</cp:revision>
  <dcterms:created xsi:type="dcterms:W3CDTF">2026-10-14T05:11:56Z</dcterms:created>
  <dcterms:modified xsi:type="dcterms:W3CDTF">2026-10-14T05:38:10Z</dcterms:modified>
</cp:coreProperties>
</file>